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10" autoAdjust="0"/>
  </p:normalViewPr>
  <p:slideViewPr>
    <p:cSldViewPr snapToGrid="0" snapToObjects="1">
      <p:cViewPr>
        <p:scale>
          <a:sx n="75" d="100"/>
          <a:sy n="75" d="100"/>
        </p:scale>
        <p:origin x="1694" y="571"/>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6" d="100"/>
          <a:sy n="66" d="100"/>
        </p:scale>
        <p:origin x="96" y="5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5022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name is Ayush Prasad, from Computer Science, Section C2, RD Tata Technical Education Centre, NTTF. Today's Shoptalk topic is "The Technology Behind UPI Payments." Over the next few minutes, I'll walk you through what UPI is, how it actually works behind the scenes, how it keeps our money safe, and where it's headed next. 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basics. UPI stands for Unified Payments Interface — it's a real-time system that lets you instantly move money between two bank accounts using just a mobile app, without needing account numbers or IFSC codes every time. It was introduced to make digital payments simple and accessible for every Indian, from a shopkeeper to a student. It was launched by NPCI — the National Payments Corporation of India — back in 2016, and since then it's become the backbone of India's digital economy. Point to the 2016 card here to emphasize how young but impactful this technology 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UPI, payments evolved through several stages — starting with plain cash, then debit and credit cards, then net banking, and then mobile wallets like early Paytm. Each step made payments a bit faster, but each also came with friction — cards needed swipe machines, wallets needed separate balances. UPI solved this by directly connecting bank accounts through a single, unified system. That's why it became so popular so fast: it combined bank-level security with app-level convenience, at zero cost, and works with just a phone number or QR code.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exactly is UPI? Its full form is Unified Payments Interface. Four things define it: it's a real-time payment system, meaning money moves in seconds; it's available 24 by 7, including holidays; it can link and support multiple bank accounts in a single app; and it gives you one unified app experience instead of juggling different systems for different banks.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break down the building blocks that make UPI work. First, your Bank Account — this is where your money actually lives. Second, your UPI ID, like a virtual address, for example yourname@bank, so people don't need your account number. Third, the Mobile App — Google Pay, PhonePe, whichever you use. Fourth, the QR Code, which lets you pay by simply scanning instead of typing details. Fifth, the UPI PIN, your secret code that authorizes every transaction. And finally, the Payment Switch — this is NPCI's engine that actually routes your transaction to the right bank in real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today's talk — how a UPI transaction actually flows. It starts with the Customer initiating a payment. That request goes through the UPI App. The app then triggers Bank Verification to confirm the sender has sufficient balance and a valid PIN. Next, it passes through the Payment Switch — this is NPCI's central system that acts like a traffic controller between banks. It then reaches the Receiver's Bank, and finally, the Money is Credited — usually within a few seconds. Walk through each box left to right as you speak, pausing briefly at the Payment Switch since that's the least obvious step to most people.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Naturally, the next question is: how secure is all this? UPI uses layered security. Two-factor authentication means you need both your phone and your PIN to transact. PIN Verification confirms every single payment. Encryption protects data as it travels between the app, the bank, and NPCI. Device Binding means your UPI account only works from your registered phone — so even if someone learns your UPI ID, they can't transact without your device. And Fraud Monitoring runs in the background, flagging unusual transactions automatically. Together, these layers are why UPI is considered one of the safer digital payment systems in the world.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any technology, UPI has trade-offs. On the plus side: it's fast, completely free for users, paperless, available 24 by 7, and genuinely easy to use. On the limitation side: you need an active internet connection, there's a real risk of scams if users share their PIN or approve unknown requests, there are daily transaction limits set by banks and NPCI, and occasionally, server downtime can delay transactions during peak load. Being aware of both sides is important, especially the scam risk — that's actually one of the biggest real-world challenges today.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You've all used at least one of these — Google Pay, PhonePe, Paytm, BHIM, and Amazon Pay are the most popular UPI apps in India today. The important thing to understand is that these are just different front-end apps — different interfaces and branding — but they all connect to the same underlying UPI network built by NPCI. That's why a Google Pay user can pay a PhonePe user directly with zero extra steps — the apps are different, but the payment rail underneath is exactly the same.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is UPI headed next? A few exciting directions: International Payments, so NRIs and travelers can use UPI abroad; Voice Payments, letting you pay just by speaking a command; NFC Tap and Pay, for contactless payments similar to tapping a card; AI-based Fraud Detection, to catch suspicious transactions before they happen; and Offline UPI, which allows small payments to go through even without an active internet connection — useful in low-connectivity areas.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numbers to put this in perspective. UPI now processes billions of transactions every single month. It's used by millions of people daily, from metro cities to small towns. It's accepted everywhere — from a roadside street vendor to a large shopping mall, which is remarkable reach for a payment technology. And QR codes in particular have significantly reduced our dependence on cash in daily life.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UPI fundamentally changed how India pays. It's safe, fast, and reliable, and it's become the foundation of a cashless India — one that's still evolving with new features every year. Thank you all for listening. I'm happy to take any questions now.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5.png"/><Relationship Id="rId4" Type="http://schemas.openxmlformats.org/officeDocument/2006/relationships/image" Target="../media/image16.png"/><Relationship Id="rId9"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9.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5.png"/><Relationship Id="rId10" Type="http://schemas.openxmlformats.org/officeDocument/2006/relationships/image" Target="../media/image1.png"/><Relationship Id="rId4" Type="http://schemas.openxmlformats.org/officeDocument/2006/relationships/image" Target="../media/image20.png"/><Relationship Id="rId9"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8.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 y="45720"/>
            <a:ext cx="9052560" cy="5052060"/>
          </a:xfrm>
          <a:prstGeom prst="rect">
            <a:avLst/>
          </a:prstGeom>
          <a:ln w="38100">
            <a:solidFill>
              <a:srgbClr val="F5A623"/>
            </a:solidFill>
            <a:prstDash val="solid"/>
          </a:ln>
        </p:spPr>
        <p:txBody>
          <a:bodyPr/>
          <a:lstStyle/>
          <a:p>
            <a:endParaRPr lang="en-IN"/>
          </a:p>
        </p:txBody>
      </p:sp>
      <p:sp>
        <p:nvSpPr>
          <p:cNvPr id="3" name="Shape 1"/>
          <p:cNvSpPr/>
          <p:nvPr/>
        </p:nvSpPr>
        <p:spPr>
          <a:xfrm>
            <a:off x="146304" y="146304"/>
            <a:ext cx="8851392" cy="4850892"/>
          </a:xfrm>
          <a:prstGeom prst="rect">
            <a:avLst/>
          </a:prstGeom>
          <a:ln w="25400">
            <a:solidFill>
              <a:srgbClr val="4FA8DC"/>
            </a:solidFill>
            <a:prstDash val="solid"/>
          </a:ln>
        </p:spPr>
        <p:txBody>
          <a:bodyPr/>
          <a:lstStyle/>
          <a:p>
            <a:endParaRPr lang="en-IN"/>
          </a:p>
        </p:txBody>
      </p:sp>
      <p:sp>
        <p:nvSpPr>
          <p:cNvPr id="5" name="Shape 3"/>
          <p:cNvSpPr/>
          <p:nvPr/>
        </p:nvSpPr>
        <p:spPr>
          <a:xfrm rot="10800000">
            <a:off x="146304" y="777240"/>
            <a:ext cx="457200" cy="320040"/>
          </a:xfrm>
          <a:prstGeom prst="triangle">
            <a:avLst/>
          </a:prstGeom>
          <a:solidFill>
            <a:srgbClr val="FFFFFF"/>
          </a:solidFill>
          <a:ln/>
        </p:spPr>
        <p:txBody>
          <a:bodyPr/>
          <a:lstStyle/>
          <a:p>
            <a:endParaRPr lang="en-IN"/>
          </a:p>
        </p:txBody>
      </p:sp>
      <p:pic>
        <p:nvPicPr>
          <p:cNvPr id="7" name="Image 0" descr="/home/claude/nttf_logo.png"/>
          <p:cNvPicPr>
            <a:picLocks noChangeAspect="1"/>
          </p:cNvPicPr>
          <p:nvPr/>
        </p:nvPicPr>
        <p:blipFill>
          <a:blip r:embed="rId3"/>
          <a:stretch>
            <a:fillRect/>
          </a:stretch>
        </p:blipFill>
        <p:spPr>
          <a:xfrm>
            <a:off x="7160400" y="393532"/>
            <a:ext cx="1224000" cy="457200"/>
          </a:xfrm>
          <a:prstGeom prst="rect">
            <a:avLst/>
          </a:prstGeom>
        </p:spPr>
      </p:pic>
      <p:sp>
        <p:nvSpPr>
          <p:cNvPr id="8" name="Text 5"/>
          <p:cNvSpPr/>
          <p:nvPr/>
        </p:nvSpPr>
        <p:spPr>
          <a:xfrm>
            <a:off x="777240" y="320040"/>
            <a:ext cx="5669280" cy="502920"/>
          </a:xfrm>
          <a:prstGeom prst="rect">
            <a:avLst/>
          </a:prstGeom>
          <a:noFill/>
          <a:ln/>
        </p:spPr>
        <p:txBody>
          <a:bodyPr wrap="square" lIns="0" tIns="0" rIns="0" bIns="0" rtlCol="0" anchor="ctr"/>
          <a:lstStyle/>
          <a:p>
            <a:pPr marL="0" indent="0">
              <a:buNone/>
            </a:pPr>
            <a:r>
              <a:rPr lang="en-US" sz="2500" b="1" dirty="0">
                <a:solidFill>
                  <a:srgbClr val="E22B2B"/>
                </a:solidFill>
                <a:latin typeface="Bookman Old Style" pitchFamily="34" charset="0"/>
                <a:ea typeface="Bookman Old Style" pitchFamily="34" charset="-122"/>
                <a:cs typeface="Bookman Old Style" pitchFamily="34" charset="-120"/>
              </a:rPr>
              <a:t>SHOPTALK </a:t>
            </a:r>
            <a:r>
              <a:rPr lang="en-US" sz="2500" b="1" dirty="0">
                <a:solidFill>
                  <a:srgbClr val="111111"/>
                </a:solidFill>
                <a:latin typeface="Bookman Old Style" pitchFamily="34" charset="0"/>
                <a:ea typeface="Bookman Old Style" pitchFamily="34" charset="-122"/>
                <a:cs typeface="Bookman Old Style" pitchFamily="34" charset="-120"/>
              </a:rPr>
              <a:t>OF THE MONTH</a:t>
            </a:r>
            <a:endParaRPr lang="en-US" sz="2500" dirty="0"/>
          </a:p>
        </p:txBody>
      </p:sp>
      <p:sp>
        <p:nvSpPr>
          <p:cNvPr id="9" name="Shape 6"/>
          <p:cNvSpPr/>
          <p:nvPr/>
        </p:nvSpPr>
        <p:spPr>
          <a:xfrm>
            <a:off x="6903720" y="1051560"/>
            <a:ext cx="1737360" cy="475488"/>
          </a:xfrm>
          <a:prstGeom prst="roundRect">
            <a:avLst>
              <a:gd name="adj" fmla="val 50000"/>
            </a:avLst>
          </a:prstGeom>
          <a:solidFill>
            <a:srgbClr val="18B7C4"/>
          </a:solidFill>
          <a:ln/>
        </p:spPr>
        <p:txBody>
          <a:bodyPr/>
          <a:lstStyle/>
          <a:p>
            <a:endParaRPr lang="en-IN"/>
          </a:p>
        </p:txBody>
      </p:sp>
      <p:sp>
        <p:nvSpPr>
          <p:cNvPr id="10" name="Text 7"/>
          <p:cNvSpPr/>
          <p:nvPr/>
        </p:nvSpPr>
        <p:spPr>
          <a:xfrm>
            <a:off x="6903720" y="1051560"/>
            <a:ext cx="1737360"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JULY</a:t>
            </a:r>
            <a:endParaRPr lang="en-US" sz="1600" dirty="0"/>
          </a:p>
        </p:txBody>
      </p:sp>
      <p:sp>
        <p:nvSpPr>
          <p:cNvPr id="11" name="Shape 8"/>
          <p:cNvSpPr/>
          <p:nvPr/>
        </p:nvSpPr>
        <p:spPr>
          <a:xfrm>
            <a:off x="6903720" y="1600200"/>
            <a:ext cx="1737360" cy="475488"/>
          </a:xfrm>
          <a:prstGeom prst="roundRect">
            <a:avLst>
              <a:gd name="adj" fmla="val 50000"/>
            </a:avLst>
          </a:prstGeom>
          <a:solidFill>
            <a:srgbClr val="F5A623"/>
          </a:solidFill>
          <a:ln/>
        </p:spPr>
        <p:txBody>
          <a:bodyPr/>
          <a:lstStyle/>
          <a:p>
            <a:endParaRPr lang="en-IN"/>
          </a:p>
        </p:txBody>
      </p:sp>
      <p:sp>
        <p:nvSpPr>
          <p:cNvPr id="12" name="Text 9"/>
          <p:cNvSpPr/>
          <p:nvPr/>
        </p:nvSpPr>
        <p:spPr>
          <a:xfrm>
            <a:off x="6903720" y="1600200"/>
            <a:ext cx="1737360"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2026</a:t>
            </a:r>
            <a:endParaRPr lang="en-US" sz="1600" dirty="0"/>
          </a:p>
        </p:txBody>
      </p:sp>
      <p:sp>
        <p:nvSpPr>
          <p:cNvPr id="13" name="Shape 10"/>
          <p:cNvSpPr/>
          <p:nvPr/>
        </p:nvSpPr>
        <p:spPr>
          <a:xfrm>
            <a:off x="777240" y="1417320"/>
            <a:ext cx="5394960" cy="1234440"/>
          </a:xfrm>
          <a:prstGeom prst="roundRect">
            <a:avLst>
              <a:gd name="adj" fmla="val 25926"/>
            </a:avLst>
          </a:prstGeom>
          <a:solidFill>
            <a:srgbClr val="111111"/>
          </a:solidFill>
          <a:ln/>
        </p:spPr>
        <p:txBody>
          <a:bodyPr/>
          <a:lstStyle/>
          <a:p>
            <a:endParaRPr lang="en-IN"/>
          </a:p>
        </p:txBody>
      </p:sp>
      <p:sp>
        <p:nvSpPr>
          <p:cNvPr id="14" name="Text 11"/>
          <p:cNvSpPr/>
          <p:nvPr/>
        </p:nvSpPr>
        <p:spPr>
          <a:xfrm>
            <a:off x="960120" y="1417320"/>
            <a:ext cx="5029200" cy="1234440"/>
          </a:xfrm>
          <a:prstGeom prst="rect">
            <a:avLst/>
          </a:prstGeom>
          <a:noFill/>
          <a:ln/>
        </p:spPr>
        <p:txBody>
          <a:bodyPr wrap="square" lIns="0" tIns="0" rIns="0" bIns="0" rtlCol="0" anchor="ctr"/>
          <a:lstStyle/>
          <a:p>
            <a:pPr marL="0" indent="0" algn="l">
              <a:lnSpc>
                <a:spcPct val="110000"/>
              </a:lnSpc>
              <a:buNone/>
            </a:pPr>
            <a:r>
              <a:rPr lang="en-US" sz="2100" b="1" dirty="0">
                <a:solidFill>
                  <a:srgbClr val="FFFFFF"/>
                </a:solidFill>
                <a:latin typeface="Arial" pitchFamily="34" charset="0"/>
                <a:ea typeface="Arial" pitchFamily="34" charset="-122"/>
                <a:cs typeface="Arial" pitchFamily="34" charset="-120"/>
              </a:rPr>
              <a:t>THE TECHNOLOGY</a:t>
            </a:r>
            <a:endParaRPr lang="en-US" sz="2100" dirty="0"/>
          </a:p>
          <a:p>
            <a:pPr marL="0" indent="0" algn="l">
              <a:lnSpc>
                <a:spcPct val="110000"/>
              </a:lnSpc>
              <a:buNone/>
            </a:pPr>
            <a:r>
              <a:rPr lang="en-US" sz="2100" b="1" dirty="0">
                <a:solidFill>
                  <a:srgbClr val="FFFFFF"/>
                </a:solidFill>
                <a:latin typeface="Arial" pitchFamily="34" charset="0"/>
                <a:ea typeface="Arial" pitchFamily="34" charset="-122"/>
                <a:cs typeface="Arial" pitchFamily="34" charset="-120"/>
              </a:rPr>
              <a:t>BEHIND UPI PAYMENTS</a:t>
            </a:r>
            <a:endParaRPr lang="en-US" sz="2100" dirty="0"/>
          </a:p>
        </p:txBody>
      </p:sp>
      <p:sp>
        <p:nvSpPr>
          <p:cNvPr id="15" name="Shape 12"/>
          <p:cNvSpPr/>
          <p:nvPr/>
        </p:nvSpPr>
        <p:spPr>
          <a:xfrm>
            <a:off x="777240" y="2880360"/>
            <a:ext cx="5394960" cy="402336"/>
          </a:xfrm>
          <a:prstGeom prst="rect">
            <a:avLst/>
          </a:prstGeom>
          <a:solidFill>
            <a:srgbClr val="0D1B4C"/>
          </a:solidFill>
          <a:ln w="9525">
            <a:solidFill>
              <a:srgbClr val="FFFFFF"/>
            </a:solidFill>
            <a:prstDash val="solid"/>
          </a:ln>
        </p:spPr>
        <p:txBody>
          <a:bodyPr/>
          <a:lstStyle/>
          <a:p>
            <a:endParaRPr lang="en-IN"/>
          </a:p>
        </p:txBody>
      </p:sp>
      <p:sp>
        <p:nvSpPr>
          <p:cNvPr id="16" name="Text 13"/>
          <p:cNvSpPr/>
          <p:nvPr/>
        </p:nvSpPr>
        <p:spPr>
          <a:xfrm>
            <a:off x="914400" y="2880360"/>
            <a:ext cx="5212080" cy="40233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Name:- AYUSH PRASAD</a:t>
            </a:r>
            <a:endParaRPr lang="en-US" sz="1250" dirty="0"/>
          </a:p>
        </p:txBody>
      </p:sp>
      <p:sp>
        <p:nvSpPr>
          <p:cNvPr id="17" name="Shape 14"/>
          <p:cNvSpPr/>
          <p:nvPr/>
        </p:nvSpPr>
        <p:spPr>
          <a:xfrm>
            <a:off x="777240" y="3282696"/>
            <a:ext cx="5394960" cy="402336"/>
          </a:xfrm>
          <a:prstGeom prst="rect">
            <a:avLst/>
          </a:prstGeom>
          <a:solidFill>
            <a:srgbClr val="1C6EBE"/>
          </a:solidFill>
          <a:ln w="9525">
            <a:solidFill>
              <a:srgbClr val="FFFFFF"/>
            </a:solidFill>
            <a:prstDash val="solid"/>
          </a:ln>
        </p:spPr>
        <p:txBody>
          <a:bodyPr/>
          <a:lstStyle/>
          <a:p>
            <a:endParaRPr lang="en-IN"/>
          </a:p>
        </p:txBody>
      </p:sp>
      <p:sp>
        <p:nvSpPr>
          <p:cNvPr id="18" name="Text 15"/>
          <p:cNvSpPr/>
          <p:nvPr/>
        </p:nvSpPr>
        <p:spPr>
          <a:xfrm>
            <a:off x="914400" y="3282696"/>
            <a:ext cx="5212080" cy="40233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Course:- COMPUTER SCIENCE</a:t>
            </a:r>
            <a:endParaRPr lang="en-US" sz="1250" dirty="0"/>
          </a:p>
        </p:txBody>
      </p:sp>
      <p:sp>
        <p:nvSpPr>
          <p:cNvPr id="19" name="Shape 16"/>
          <p:cNvSpPr/>
          <p:nvPr/>
        </p:nvSpPr>
        <p:spPr>
          <a:xfrm>
            <a:off x="777240" y="3685032"/>
            <a:ext cx="5394960" cy="402336"/>
          </a:xfrm>
          <a:prstGeom prst="rect">
            <a:avLst/>
          </a:prstGeom>
          <a:solidFill>
            <a:srgbClr val="4FA8DC"/>
          </a:solidFill>
          <a:ln w="9525">
            <a:solidFill>
              <a:srgbClr val="FFFFFF"/>
            </a:solidFill>
            <a:prstDash val="solid"/>
          </a:ln>
        </p:spPr>
        <p:txBody>
          <a:bodyPr/>
          <a:lstStyle/>
          <a:p>
            <a:endParaRPr lang="en-IN" dirty="0"/>
          </a:p>
        </p:txBody>
      </p:sp>
      <p:sp>
        <p:nvSpPr>
          <p:cNvPr id="20" name="Text 17"/>
          <p:cNvSpPr/>
          <p:nvPr/>
        </p:nvSpPr>
        <p:spPr>
          <a:xfrm>
            <a:off x="914400" y="3685032"/>
            <a:ext cx="5212080" cy="40233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Section:- C2</a:t>
            </a:r>
            <a:endParaRPr lang="en-US" sz="1250" dirty="0"/>
          </a:p>
        </p:txBody>
      </p:sp>
      <p:sp>
        <p:nvSpPr>
          <p:cNvPr id="21" name="Shape 18"/>
          <p:cNvSpPr/>
          <p:nvPr/>
        </p:nvSpPr>
        <p:spPr>
          <a:xfrm>
            <a:off x="777240" y="4087368"/>
            <a:ext cx="5394960" cy="402336"/>
          </a:xfrm>
          <a:prstGeom prst="rect">
            <a:avLst/>
          </a:prstGeom>
          <a:solidFill>
            <a:srgbClr val="8DA9D0"/>
          </a:solidFill>
          <a:ln w="9525">
            <a:solidFill>
              <a:srgbClr val="FFFFFF"/>
            </a:solidFill>
            <a:prstDash val="solid"/>
          </a:ln>
        </p:spPr>
        <p:txBody>
          <a:bodyPr/>
          <a:lstStyle/>
          <a:p>
            <a:endParaRPr lang="en-IN"/>
          </a:p>
        </p:txBody>
      </p:sp>
      <p:sp>
        <p:nvSpPr>
          <p:cNvPr id="22" name="Text 19"/>
          <p:cNvSpPr/>
          <p:nvPr/>
        </p:nvSpPr>
        <p:spPr>
          <a:xfrm>
            <a:off x="914400" y="4087368"/>
            <a:ext cx="5212080" cy="40233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Centre:- RD TATA TECHNICAL EDUCATION CENTRE, NTTF</a:t>
            </a:r>
            <a:endParaRPr lang="en-US" sz="1250" dirty="0"/>
          </a:p>
        </p:txBody>
      </p:sp>
      <p:sp>
        <p:nvSpPr>
          <p:cNvPr id="23" name="Shape 20"/>
          <p:cNvSpPr/>
          <p:nvPr/>
        </p:nvSpPr>
        <p:spPr>
          <a:xfrm>
            <a:off x="6720840" y="2880360"/>
            <a:ext cx="1965960" cy="1417320"/>
          </a:xfrm>
          <a:prstGeom prst="roundRect">
            <a:avLst>
              <a:gd name="adj" fmla="val 5161"/>
            </a:avLst>
          </a:prstGeom>
          <a:solidFill>
            <a:srgbClr val="0D1B4C"/>
          </a:solidFill>
          <a:ln/>
        </p:spPr>
        <p:txBody>
          <a:bodyPr/>
          <a:lstStyle/>
          <a:p>
            <a:endParaRPr lang="en-IN"/>
          </a:p>
        </p:txBody>
      </p:sp>
      <p:sp>
        <p:nvSpPr>
          <p:cNvPr id="24" name="Text 21"/>
          <p:cNvSpPr/>
          <p:nvPr/>
        </p:nvSpPr>
        <p:spPr>
          <a:xfrm>
            <a:off x="6720840" y="2971800"/>
            <a:ext cx="196596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UPI PAYMENTS</a:t>
            </a:r>
            <a:endParaRPr lang="en-US" sz="950" dirty="0"/>
          </a:p>
        </p:txBody>
      </p:sp>
      <p:pic>
        <p:nvPicPr>
          <p:cNvPr id="25" name="Image 1" descr="preencoded.png"/>
          <p:cNvPicPr>
            <a:picLocks noChangeAspect="1"/>
          </p:cNvPicPr>
          <p:nvPr/>
        </p:nvPicPr>
        <p:blipFill>
          <a:blip r:embed="rId4"/>
          <a:stretch>
            <a:fillRect/>
          </a:stretch>
        </p:blipFill>
        <p:spPr>
          <a:xfrm>
            <a:off x="6903720" y="3383280"/>
            <a:ext cx="411480" cy="411480"/>
          </a:xfrm>
          <a:prstGeom prst="rect">
            <a:avLst/>
          </a:prstGeom>
        </p:spPr>
      </p:pic>
      <p:pic>
        <p:nvPicPr>
          <p:cNvPr id="26" name="Image 2" descr="preencoded.png"/>
          <p:cNvPicPr>
            <a:picLocks noChangeAspect="1"/>
          </p:cNvPicPr>
          <p:nvPr/>
        </p:nvPicPr>
        <p:blipFill>
          <a:blip r:embed="rId5"/>
          <a:stretch>
            <a:fillRect/>
          </a:stretch>
        </p:blipFill>
        <p:spPr>
          <a:xfrm>
            <a:off x="7452360" y="3383280"/>
            <a:ext cx="411480" cy="411480"/>
          </a:xfrm>
          <a:prstGeom prst="rect">
            <a:avLst/>
          </a:prstGeom>
        </p:spPr>
      </p:pic>
      <p:pic>
        <p:nvPicPr>
          <p:cNvPr id="27" name="Image 3" descr="preencoded.png"/>
          <p:cNvPicPr>
            <a:picLocks noChangeAspect="1"/>
          </p:cNvPicPr>
          <p:nvPr/>
        </p:nvPicPr>
        <p:blipFill>
          <a:blip r:embed="rId6"/>
          <a:stretch>
            <a:fillRect/>
          </a:stretch>
        </p:blipFill>
        <p:spPr>
          <a:xfrm>
            <a:off x="8001000" y="3383280"/>
            <a:ext cx="411480" cy="411480"/>
          </a:xfrm>
          <a:prstGeom prst="rect">
            <a:avLst/>
          </a:prstGeom>
        </p:spPr>
      </p:pic>
      <p:sp>
        <p:nvSpPr>
          <p:cNvPr id="28" name="Text 22"/>
          <p:cNvSpPr/>
          <p:nvPr/>
        </p:nvSpPr>
        <p:spPr>
          <a:xfrm>
            <a:off x="6720840" y="3931920"/>
            <a:ext cx="1965960" cy="274320"/>
          </a:xfrm>
          <a:prstGeom prst="rect">
            <a:avLst/>
          </a:prstGeom>
          <a:noFill/>
          <a:ln/>
        </p:spPr>
        <p:txBody>
          <a:bodyPr wrap="square" lIns="0" tIns="0" rIns="0" bIns="0" rtlCol="0" anchor="ctr"/>
          <a:lstStyle/>
          <a:p>
            <a:pPr marL="0" indent="0" algn="ctr">
              <a:buNone/>
            </a:pPr>
            <a:r>
              <a:rPr lang="en-US" sz="850" dirty="0">
                <a:solidFill>
                  <a:srgbClr val="CADCFC"/>
                </a:solidFill>
                <a:latin typeface="Arial" pitchFamily="34" charset="0"/>
                <a:ea typeface="Arial" pitchFamily="34" charset="-122"/>
                <a:cs typeface="Arial" pitchFamily="34" charset="-120"/>
              </a:rPr>
              <a:t>Fast  •  Secure  •  Instant</a:t>
            </a:r>
            <a:endParaRPr lang="en-US" sz="850" dirty="0"/>
          </a:p>
        </p:txBody>
      </p:sp>
      <p:sp>
        <p:nvSpPr>
          <p:cNvPr id="30" name="Frame 29">
            <a:extLst>
              <a:ext uri="{FF2B5EF4-FFF2-40B4-BE49-F238E27FC236}">
                <a16:creationId xmlns:a16="http://schemas.microsoft.com/office/drawing/2014/main" id="{4C0B9CDA-9CCC-EC96-E2B7-A2755C0C0CD6}"/>
              </a:ext>
            </a:extLst>
          </p:cNvPr>
          <p:cNvSpPr/>
          <p:nvPr/>
        </p:nvSpPr>
        <p:spPr>
          <a:xfrm>
            <a:off x="0" y="0"/>
            <a:ext cx="9144000" cy="5143500"/>
          </a:xfrm>
          <a:prstGeom prst="frame">
            <a:avLst>
              <a:gd name="adj1" fmla="val 44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Pentagon 31">
            <a:extLst>
              <a:ext uri="{FF2B5EF4-FFF2-40B4-BE49-F238E27FC236}">
                <a16:creationId xmlns:a16="http://schemas.microsoft.com/office/drawing/2014/main" id="{0479F7BB-0A7D-630E-CB9B-FB4DE8D692C6}"/>
              </a:ext>
            </a:extLst>
          </p:cNvPr>
          <p:cNvSpPr/>
          <p:nvPr/>
        </p:nvSpPr>
        <p:spPr>
          <a:xfrm rot="5400000">
            <a:off x="-26077" y="53172"/>
            <a:ext cx="609600" cy="528320"/>
          </a:xfrm>
          <a:prstGeom prst="homePlat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Arrow: Chevron 33">
            <a:extLst>
              <a:ext uri="{FF2B5EF4-FFF2-40B4-BE49-F238E27FC236}">
                <a16:creationId xmlns:a16="http://schemas.microsoft.com/office/drawing/2014/main" id="{ED675052-B888-2AB8-96F7-6DC76E9193E7}"/>
              </a:ext>
            </a:extLst>
          </p:cNvPr>
          <p:cNvSpPr/>
          <p:nvPr/>
        </p:nvSpPr>
        <p:spPr>
          <a:xfrm rot="5400000">
            <a:off x="8538210" y="4537710"/>
            <a:ext cx="701040" cy="510540"/>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 y="45720"/>
            <a:ext cx="9052560" cy="5052060"/>
          </a:xfrm>
          <a:prstGeom prst="rect">
            <a:avLst/>
          </a:prstGeom>
          <a:ln w="38100">
            <a:solidFill>
              <a:srgbClr val="F5A623"/>
            </a:solidFill>
            <a:prstDash val="solid"/>
          </a:ln>
        </p:spPr>
        <p:txBody>
          <a:bodyPr/>
          <a:lstStyle/>
          <a:p>
            <a:endParaRPr lang="en-IN"/>
          </a:p>
        </p:txBody>
      </p:sp>
      <p:sp>
        <p:nvSpPr>
          <p:cNvPr id="3" name="Shape 1"/>
          <p:cNvSpPr/>
          <p:nvPr/>
        </p:nvSpPr>
        <p:spPr>
          <a:xfrm>
            <a:off x="146304" y="146304"/>
            <a:ext cx="8851392" cy="4850892"/>
          </a:xfrm>
          <a:prstGeom prst="rect">
            <a:avLst/>
          </a:prstGeom>
          <a:ln w="25400">
            <a:solidFill>
              <a:srgbClr val="4FA8DC"/>
            </a:solidFill>
            <a:prstDash val="solid"/>
          </a:ln>
        </p:spPr>
        <p:txBody>
          <a:bodyPr/>
          <a:lstStyle/>
          <a:p>
            <a:endParaRPr lang="en-IN"/>
          </a:p>
        </p:txBody>
      </p:sp>
      <p:sp>
        <p:nvSpPr>
          <p:cNvPr id="6" name="Text 3"/>
          <p:cNvSpPr/>
          <p:nvPr/>
        </p:nvSpPr>
        <p:spPr>
          <a:xfrm>
            <a:off x="777240" y="310896"/>
            <a:ext cx="5852160" cy="548640"/>
          </a:xfrm>
          <a:prstGeom prst="rect">
            <a:avLst/>
          </a:prstGeom>
          <a:noFill/>
          <a:ln/>
        </p:spPr>
        <p:txBody>
          <a:bodyPr wrap="square" lIns="0" tIns="0" rIns="0" bIns="0" rtlCol="0" anchor="ctr"/>
          <a:lstStyle/>
          <a:p>
            <a:pPr marL="0" indent="0">
              <a:buNone/>
            </a:pPr>
            <a:r>
              <a:rPr lang="en-US" sz="2600" b="1" dirty="0">
                <a:solidFill>
                  <a:srgbClr val="111111"/>
                </a:solidFill>
                <a:latin typeface="Bookman Old Style" pitchFamily="34" charset="0"/>
                <a:ea typeface="Bookman Old Style" pitchFamily="34" charset="-122"/>
                <a:cs typeface="Bookman Old Style" pitchFamily="34" charset="-120"/>
              </a:rPr>
              <a:t>Introduction</a:t>
            </a:r>
            <a:endParaRPr lang="en-US" sz="2600" dirty="0"/>
          </a:p>
        </p:txBody>
      </p:sp>
      <p:sp>
        <p:nvSpPr>
          <p:cNvPr id="7" name="Text 4"/>
          <p:cNvSpPr/>
          <p:nvPr/>
        </p:nvSpPr>
        <p:spPr>
          <a:xfrm>
            <a:off x="777240" y="1234440"/>
            <a:ext cx="5212080" cy="3383280"/>
          </a:xfrm>
          <a:prstGeom prst="rect">
            <a:avLst/>
          </a:prstGeom>
          <a:noFill/>
          <a:ln/>
        </p:spPr>
        <p:txBody>
          <a:bodyPr wrap="square" rtlCol="0" anchor="t"/>
          <a:lstStyle/>
          <a:p>
            <a:pPr marL="342900" indent="-342900">
              <a:spcAft>
                <a:spcPts val="1200"/>
              </a:spcAft>
              <a:buSzPct val="100000"/>
              <a:buChar char="●"/>
            </a:pPr>
            <a:r>
              <a:rPr lang="en-US" sz="1500" dirty="0">
                <a:solidFill>
                  <a:srgbClr val="2A2A2A"/>
                </a:solidFill>
                <a:latin typeface="Calibri" pitchFamily="34" charset="0"/>
                <a:ea typeface="Calibri" pitchFamily="34" charset="-122"/>
                <a:cs typeface="Calibri" pitchFamily="34" charset="-120"/>
              </a:rPr>
              <a:t>What is UPI? A real-time system that lets users instantly transfer money between bank accounts using a mobile app.</a:t>
            </a:r>
            <a:endParaRPr lang="en-US" sz="1500" dirty="0"/>
          </a:p>
          <a:p>
            <a:pPr marL="342900" indent="-342900">
              <a:spcAft>
                <a:spcPts val="1200"/>
              </a:spcAft>
              <a:buSzPct val="100000"/>
              <a:buChar char="●"/>
            </a:pPr>
            <a:r>
              <a:rPr lang="en-US" sz="1500" dirty="0">
                <a:solidFill>
                  <a:srgbClr val="2A2A2A"/>
                </a:solidFill>
                <a:latin typeface="Calibri" pitchFamily="34" charset="0"/>
                <a:ea typeface="Calibri" pitchFamily="34" charset="-122"/>
                <a:cs typeface="Calibri" pitchFamily="34" charset="-120"/>
              </a:rPr>
              <a:t>Why was it introduced? To make digital payments simple, fast and accessible for every Indian.</a:t>
            </a:r>
            <a:endParaRPr lang="en-US" sz="1500" dirty="0"/>
          </a:p>
          <a:p>
            <a:pPr marL="342900" indent="-342900">
              <a:spcAft>
                <a:spcPts val="1200"/>
              </a:spcAft>
              <a:buSzPct val="100000"/>
              <a:buChar char="●"/>
            </a:pPr>
            <a:r>
              <a:rPr lang="en-US" sz="1500" dirty="0">
                <a:solidFill>
                  <a:srgbClr val="2A2A2A"/>
                </a:solidFill>
                <a:latin typeface="Calibri" pitchFamily="34" charset="0"/>
                <a:ea typeface="Calibri" pitchFamily="34" charset="-122"/>
                <a:cs typeface="Calibri" pitchFamily="34" charset="-120"/>
              </a:rPr>
              <a:t>Brief history: UPI was launched by NPCI in the year 2016.</a:t>
            </a:r>
            <a:endParaRPr lang="en-US" sz="1500" dirty="0"/>
          </a:p>
          <a:p>
            <a:pPr marL="342900" indent="-342900">
              <a:spcAft>
                <a:spcPts val="1200"/>
              </a:spcAft>
              <a:buSzPct val="100000"/>
              <a:buChar char="●"/>
            </a:pPr>
            <a:r>
              <a:rPr lang="en-US" sz="1500" dirty="0">
                <a:solidFill>
                  <a:srgbClr val="2A2A2A"/>
                </a:solidFill>
                <a:latin typeface="Calibri" pitchFamily="34" charset="0"/>
                <a:ea typeface="Calibri" pitchFamily="34" charset="-122"/>
                <a:cs typeface="Calibri" pitchFamily="34" charset="-120"/>
              </a:rPr>
              <a:t>Importance: UPI now sits at the heart of India's cashless, digital economy.</a:t>
            </a:r>
            <a:endParaRPr lang="en-US" sz="1500" dirty="0"/>
          </a:p>
        </p:txBody>
      </p:sp>
      <p:sp>
        <p:nvSpPr>
          <p:cNvPr id="8" name="Shape 5"/>
          <p:cNvSpPr/>
          <p:nvPr/>
        </p:nvSpPr>
        <p:spPr>
          <a:xfrm>
            <a:off x="6309360" y="1371600"/>
            <a:ext cx="2148840" cy="2651760"/>
          </a:xfrm>
          <a:prstGeom prst="roundRect">
            <a:avLst>
              <a:gd name="adj" fmla="val 5106"/>
            </a:avLst>
          </a:prstGeom>
          <a:solidFill>
            <a:srgbClr val="F4F8FC"/>
          </a:solidFill>
          <a:ln w="12700">
            <a:solidFill>
              <a:srgbClr val="4FA8DC"/>
            </a:solidFill>
            <a:prstDash val="solid"/>
          </a:ln>
        </p:spPr>
        <p:txBody>
          <a:bodyPr/>
          <a:lstStyle/>
          <a:p>
            <a:endParaRPr lang="en-IN"/>
          </a:p>
        </p:txBody>
      </p:sp>
      <p:pic>
        <p:nvPicPr>
          <p:cNvPr id="9" name="Image 1" descr="preencoded.png"/>
          <p:cNvPicPr>
            <a:picLocks noChangeAspect="1"/>
          </p:cNvPicPr>
          <p:nvPr/>
        </p:nvPicPr>
        <p:blipFill>
          <a:blip r:embed="rId3"/>
          <a:stretch>
            <a:fillRect/>
          </a:stretch>
        </p:blipFill>
        <p:spPr>
          <a:xfrm>
            <a:off x="7086600" y="1737360"/>
            <a:ext cx="640080" cy="640080"/>
          </a:xfrm>
          <a:prstGeom prst="rect">
            <a:avLst/>
          </a:prstGeom>
        </p:spPr>
      </p:pic>
      <p:sp>
        <p:nvSpPr>
          <p:cNvPr id="10" name="Text 6"/>
          <p:cNvSpPr/>
          <p:nvPr/>
        </p:nvSpPr>
        <p:spPr>
          <a:xfrm>
            <a:off x="6309360" y="2514600"/>
            <a:ext cx="2148840" cy="457200"/>
          </a:xfrm>
          <a:prstGeom prst="rect">
            <a:avLst/>
          </a:prstGeom>
          <a:noFill/>
          <a:ln/>
        </p:spPr>
        <p:txBody>
          <a:bodyPr wrap="square" lIns="0" tIns="0" rIns="0" bIns="0" rtlCol="0" anchor="ctr"/>
          <a:lstStyle/>
          <a:p>
            <a:pPr marL="0" indent="0" algn="ctr">
              <a:buNone/>
            </a:pPr>
            <a:r>
              <a:rPr lang="en-US" sz="2600" b="1" dirty="0">
                <a:solidFill>
                  <a:srgbClr val="0D1B4C"/>
                </a:solidFill>
                <a:latin typeface="Arial" pitchFamily="34" charset="0"/>
                <a:ea typeface="Arial" pitchFamily="34" charset="-122"/>
                <a:cs typeface="Arial" pitchFamily="34" charset="-120"/>
              </a:rPr>
              <a:t>2016</a:t>
            </a:r>
            <a:endParaRPr lang="en-US" sz="2600" dirty="0"/>
          </a:p>
        </p:txBody>
      </p:sp>
      <p:sp>
        <p:nvSpPr>
          <p:cNvPr id="11" name="Text 7"/>
          <p:cNvSpPr/>
          <p:nvPr/>
        </p:nvSpPr>
        <p:spPr>
          <a:xfrm>
            <a:off x="6309360" y="2971800"/>
            <a:ext cx="2148840" cy="822960"/>
          </a:xfrm>
          <a:prstGeom prst="rect">
            <a:avLst/>
          </a:prstGeom>
          <a:noFill/>
          <a:ln/>
        </p:spPr>
        <p:txBody>
          <a:bodyPr wrap="square" lIns="0" tIns="0" rIns="0" bIns="0" rtlCol="0" anchor="ctr"/>
          <a:lstStyle/>
          <a:p>
            <a:pPr marL="0" indent="0" algn="ctr">
              <a:buNone/>
            </a:pPr>
            <a:r>
              <a:rPr lang="en-US" sz="1100" dirty="0">
                <a:solidFill>
                  <a:srgbClr val="444444"/>
                </a:solidFill>
                <a:latin typeface="Calibri" pitchFamily="34" charset="0"/>
                <a:ea typeface="Calibri" pitchFamily="34" charset="-122"/>
                <a:cs typeface="Calibri" pitchFamily="34" charset="-120"/>
              </a:rPr>
              <a:t>Year UPI</a:t>
            </a:r>
            <a:endParaRPr lang="en-US" sz="1100" dirty="0"/>
          </a:p>
          <a:p>
            <a:pPr marL="0" indent="0" algn="ctr">
              <a:buNone/>
            </a:pPr>
            <a:r>
              <a:rPr lang="en-US" sz="1100" dirty="0">
                <a:solidFill>
                  <a:srgbClr val="444444"/>
                </a:solidFill>
                <a:latin typeface="Calibri" pitchFamily="34" charset="0"/>
                <a:ea typeface="Calibri" pitchFamily="34" charset="-122"/>
                <a:cs typeface="Calibri" pitchFamily="34" charset="-120"/>
              </a:rPr>
              <a:t>was launched</a:t>
            </a:r>
            <a:endParaRPr lang="en-US" sz="1100" dirty="0"/>
          </a:p>
        </p:txBody>
      </p:sp>
      <p:sp>
        <p:nvSpPr>
          <p:cNvPr id="12" name="Text 8"/>
          <p:cNvSpPr/>
          <p:nvPr/>
        </p:nvSpPr>
        <p:spPr>
          <a:xfrm>
            <a:off x="274320" y="4698492"/>
            <a:ext cx="365760" cy="256032"/>
          </a:xfrm>
          <a:prstGeom prst="rect">
            <a:avLst/>
          </a:prstGeom>
          <a:noFill/>
          <a:ln/>
        </p:spPr>
        <p:txBody>
          <a:bodyPr wrap="square" lIns="0" tIns="0" rIns="0" bIns="0" rtlCol="0" anchor="ctr"/>
          <a:lstStyle/>
          <a:p>
            <a:pPr marL="0" indent="0" algn="l">
              <a:buNone/>
            </a:pPr>
            <a:r>
              <a:rPr lang="en-US" sz="1000" dirty="0">
                <a:solidFill>
                  <a:srgbClr val="8DA9D0"/>
                </a:solidFill>
              </a:rPr>
              <a:t>2</a:t>
            </a:r>
            <a:endParaRPr lang="en-US" sz="1000" dirty="0"/>
          </a:p>
        </p:txBody>
      </p:sp>
      <p:sp>
        <p:nvSpPr>
          <p:cNvPr id="14" name="Frame 13">
            <a:extLst>
              <a:ext uri="{FF2B5EF4-FFF2-40B4-BE49-F238E27FC236}">
                <a16:creationId xmlns:a16="http://schemas.microsoft.com/office/drawing/2014/main" id="{F4360035-A22F-18A8-62DC-8294DD3780F4}"/>
              </a:ext>
            </a:extLst>
          </p:cNvPr>
          <p:cNvSpPr/>
          <p:nvPr/>
        </p:nvSpPr>
        <p:spPr>
          <a:xfrm>
            <a:off x="0" y="0"/>
            <a:ext cx="9144000" cy="5143500"/>
          </a:xfrm>
          <a:prstGeom prst="frame">
            <a:avLst>
              <a:gd name="adj1" fmla="val 44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Arrow: Pentagon 15">
            <a:extLst>
              <a:ext uri="{FF2B5EF4-FFF2-40B4-BE49-F238E27FC236}">
                <a16:creationId xmlns:a16="http://schemas.microsoft.com/office/drawing/2014/main" id="{80CC1589-B343-9983-730D-11FB0B324927}"/>
              </a:ext>
            </a:extLst>
          </p:cNvPr>
          <p:cNvSpPr/>
          <p:nvPr/>
        </p:nvSpPr>
        <p:spPr>
          <a:xfrm rot="5400000">
            <a:off x="-26077" y="53172"/>
            <a:ext cx="609600" cy="528320"/>
          </a:xfrm>
          <a:prstGeom prst="homePlat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Chevron 17">
            <a:extLst>
              <a:ext uri="{FF2B5EF4-FFF2-40B4-BE49-F238E27FC236}">
                <a16:creationId xmlns:a16="http://schemas.microsoft.com/office/drawing/2014/main" id="{A08A9C1F-9E9A-FEED-F46A-584A806C7EBC}"/>
              </a:ext>
            </a:extLst>
          </p:cNvPr>
          <p:cNvSpPr/>
          <p:nvPr/>
        </p:nvSpPr>
        <p:spPr>
          <a:xfrm rot="5400000">
            <a:off x="8538210" y="4537710"/>
            <a:ext cx="701040" cy="510540"/>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13" name="Image 0" descr="/home/claude/nttf_logo.png">
            <a:extLst>
              <a:ext uri="{FF2B5EF4-FFF2-40B4-BE49-F238E27FC236}">
                <a16:creationId xmlns:a16="http://schemas.microsoft.com/office/drawing/2014/main" id="{319E278B-36B3-CF4E-7047-C13EC300722C}"/>
              </a:ext>
            </a:extLst>
          </p:cNvPr>
          <p:cNvPicPr>
            <a:picLocks noChangeAspect="1"/>
          </p:cNvPicPr>
          <p:nvPr/>
        </p:nvPicPr>
        <p:blipFill>
          <a:blip r:embed="rId4"/>
          <a:stretch>
            <a:fillRect/>
          </a:stretch>
        </p:blipFill>
        <p:spPr>
          <a:xfrm>
            <a:off x="7160400" y="393532"/>
            <a:ext cx="1224000"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 y="45720"/>
            <a:ext cx="9052560" cy="5052060"/>
          </a:xfrm>
          <a:prstGeom prst="rect">
            <a:avLst/>
          </a:prstGeom>
          <a:ln w="38100">
            <a:solidFill>
              <a:srgbClr val="F5A623"/>
            </a:solidFill>
            <a:prstDash val="solid"/>
          </a:ln>
        </p:spPr>
        <p:txBody>
          <a:bodyPr/>
          <a:lstStyle/>
          <a:p>
            <a:endParaRPr lang="en-IN"/>
          </a:p>
        </p:txBody>
      </p:sp>
      <p:sp>
        <p:nvSpPr>
          <p:cNvPr id="3" name="Shape 1"/>
          <p:cNvSpPr/>
          <p:nvPr/>
        </p:nvSpPr>
        <p:spPr>
          <a:xfrm>
            <a:off x="146304" y="146304"/>
            <a:ext cx="8851392" cy="4850892"/>
          </a:xfrm>
          <a:prstGeom prst="rect">
            <a:avLst/>
          </a:prstGeom>
          <a:ln w="25400">
            <a:solidFill>
              <a:srgbClr val="4FA8DC"/>
            </a:solidFill>
            <a:prstDash val="solid"/>
          </a:ln>
        </p:spPr>
        <p:txBody>
          <a:bodyPr/>
          <a:lstStyle/>
          <a:p>
            <a:endParaRPr lang="en-IN"/>
          </a:p>
        </p:txBody>
      </p:sp>
      <p:sp>
        <p:nvSpPr>
          <p:cNvPr id="6" name="Text 3"/>
          <p:cNvSpPr/>
          <p:nvPr/>
        </p:nvSpPr>
        <p:spPr>
          <a:xfrm>
            <a:off x="777240" y="310896"/>
            <a:ext cx="5852160" cy="548640"/>
          </a:xfrm>
          <a:prstGeom prst="rect">
            <a:avLst/>
          </a:prstGeom>
          <a:noFill/>
          <a:ln/>
        </p:spPr>
        <p:txBody>
          <a:bodyPr wrap="square" lIns="0" tIns="0" rIns="0" bIns="0" rtlCol="0" anchor="ctr"/>
          <a:lstStyle/>
          <a:p>
            <a:pPr marL="0" indent="0">
              <a:buNone/>
            </a:pPr>
            <a:r>
              <a:rPr lang="en-US" sz="2600" b="1" dirty="0">
                <a:solidFill>
                  <a:srgbClr val="111111"/>
                </a:solidFill>
                <a:latin typeface="Bookman Old Style" pitchFamily="34" charset="0"/>
                <a:ea typeface="Bookman Old Style" pitchFamily="34" charset="-122"/>
                <a:cs typeface="Bookman Old Style" pitchFamily="34" charset="-120"/>
              </a:rPr>
              <a:t>Evolution of Digital Payments</a:t>
            </a:r>
            <a:endParaRPr lang="en-US" sz="2600" dirty="0"/>
          </a:p>
        </p:txBody>
      </p:sp>
      <p:sp>
        <p:nvSpPr>
          <p:cNvPr id="7" name="Shape 4"/>
          <p:cNvSpPr/>
          <p:nvPr/>
        </p:nvSpPr>
        <p:spPr>
          <a:xfrm>
            <a:off x="1097280" y="1874520"/>
            <a:ext cx="6766560" cy="0"/>
          </a:xfrm>
          <a:prstGeom prst="line">
            <a:avLst/>
          </a:prstGeom>
          <a:noFill/>
          <a:ln w="25400">
            <a:solidFill>
              <a:srgbClr val="4FA8DC"/>
            </a:solidFill>
            <a:prstDash val="solid"/>
          </a:ln>
        </p:spPr>
        <p:txBody>
          <a:bodyPr/>
          <a:lstStyle/>
          <a:p>
            <a:endParaRPr lang="en-IN"/>
          </a:p>
        </p:txBody>
      </p:sp>
      <p:sp>
        <p:nvSpPr>
          <p:cNvPr id="8" name="Shape 5"/>
          <p:cNvSpPr/>
          <p:nvPr/>
        </p:nvSpPr>
        <p:spPr>
          <a:xfrm>
            <a:off x="777240" y="1554480"/>
            <a:ext cx="640080" cy="640080"/>
          </a:xfrm>
          <a:prstGeom prst="ellipse">
            <a:avLst/>
          </a:prstGeom>
          <a:solidFill>
            <a:srgbClr val="0D1B4C"/>
          </a:solidFill>
          <a:ln/>
        </p:spPr>
        <p:txBody>
          <a:bodyPr/>
          <a:lstStyle/>
          <a:p>
            <a:endParaRPr lang="en-IN"/>
          </a:p>
        </p:txBody>
      </p:sp>
      <p:pic>
        <p:nvPicPr>
          <p:cNvPr id="9" name="Image 1" descr="preencoded.png"/>
          <p:cNvPicPr>
            <a:picLocks noChangeAspect="1"/>
          </p:cNvPicPr>
          <p:nvPr/>
        </p:nvPicPr>
        <p:blipFill>
          <a:blip r:embed="rId3"/>
          <a:stretch>
            <a:fillRect/>
          </a:stretch>
        </p:blipFill>
        <p:spPr>
          <a:xfrm>
            <a:off x="914400" y="1691640"/>
            <a:ext cx="365760" cy="365760"/>
          </a:xfrm>
          <a:prstGeom prst="rect">
            <a:avLst/>
          </a:prstGeom>
        </p:spPr>
      </p:pic>
      <p:sp>
        <p:nvSpPr>
          <p:cNvPr id="10" name="Text 6"/>
          <p:cNvSpPr/>
          <p:nvPr/>
        </p:nvSpPr>
        <p:spPr>
          <a:xfrm>
            <a:off x="548640" y="2331720"/>
            <a:ext cx="1097280" cy="548640"/>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Cash</a:t>
            </a:r>
            <a:endParaRPr lang="en-US" sz="1050" dirty="0"/>
          </a:p>
        </p:txBody>
      </p:sp>
      <p:sp>
        <p:nvSpPr>
          <p:cNvPr id="11" name="Shape 7"/>
          <p:cNvSpPr/>
          <p:nvPr/>
        </p:nvSpPr>
        <p:spPr>
          <a:xfrm>
            <a:off x="2130552" y="1554480"/>
            <a:ext cx="640080" cy="640080"/>
          </a:xfrm>
          <a:prstGeom prst="ellipse">
            <a:avLst/>
          </a:prstGeom>
          <a:solidFill>
            <a:srgbClr val="0D1B4C"/>
          </a:solidFill>
          <a:ln/>
        </p:spPr>
        <p:txBody>
          <a:bodyPr/>
          <a:lstStyle/>
          <a:p>
            <a:endParaRPr lang="en-IN"/>
          </a:p>
        </p:txBody>
      </p:sp>
      <p:pic>
        <p:nvPicPr>
          <p:cNvPr id="12" name="Image 2" descr="preencoded.png"/>
          <p:cNvPicPr>
            <a:picLocks noChangeAspect="1"/>
          </p:cNvPicPr>
          <p:nvPr/>
        </p:nvPicPr>
        <p:blipFill>
          <a:blip r:embed="rId4"/>
          <a:stretch>
            <a:fillRect/>
          </a:stretch>
        </p:blipFill>
        <p:spPr>
          <a:xfrm>
            <a:off x="2267712" y="1691640"/>
            <a:ext cx="365760" cy="365760"/>
          </a:xfrm>
          <a:prstGeom prst="rect">
            <a:avLst/>
          </a:prstGeom>
        </p:spPr>
      </p:pic>
      <p:sp>
        <p:nvSpPr>
          <p:cNvPr id="13" name="Text 8"/>
          <p:cNvSpPr/>
          <p:nvPr/>
        </p:nvSpPr>
        <p:spPr>
          <a:xfrm>
            <a:off x="1901952" y="2331720"/>
            <a:ext cx="1097280" cy="548640"/>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Debit/</a:t>
            </a:r>
            <a:endParaRPr lang="en-US" sz="1050" dirty="0"/>
          </a:p>
          <a:p>
            <a:pPr marL="0" indent="0" algn="ctr">
              <a:buNone/>
            </a:pPr>
            <a:r>
              <a:rPr lang="en-US" sz="1050" dirty="0">
                <a:solidFill>
                  <a:srgbClr val="333333"/>
                </a:solidFill>
                <a:latin typeface="Calibri" pitchFamily="34" charset="0"/>
                <a:ea typeface="Calibri" pitchFamily="34" charset="-122"/>
                <a:cs typeface="Calibri" pitchFamily="34" charset="-120"/>
              </a:rPr>
              <a:t>Credit Cards</a:t>
            </a:r>
            <a:endParaRPr lang="en-US" sz="1050" dirty="0"/>
          </a:p>
        </p:txBody>
      </p:sp>
      <p:sp>
        <p:nvSpPr>
          <p:cNvPr id="14" name="Shape 9"/>
          <p:cNvSpPr/>
          <p:nvPr/>
        </p:nvSpPr>
        <p:spPr>
          <a:xfrm>
            <a:off x="3483864" y="1554480"/>
            <a:ext cx="640080" cy="640080"/>
          </a:xfrm>
          <a:prstGeom prst="ellipse">
            <a:avLst/>
          </a:prstGeom>
          <a:solidFill>
            <a:srgbClr val="0D1B4C"/>
          </a:solidFill>
          <a:ln/>
        </p:spPr>
        <p:txBody>
          <a:bodyPr/>
          <a:lstStyle/>
          <a:p>
            <a:endParaRPr lang="en-IN"/>
          </a:p>
        </p:txBody>
      </p:sp>
      <p:pic>
        <p:nvPicPr>
          <p:cNvPr id="15" name="Image 3" descr="preencoded.png"/>
          <p:cNvPicPr>
            <a:picLocks noChangeAspect="1"/>
          </p:cNvPicPr>
          <p:nvPr/>
        </p:nvPicPr>
        <p:blipFill>
          <a:blip r:embed="rId5"/>
          <a:stretch>
            <a:fillRect/>
          </a:stretch>
        </p:blipFill>
        <p:spPr>
          <a:xfrm>
            <a:off x="3621024" y="1691640"/>
            <a:ext cx="365760" cy="365760"/>
          </a:xfrm>
          <a:prstGeom prst="rect">
            <a:avLst/>
          </a:prstGeom>
        </p:spPr>
      </p:pic>
      <p:sp>
        <p:nvSpPr>
          <p:cNvPr id="16" name="Text 10"/>
          <p:cNvSpPr/>
          <p:nvPr/>
        </p:nvSpPr>
        <p:spPr>
          <a:xfrm>
            <a:off x="3255264" y="2331720"/>
            <a:ext cx="1097280" cy="548640"/>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Net</a:t>
            </a:r>
            <a:endParaRPr lang="en-US" sz="1050" dirty="0"/>
          </a:p>
          <a:p>
            <a:pPr marL="0" indent="0" algn="ctr">
              <a:buNone/>
            </a:pPr>
            <a:r>
              <a:rPr lang="en-US" sz="1050" dirty="0">
                <a:solidFill>
                  <a:srgbClr val="333333"/>
                </a:solidFill>
                <a:latin typeface="Calibri" pitchFamily="34" charset="0"/>
                <a:ea typeface="Calibri" pitchFamily="34" charset="-122"/>
                <a:cs typeface="Calibri" pitchFamily="34" charset="-120"/>
              </a:rPr>
              <a:t>Banking</a:t>
            </a:r>
            <a:endParaRPr lang="en-US" sz="1050" dirty="0"/>
          </a:p>
        </p:txBody>
      </p:sp>
      <p:sp>
        <p:nvSpPr>
          <p:cNvPr id="17" name="Shape 11"/>
          <p:cNvSpPr/>
          <p:nvPr/>
        </p:nvSpPr>
        <p:spPr>
          <a:xfrm>
            <a:off x="4837176" y="1554480"/>
            <a:ext cx="640080" cy="640080"/>
          </a:xfrm>
          <a:prstGeom prst="ellipse">
            <a:avLst/>
          </a:prstGeom>
          <a:solidFill>
            <a:srgbClr val="0D1B4C"/>
          </a:solidFill>
          <a:ln/>
        </p:spPr>
        <p:txBody>
          <a:bodyPr/>
          <a:lstStyle/>
          <a:p>
            <a:endParaRPr lang="en-IN"/>
          </a:p>
        </p:txBody>
      </p:sp>
      <p:pic>
        <p:nvPicPr>
          <p:cNvPr id="18" name="Image 4" descr="preencoded.png"/>
          <p:cNvPicPr>
            <a:picLocks noChangeAspect="1"/>
          </p:cNvPicPr>
          <p:nvPr/>
        </p:nvPicPr>
        <p:blipFill>
          <a:blip r:embed="rId6"/>
          <a:stretch>
            <a:fillRect/>
          </a:stretch>
        </p:blipFill>
        <p:spPr>
          <a:xfrm>
            <a:off x="4974336" y="1691640"/>
            <a:ext cx="365760" cy="365760"/>
          </a:xfrm>
          <a:prstGeom prst="rect">
            <a:avLst/>
          </a:prstGeom>
        </p:spPr>
      </p:pic>
      <p:sp>
        <p:nvSpPr>
          <p:cNvPr id="19" name="Text 12"/>
          <p:cNvSpPr/>
          <p:nvPr/>
        </p:nvSpPr>
        <p:spPr>
          <a:xfrm>
            <a:off x="4608576" y="2331720"/>
            <a:ext cx="1097280" cy="548640"/>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Mobile</a:t>
            </a:r>
            <a:endParaRPr lang="en-US" sz="1050" dirty="0"/>
          </a:p>
          <a:p>
            <a:pPr marL="0" indent="0" algn="ctr">
              <a:buNone/>
            </a:pPr>
            <a:r>
              <a:rPr lang="en-US" sz="1050" dirty="0">
                <a:solidFill>
                  <a:srgbClr val="333333"/>
                </a:solidFill>
                <a:latin typeface="Calibri" pitchFamily="34" charset="0"/>
                <a:ea typeface="Calibri" pitchFamily="34" charset="-122"/>
                <a:cs typeface="Calibri" pitchFamily="34" charset="-120"/>
              </a:rPr>
              <a:t>Wallets</a:t>
            </a:r>
            <a:endParaRPr lang="en-US" sz="1050" dirty="0"/>
          </a:p>
        </p:txBody>
      </p:sp>
      <p:sp>
        <p:nvSpPr>
          <p:cNvPr id="20" name="Shape 13"/>
          <p:cNvSpPr/>
          <p:nvPr/>
        </p:nvSpPr>
        <p:spPr>
          <a:xfrm>
            <a:off x="6190488" y="1554480"/>
            <a:ext cx="640080" cy="640080"/>
          </a:xfrm>
          <a:prstGeom prst="ellipse">
            <a:avLst/>
          </a:prstGeom>
          <a:solidFill>
            <a:srgbClr val="F5A623"/>
          </a:solidFill>
          <a:ln/>
        </p:spPr>
        <p:txBody>
          <a:bodyPr/>
          <a:lstStyle/>
          <a:p>
            <a:endParaRPr lang="en-IN"/>
          </a:p>
        </p:txBody>
      </p:sp>
      <p:pic>
        <p:nvPicPr>
          <p:cNvPr id="21" name="Image 5" descr="preencoded.png"/>
          <p:cNvPicPr>
            <a:picLocks noChangeAspect="1"/>
          </p:cNvPicPr>
          <p:nvPr/>
        </p:nvPicPr>
        <p:blipFill>
          <a:blip r:embed="rId7"/>
          <a:stretch>
            <a:fillRect/>
          </a:stretch>
        </p:blipFill>
        <p:spPr>
          <a:xfrm>
            <a:off x="6327648" y="1691640"/>
            <a:ext cx="365760" cy="365760"/>
          </a:xfrm>
          <a:prstGeom prst="rect">
            <a:avLst/>
          </a:prstGeom>
        </p:spPr>
      </p:pic>
      <p:sp>
        <p:nvSpPr>
          <p:cNvPr id="22" name="Text 14"/>
          <p:cNvSpPr/>
          <p:nvPr/>
        </p:nvSpPr>
        <p:spPr>
          <a:xfrm>
            <a:off x="5961888" y="2331720"/>
            <a:ext cx="1097280" cy="548640"/>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UPI</a:t>
            </a:r>
            <a:endParaRPr lang="en-US" sz="1050" dirty="0"/>
          </a:p>
        </p:txBody>
      </p:sp>
      <p:sp>
        <p:nvSpPr>
          <p:cNvPr id="23" name="Shape 15"/>
          <p:cNvSpPr/>
          <p:nvPr/>
        </p:nvSpPr>
        <p:spPr>
          <a:xfrm>
            <a:off x="7543800" y="1554480"/>
            <a:ext cx="640080" cy="640080"/>
          </a:xfrm>
          <a:prstGeom prst="ellipse">
            <a:avLst/>
          </a:prstGeom>
          <a:solidFill>
            <a:srgbClr val="0D1B4C"/>
          </a:solidFill>
          <a:ln/>
        </p:spPr>
        <p:txBody>
          <a:bodyPr/>
          <a:lstStyle/>
          <a:p>
            <a:endParaRPr lang="en-IN"/>
          </a:p>
        </p:txBody>
      </p:sp>
      <p:pic>
        <p:nvPicPr>
          <p:cNvPr id="24" name="Image 6" descr="preencoded.png"/>
          <p:cNvPicPr>
            <a:picLocks noChangeAspect="1"/>
          </p:cNvPicPr>
          <p:nvPr/>
        </p:nvPicPr>
        <p:blipFill>
          <a:blip r:embed="rId8"/>
          <a:stretch>
            <a:fillRect/>
          </a:stretch>
        </p:blipFill>
        <p:spPr>
          <a:xfrm>
            <a:off x="7680960" y="1691640"/>
            <a:ext cx="365760" cy="365760"/>
          </a:xfrm>
          <a:prstGeom prst="rect">
            <a:avLst/>
          </a:prstGeom>
        </p:spPr>
      </p:pic>
      <p:sp>
        <p:nvSpPr>
          <p:cNvPr id="25" name="Text 16"/>
          <p:cNvSpPr/>
          <p:nvPr/>
        </p:nvSpPr>
        <p:spPr>
          <a:xfrm>
            <a:off x="7315200" y="2331720"/>
            <a:ext cx="1097280" cy="548640"/>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Future</a:t>
            </a:r>
            <a:endParaRPr lang="en-US" sz="1050" dirty="0"/>
          </a:p>
          <a:p>
            <a:pPr marL="0" indent="0" algn="ctr">
              <a:buNone/>
            </a:pPr>
            <a:r>
              <a:rPr lang="en-US" sz="1050" dirty="0">
                <a:solidFill>
                  <a:srgbClr val="333333"/>
                </a:solidFill>
                <a:latin typeface="Calibri" pitchFamily="34" charset="0"/>
                <a:ea typeface="Calibri" pitchFamily="34" charset="-122"/>
                <a:cs typeface="Calibri" pitchFamily="34" charset="-120"/>
              </a:rPr>
              <a:t>Payments</a:t>
            </a:r>
            <a:endParaRPr lang="en-US" sz="1050" dirty="0"/>
          </a:p>
        </p:txBody>
      </p:sp>
      <p:sp>
        <p:nvSpPr>
          <p:cNvPr id="26" name="Shape 17"/>
          <p:cNvSpPr/>
          <p:nvPr/>
        </p:nvSpPr>
        <p:spPr>
          <a:xfrm>
            <a:off x="777240" y="3063240"/>
            <a:ext cx="7589520" cy="1234440"/>
          </a:xfrm>
          <a:prstGeom prst="roundRect">
            <a:avLst>
              <a:gd name="adj" fmla="val 7407"/>
            </a:avLst>
          </a:prstGeom>
          <a:solidFill>
            <a:srgbClr val="F4F8FC"/>
          </a:solidFill>
          <a:ln/>
        </p:spPr>
        <p:txBody>
          <a:bodyPr/>
          <a:lstStyle/>
          <a:p>
            <a:endParaRPr lang="en-IN"/>
          </a:p>
        </p:txBody>
      </p:sp>
      <p:sp>
        <p:nvSpPr>
          <p:cNvPr id="27" name="Text 18"/>
          <p:cNvSpPr/>
          <p:nvPr/>
        </p:nvSpPr>
        <p:spPr>
          <a:xfrm>
            <a:off x="1005840" y="3200400"/>
            <a:ext cx="7132320" cy="960120"/>
          </a:xfrm>
          <a:prstGeom prst="rect">
            <a:avLst/>
          </a:prstGeom>
          <a:noFill/>
          <a:ln/>
        </p:spPr>
        <p:txBody>
          <a:bodyPr wrap="square" lIns="0" tIns="0" rIns="0" bIns="0" rtlCol="0" anchor="ctr"/>
          <a:lstStyle/>
          <a:p>
            <a:pPr marL="0" indent="0">
              <a:buNone/>
            </a:pPr>
            <a:r>
              <a:rPr lang="en-US" sz="1300" i="1" dirty="0">
                <a:solidFill>
                  <a:srgbClr val="333333"/>
                </a:solidFill>
                <a:latin typeface="Calibri" pitchFamily="34" charset="0"/>
                <a:ea typeface="Calibri" pitchFamily="34" charset="-122"/>
                <a:cs typeface="Calibri" pitchFamily="34" charset="-120"/>
              </a:rPr>
              <a:t>Why did UPI become popular? It combined the security of banks, the convenience of mobile apps, and zero cost — letting anyone pay anyone, anytime, using just a phone number or QR code.</a:t>
            </a:r>
            <a:endParaRPr lang="en-US" sz="1300" dirty="0"/>
          </a:p>
        </p:txBody>
      </p:sp>
      <p:sp>
        <p:nvSpPr>
          <p:cNvPr id="28" name="Text 19"/>
          <p:cNvSpPr/>
          <p:nvPr/>
        </p:nvSpPr>
        <p:spPr>
          <a:xfrm>
            <a:off x="274320" y="4698492"/>
            <a:ext cx="365760" cy="256032"/>
          </a:xfrm>
          <a:prstGeom prst="rect">
            <a:avLst/>
          </a:prstGeom>
          <a:noFill/>
          <a:ln/>
        </p:spPr>
        <p:txBody>
          <a:bodyPr wrap="square" lIns="0" tIns="0" rIns="0" bIns="0" rtlCol="0" anchor="ctr"/>
          <a:lstStyle/>
          <a:p>
            <a:pPr marL="0" indent="0" algn="l">
              <a:buNone/>
            </a:pPr>
            <a:r>
              <a:rPr lang="en-US" sz="1000" dirty="0">
                <a:solidFill>
                  <a:srgbClr val="8DA9D0"/>
                </a:solidFill>
              </a:rPr>
              <a:t>3</a:t>
            </a:r>
            <a:endParaRPr lang="en-US" sz="1000" dirty="0"/>
          </a:p>
        </p:txBody>
      </p:sp>
      <p:sp>
        <p:nvSpPr>
          <p:cNvPr id="30" name="Frame 29">
            <a:extLst>
              <a:ext uri="{FF2B5EF4-FFF2-40B4-BE49-F238E27FC236}">
                <a16:creationId xmlns:a16="http://schemas.microsoft.com/office/drawing/2014/main" id="{A9FC815F-5C65-5C0D-6865-FE46E8658693}"/>
              </a:ext>
            </a:extLst>
          </p:cNvPr>
          <p:cNvSpPr/>
          <p:nvPr/>
        </p:nvSpPr>
        <p:spPr>
          <a:xfrm>
            <a:off x="0" y="0"/>
            <a:ext cx="9144000" cy="5143500"/>
          </a:xfrm>
          <a:prstGeom prst="frame">
            <a:avLst>
              <a:gd name="adj1" fmla="val 44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Pentagon 31">
            <a:extLst>
              <a:ext uri="{FF2B5EF4-FFF2-40B4-BE49-F238E27FC236}">
                <a16:creationId xmlns:a16="http://schemas.microsoft.com/office/drawing/2014/main" id="{E90FBA03-202B-C35D-21BA-9E8842C5F814}"/>
              </a:ext>
            </a:extLst>
          </p:cNvPr>
          <p:cNvSpPr/>
          <p:nvPr/>
        </p:nvSpPr>
        <p:spPr>
          <a:xfrm rot="5400000">
            <a:off x="-26077" y="53172"/>
            <a:ext cx="609600" cy="528320"/>
          </a:xfrm>
          <a:prstGeom prst="homePlat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Arrow: Chevron 33">
            <a:extLst>
              <a:ext uri="{FF2B5EF4-FFF2-40B4-BE49-F238E27FC236}">
                <a16:creationId xmlns:a16="http://schemas.microsoft.com/office/drawing/2014/main" id="{8E39C4E5-AE6F-4BE8-426D-4AA97DF29EA3}"/>
              </a:ext>
            </a:extLst>
          </p:cNvPr>
          <p:cNvSpPr/>
          <p:nvPr/>
        </p:nvSpPr>
        <p:spPr>
          <a:xfrm rot="5400000">
            <a:off x="8538210" y="4537710"/>
            <a:ext cx="701040" cy="510540"/>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29" name="Image 0" descr="/home/claude/nttf_logo.png">
            <a:extLst>
              <a:ext uri="{FF2B5EF4-FFF2-40B4-BE49-F238E27FC236}">
                <a16:creationId xmlns:a16="http://schemas.microsoft.com/office/drawing/2014/main" id="{3AEAE1D5-1CDE-A3BC-5A37-5513A72E079B}"/>
              </a:ext>
            </a:extLst>
          </p:cNvPr>
          <p:cNvPicPr>
            <a:picLocks noChangeAspect="1"/>
          </p:cNvPicPr>
          <p:nvPr/>
        </p:nvPicPr>
        <p:blipFill>
          <a:blip r:embed="rId9"/>
          <a:stretch>
            <a:fillRect/>
          </a:stretch>
        </p:blipFill>
        <p:spPr>
          <a:xfrm>
            <a:off x="7160400" y="393532"/>
            <a:ext cx="1224000" cy="457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 y="45720"/>
            <a:ext cx="9052560" cy="5052060"/>
          </a:xfrm>
          <a:prstGeom prst="rect">
            <a:avLst/>
          </a:prstGeom>
          <a:ln w="38100">
            <a:solidFill>
              <a:srgbClr val="F5A623"/>
            </a:solidFill>
            <a:prstDash val="solid"/>
          </a:ln>
        </p:spPr>
        <p:txBody>
          <a:bodyPr/>
          <a:lstStyle/>
          <a:p>
            <a:endParaRPr lang="en-IN"/>
          </a:p>
        </p:txBody>
      </p:sp>
      <p:sp>
        <p:nvSpPr>
          <p:cNvPr id="3" name="Shape 1"/>
          <p:cNvSpPr/>
          <p:nvPr/>
        </p:nvSpPr>
        <p:spPr>
          <a:xfrm>
            <a:off x="146304" y="146304"/>
            <a:ext cx="8851392" cy="4850892"/>
          </a:xfrm>
          <a:prstGeom prst="rect">
            <a:avLst/>
          </a:prstGeom>
          <a:ln w="25400">
            <a:solidFill>
              <a:srgbClr val="4FA8DC"/>
            </a:solidFill>
            <a:prstDash val="solid"/>
          </a:ln>
        </p:spPr>
        <p:txBody>
          <a:bodyPr/>
          <a:lstStyle/>
          <a:p>
            <a:endParaRPr lang="en-IN"/>
          </a:p>
        </p:txBody>
      </p:sp>
      <p:sp>
        <p:nvSpPr>
          <p:cNvPr id="6" name="Text 3"/>
          <p:cNvSpPr/>
          <p:nvPr/>
        </p:nvSpPr>
        <p:spPr>
          <a:xfrm>
            <a:off x="777240" y="310896"/>
            <a:ext cx="5852160" cy="548640"/>
          </a:xfrm>
          <a:prstGeom prst="rect">
            <a:avLst/>
          </a:prstGeom>
          <a:noFill/>
          <a:ln/>
        </p:spPr>
        <p:txBody>
          <a:bodyPr wrap="square" lIns="0" tIns="0" rIns="0" bIns="0" rtlCol="0" anchor="ctr"/>
          <a:lstStyle/>
          <a:p>
            <a:pPr marL="0" indent="0">
              <a:buNone/>
            </a:pPr>
            <a:r>
              <a:rPr lang="en-US" sz="2600" b="1" dirty="0">
                <a:solidFill>
                  <a:srgbClr val="111111"/>
                </a:solidFill>
                <a:latin typeface="Bookman Old Style" pitchFamily="34" charset="0"/>
                <a:ea typeface="Bookman Old Style" pitchFamily="34" charset="-122"/>
                <a:cs typeface="Bookman Old Style" pitchFamily="34" charset="-120"/>
              </a:rPr>
              <a:t>What is UPI?</a:t>
            </a:r>
            <a:endParaRPr lang="en-US" sz="2600" dirty="0"/>
          </a:p>
        </p:txBody>
      </p:sp>
      <p:sp>
        <p:nvSpPr>
          <p:cNvPr id="7" name="Text 4"/>
          <p:cNvSpPr/>
          <p:nvPr/>
        </p:nvSpPr>
        <p:spPr>
          <a:xfrm>
            <a:off x="777240" y="1188720"/>
            <a:ext cx="7589520" cy="365760"/>
          </a:xfrm>
          <a:prstGeom prst="rect">
            <a:avLst/>
          </a:prstGeom>
          <a:noFill/>
          <a:ln/>
        </p:spPr>
        <p:txBody>
          <a:bodyPr wrap="square" lIns="0" tIns="0" rIns="0" bIns="0" rtlCol="0" anchor="ctr"/>
          <a:lstStyle/>
          <a:p>
            <a:pPr marL="0" indent="0">
              <a:buNone/>
            </a:pPr>
            <a:r>
              <a:rPr lang="en-US" sz="1500" b="1" dirty="0">
                <a:solidFill>
                  <a:srgbClr val="0D1B4C"/>
                </a:solidFill>
                <a:latin typeface="Calibri" pitchFamily="34" charset="0"/>
                <a:ea typeface="Calibri" pitchFamily="34" charset="-122"/>
                <a:cs typeface="Calibri" pitchFamily="34" charset="-120"/>
              </a:rPr>
              <a:t>Full Form: </a:t>
            </a:r>
            <a:r>
              <a:rPr lang="en-US" sz="1500" dirty="0">
                <a:solidFill>
                  <a:srgbClr val="000000"/>
                </a:solidFill>
                <a:latin typeface="Calibri" pitchFamily="34" charset="0"/>
                <a:ea typeface="Calibri" pitchFamily="34" charset="-122"/>
                <a:cs typeface="Calibri" pitchFamily="34" charset="-120"/>
              </a:rPr>
              <a:t>Unified Payments Interface</a:t>
            </a:r>
            <a:endParaRPr lang="en-US" sz="1500" dirty="0"/>
          </a:p>
        </p:txBody>
      </p:sp>
      <p:sp>
        <p:nvSpPr>
          <p:cNvPr id="8" name="Shape 5"/>
          <p:cNvSpPr/>
          <p:nvPr/>
        </p:nvSpPr>
        <p:spPr>
          <a:xfrm>
            <a:off x="777240" y="1783080"/>
            <a:ext cx="502920" cy="502920"/>
          </a:xfrm>
          <a:prstGeom prst="ellipse">
            <a:avLst/>
          </a:prstGeom>
          <a:solidFill>
            <a:srgbClr val="1C6EBE"/>
          </a:solidFill>
          <a:ln/>
        </p:spPr>
        <p:txBody>
          <a:bodyPr/>
          <a:lstStyle/>
          <a:p>
            <a:endParaRPr lang="en-IN"/>
          </a:p>
        </p:txBody>
      </p:sp>
      <p:pic>
        <p:nvPicPr>
          <p:cNvPr id="9" name="Image 1" descr="preencoded.png"/>
          <p:cNvPicPr>
            <a:picLocks noChangeAspect="1"/>
          </p:cNvPicPr>
          <p:nvPr/>
        </p:nvPicPr>
        <p:blipFill>
          <a:blip r:embed="rId3"/>
          <a:stretch>
            <a:fillRect/>
          </a:stretch>
        </p:blipFill>
        <p:spPr>
          <a:xfrm>
            <a:off x="905256" y="1911096"/>
            <a:ext cx="246888" cy="246888"/>
          </a:xfrm>
          <a:prstGeom prst="rect">
            <a:avLst/>
          </a:prstGeom>
        </p:spPr>
      </p:pic>
      <p:sp>
        <p:nvSpPr>
          <p:cNvPr id="10" name="Text 6"/>
          <p:cNvSpPr/>
          <p:nvPr/>
        </p:nvSpPr>
        <p:spPr>
          <a:xfrm>
            <a:off x="1463040" y="1783080"/>
            <a:ext cx="6766560" cy="502920"/>
          </a:xfrm>
          <a:prstGeom prst="rect">
            <a:avLst/>
          </a:prstGeom>
          <a:noFill/>
          <a:ln/>
        </p:spPr>
        <p:txBody>
          <a:bodyPr wrap="square" lIns="0" tIns="0" rIns="0" bIns="0" rtlCol="0" anchor="ctr"/>
          <a:lstStyle/>
          <a:p>
            <a:pPr marL="0" indent="0">
              <a:buNone/>
            </a:pPr>
            <a:r>
              <a:rPr lang="en-US" sz="1500" dirty="0">
                <a:solidFill>
                  <a:srgbClr val="2A2A2A"/>
                </a:solidFill>
                <a:latin typeface="Calibri" pitchFamily="34" charset="0"/>
                <a:ea typeface="Calibri" pitchFamily="34" charset="-122"/>
                <a:cs typeface="Calibri" pitchFamily="34" charset="-120"/>
              </a:rPr>
              <a:t>Real-time payment system</a:t>
            </a:r>
            <a:endParaRPr lang="en-US" sz="1500" dirty="0"/>
          </a:p>
        </p:txBody>
      </p:sp>
      <p:sp>
        <p:nvSpPr>
          <p:cNvPr id="11" name="Shape 7"/>
          <p:cNvSpPr/>
          <p:nvPr/>
        </p:nvSpPr>
        <p:spPr>
          <a:xfrm>
            <a:off x="777240" y="2441448"/>
            <a:ext cx="502920" cy="502920"/>
          </a:xfrm>
          <a:prstGeom prst="ellipse">
            <a:avLst/>
          </a:prstGeom>
          <a:solidFill>
            <a:srgbClr val="1C6EBE"/>
          </a:solidFill>
          <a:ln/>
        </p:spPr>
        <p:txBody>
          <a:bodyPr/>
          <a:lstStyle/>
          <a:p>
            <a:endParaRPr lang="en-IN"/>
          </a:p>
        </p:txBody>
      </p:sp>
      <p:pic>
        <p:nvPicPr>
          <p:cNvPr id="12" name="Image 2" descr="preencoded.png"/>
          <p:cNvPicPr>
            <a:picLocks noChangeAspect="1"/>
          </p:cNvPicPr>
          <p:nvPr/>
        </p:nvPicPr>
        <p:blipFill>
          <a:blip r:embed="rId4"/>
          <a:stretch>
            <a:fillRect/>
          </a:stretch>
        </p:blipFill>
        <p:spPr>
          <a:xfrm>
            <a:off x="905256" y="2569464"/>
            <a:ext cx="246888" cy="246888"/>
          </a:xfrm>
          <a:prstGeom prst="rect">
            <a:avLst/>
          </a:prstGeom>
        </p:spPr>
      </p:pic>
      <p:sp>
        <p:nvSpPr>
          <p:cNvPr id="13" name="Text 8"/>
          <p:cNvSpPr/>
          <p:nvPr/>
        </p:nvSpPr>
        <p:spPr>
          <a:xfrm>
            <a:off x="1463040" y="2441448"/>
            <a:ext cx="6766560" cy="502920"/>
          </a:xfrm>
          <a:prstGeom prst="rect">
            <a:avLst/>
          </a:prstGeom>
          <a:noFill/>
          <a:ln/>
        </p:spPr>
        <p:txBody>
          <a:bodyPr wrap="square" lIns="0" tIns="0" rIns="0" bIns="0" rtlCol="0" anchor="ctr"/>
          <a:lstStyle/>
          <a:p>
            <a:pPr marL="0" indent="0">
              <a:buNone/>
            </a:pPr>
            <a:r>
              <a:rPr lang="en-US" sz="1500" dirty="0">
                <a:solidFill>
                  <a:srgbClr val="2A2A2A"/>
                </a:solidFill>
                <a:latin typeface="Calibri" pitchFamily="34" charset="0"/>
                <a:ea typeface="Calibri" pitchFamily="34" charset="-122"/>
                <a:cs typeface="Calibri" pitchFamily="34" charset="-120"/>
              </a:rPr>
              <a:t>24x7 availability</a:t>
            </a:r>
            <a:endParaRPr lang="en-US" sz="1500" dirty="0"/>
          </a:p>
        </p:txBody>
      </p:sp>
      <p:sp>
        <p:nvSpPr>
          <p:cNvPr id="14" name="Shape 9"/>
          <p:cNvSpPr/>
          <p:nvPr/>
        </p:nvSpPr>
        <p:spPr>
          <a:xfrm>
            <a:off x="777240" y="3099816"/>
            <a:ext cx="502920" cy="502920"/>
          </a:xfrm>
          <a:prstGeom prst="ellipse">
            <a:avLst/>
          </a:prstGeom>
          <a:solidFill>
            <a:srgbClr val="1C6EBE"/>
          </a:solidFill>
          <a:ln/>
        </p:spPr>
        <p:txBody>
          <a:bodyPr/>
          <a:lstStyle/>
          <a:p>
            <a:endParaRPr lang="en-IN"/>
          </a:p>
        </p:txBody>
      </p:sp>
      <p:pic>
        <p:nvPicPr>
          <p:cNvPr id="15" name="Image 3" descr="preencoded.png"/>
          <p:cNvPicPr>
            <a:picLocks noChangeAspect="1"/>
          </p:cNvPicPr>
          <p:nvPr/>
        </p:nvPicPr>
        <p:blipFill>
          <a:blip r:embed="rId5"/>
          <a:stretch>
            <a:fillRect/>
          </a:stretch>
        </p:blipFill>
        <p:spPr>
          <a:xfrm>
            <a:off x="905256" y="3227832"/>
            <a:ext cx="246888" cy="246888"/>
          </a:xfrm>
          <a:prstGeom prst="rect">
            <a:avLst/>
          </a:prstGeom>
        </p:spPr>
      </p:pic>
      <p:sp>
        <p:nvSpPr>
          <p:cNvPr id="16" name="Text 10"/>
          <p:cNvSpPr/>
          <p:nvPr/>
        </p:nvSpPr>
        <p:spPr>
          <a:xfrm>
            <a:off x="1463040" y="3099816"/>
            <a:ext cx="6766560" cy="502920"/>
          </a:xfrm>
          <a:prstGeom prst="rect">
            <a:avLst/>
          </a:prstGeom>
          <a:noFill/>
          <a:ln/>
        </p:spPr>
        <p:txBody>
          <a:bodyPr wrap="square" lIns="0" tIns="0" rIns="0" bIns="0" rtlCol="0" anchor="ctr"/>
          <a:lstStyle/>
          <a:p>
            <a:pPr marL="0" indent="0">
              <a:buNone/>
            </a:pPr>
            <a:r>
              <a:rPr lang="en-US" sz="1500" dirty="0">
                <a:solidFill>
                  <a:srgbClr val="2A2A2A"/>
                </a:solidFill>
                <a:latin typeface="Calibri" pitchFamily="34" charset="0"/>
                <a:ea typeface="Calibri" pitchFamily="34" charset="-122"/>
                <a:cs typeface="Calibri" pitchFamily="34" charset="-120"/>
              </a:rPr>
              <a:t>Supports multiple bank accounts</a:t>
            </a:r>
            <a:endParaRPr lang="en-US" sz="1500" dirty="0"/>
          </a:p>
        </p:txBody>
      </p:sp>
      <p:sp>
        <p:nvSpPr>
          <p:cNvPr id="17" name="Shape 11"/>
          <p:cNvSpPr/>
          <p:nvPr/>
        </p:nvSpPr>
        <p:spPr>
          <a:xfrm>
            <a:off x="777240" y="3758184"/>
            <a:ext cx="502920" cy="502920"/>
          </a:xfrm>
          <a:prstGeom prst="ellipse">
            <a:avLst/>
          </a:prstGeom>
          <a:solidFill>
            <a:srgbClr val="1C6EBE"/>
          </a:solidFill>
          <a:ln/>
        </p:spPr>
        <p:txBody>
          <a:bodyPr/>
          <a:lstStyle/>
          <a:p>
            <a:endParaRPr lang="en-IN"/>
          </a:p>
        </p:txBody>
      </p:sp>
      <p:pic>
        <p:nvPicPr>
          <p:cNvPr id="18" name="Image 4" descr="preencoded.png"/>
          <p:cNvPicPr>
            <a:picLocks noChangeAspect="1"/>
          </p:cNvPicPr>
          <p:nvPr/>
        </p:nvPicPr>
        <p:blipFill>
          <a:blip r:embed="rId6"/>
          <a:stretch>
            <a:fillRect/>
          </a:stretch>
        </p:blipFill>
        <p:spPr>
          <a:xfrm>
            <a:off x="905256" y="3886200"/>
            <a:ext cx="246888" cy="246888"/>
          </a:xfrm>
          <a:prstGeom prst="rect">
            <a:avLst/>
          </a:prstGeom>
        </p:spPr>
      </p:pic>
      <p:sp>
        <p:nvSpPr>
          <p:cNvPr id="19" name="Text 12"/>
          <p:cNvSpPr/>
          <p:nvPr/>
        </p:nvSpPr>
        <p:spPr>
          <a:xfrm>
            <a:off x="1463040" y="3758184"/>
            <a:ext cx="6766560" cy="502920"/>
          </a:xfrm>
          <a:prstGeom prst="rect">
            <a:avLst/>
          </a:prstGeom>
          <a:noFill/>
          <a:ln/>
        </p:spPr>
        <p:txBody>
          <a:bodyPr wrap="square" lIns="0" tIns="0" rIns="0" bIns="0" rtlCol="0" anchor="ctr"/>
          <a:lstStyle/>
          <a:p>
            <a:pPr marL="0" indent="0">
              <a:buNone/>
            </a:pPr>
            <a:r>
              <a:rPr lang="en-US" sz="1500" dirty="0">
                <a:solidFill>
                  <a:srgbClr val="2A2A2A"/>
                </a:solidFill>
                <a:latin typeface="Calibri" pitchFamily="34" charset="0"/>
                <a:ea typeface="Calibri" pitchFamily="34" charset="-122"/>
                <a:cs typeface="Calibri" pitchFamily="34" charset="-120"/>
              </a:rPr>
              <a:t>Single mobile app, unified access</a:t>
            </a:r>
            <a:endParaRPr lang="en-US" sz="1500" dirty="0"/>
          </a:p>
        </p:txBody>
      </p:sp>
      <p:sp>
        <p:nvSpPr>
          <p:cNvPr id="20" name="Text 13"/>
          <p:cNvSpPr/>
          <p:nvPr/>
        </p:nvSpPr>
        <p:spPr>
          <a:xfrm>
            <a:off x="274320" y="4688332"/>
            <a:ext cx="365760" cy="256032"/>
          </a:xfrm>
          <a:prstGeom prst="rect">
            <a:avLst/>
          </a:prstGeom>
          <a:noFill/>
          <a:ln/>
        </p:spPr>
        <p:txBody>
          <a:bodyPr wrap="square" lIns="0" tIns="0" rIns="0" bIns="0" rtlCol="0" anchor="ctr"/>
          <a:lstStyle/>
          <a:p>
            <a:pPr marL="0" indent="0" algn="l">
              <a:buNone/>
            </a:pPr>
            <a:r>
              <a:rPr lang="en-US" sz="1000" dirty="0">
                <a:solidFill>
                  <a:srgbClr val="8DA9D0"/>
                </a:solidFill>
              </a:rPr>
              <a:t>4</a:t>
            </a:r>
            <a:endParaRPr lang="en-US" sz="1000" dirty="0"/>
          </a:p>
        </p:txBody>
      </p:sp>
      <p:sp>
        <p:nvSpPr>
          <p:cNvPr id="22" name="Frame 21">
            <a:extLst>
              <a:ext uri="{FF2B5EF4-FFF2-40B4-BE49-F238E27FC236}">
                <a16:creationId xmlns:a16="http://schemas.microsoft.com/office/drawing/2014/main" id="{0C05285E-0722-B64A-C567-35F6E61BCEF8}"/>
              </a:ext>
            </a:extLst>
          </p:cNvPr>
          <p:cNvSpPr/>
          <p:nvPr/>
        </p:nvSpPr>
        <p:spPr>
          <a:xfrm>
            <a:off x="0" y="0"/>
            <a:ext cx="9144000" cy="5143500"/>
          </a:xfrm>
          <a:prstGeom prst="frame">
            <a:avLst>
              <a:gd name="adj1" fmla="val 44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4" name="Arrow: Pentagon 23">
            <a:extLst>
              <a:ext uri="{FF2B5EF4-FFF2-40B4-BE49-F238E27FC236}">
                <a16:creationId xmlns:a16="http://schemas.microsoft.com/office/drawing/2014/main" id="{371D6686-5CB1-EED2-2254-72FE36A122D1}"/>
              </a:ext>
            </a:extLst>
          </p:cNvPr>
          <p:cNvSpPr/>
          <p:nvPr/>
        </p:nvSpPr>
        <p:spPr>
          <a:xfrm rot="5400000">
            <a:off x="-26077" y="53172"/>
            <a:ext cx="609600" cy="528320"/>
          </a:xfrm>
          <a:prstGeom prst="homePlat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Arrow: Chevron 25">
            <a:extLst>
              <a:ext uri="{FF2B5EF4-FFF2-40B4-BE49-F238E27FC236}">
                <a16:creationId xmlns:a16="http://schemas.microsoft.com/office/drawing/2014/main" id="{265ABF15-7B5A-4644-EAD9-7C58005E1407}"/>
              </a:ext>
            </a:extLst>
          </p:cNvPr>
          <p:cNvSpPr/>
          <p:nvPr/>
        </p:nvSpPr>
        <p:spPr>
          <a:xfrm rot="5400000">
            <a:off x="8538210" y="4537710"/>
            <a:ext cx="701040" cy="510540"/>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28" name="Image 0" descr="/home/claude/nttf_logo.png">
            <a:extLst>
              <a:ext uri="{FF2B5EF4-FFF2-40B4-BE49-F238E27FC236}">
                <a16:creationId xmlns:a16="http://schemas.microsoft.com/office/drawing/2014/main" id="{FA9E82DC-21E5-D245-506E-5B758BFFFBE8}"/>
              </a:ext>
            </a:extLst>
          </p:cNvPr>
          <p:cNvPicPr>
            <a:picLocks noChangeAspect="1"/>
          </p:cNvPicPr>
          <p:nvPr/>
        </p:nvPicPr>
        <p:blipFill>
          <a:blip r:embed="rId7"/>
          <a:stretch>
            <a:fillRect/>
          </a:stretch>
        </p:blipFill>
        <p:spPr>
          <a:xfrm>
            <a:off x="7160400" y="393532"/>
            <a:ext cx="1224000" cy="457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 y="45720"/>
            <a:ext cx="9052560" cy="5052060"/>
          </a:xfrm>
          <a:prstGeom prst="rect">
            <a:avLst/>
          </a:prstGeom>
          <a:ln w="38100">
            <a:solidFill>
              <a:srgbClr val="F5A623"/>
            </a:solidFill>
            <a:prstDash val="solid"/>
          </a:ln>
        </p:spPr>
        <p:txBody>
          <a:bodyPr/>
          <a:lstStyle/>
          <a:p>
            <a:endParaRPr lang="en-IN"/>
          </a:p>
        </p:txBody>
      </p:sp>
      <p:sp>
        <p:nvSpPr>
          <p:cNvPr id="3" name="Shape 1"/>
          <p:cNvSpPr/>
          <p:nvPr/>
        </p:nvSpPr>
        <p:spPr>
          <a:xfrm>
            <a:off x="146304" y="146304"/>
            <a:ext cx="8851392" cy="4850892"/>
          </a:xfrm>
          <a:prstGeom prst="rect">
            <a:avLst/>
          </a:prstGeom>
          <a:ln w="25400">
            <a:solidFill>
              <a:srgbClr val="4FA8DC"/>
            </a:solidFill>
            <a:prstDash val="solid"/>
          </a:ln>
        </p:spPr>
        <p:txBody>
          <a:bodyPr/>
          <a:lstStyle/>
          <a:p>
            <a:endParaRPr lang="en-IN"/>
          </a:p>
        </p:txBody>
      </p:sp>
      <p:sp>
        <p:nvSpPr>
          <p:cNvPr id="6" name="Text 3"/>
          <p:cNvSpPr/>
          <p:nvPr/>
        </p:nvSpPr>
        <p:spPr>
          <a:xfrm>
            <a:off x="777240" y="310896"/>
            <a:ext cx="5852160" cy="548640"/>
          </a:xfrm>
          <a:prstGeom prst="rect">
            <a:avLst/>
          </a:prstGeom>
          <a:noFill/>
          <a:ln/>
        </p:spPr>
        <p:txBody>
          <a:bodyPr wrap="square" lIns="0" tIns="0" rIns="0" bIns="0" rtlCol="0" anchor="ctr"/>
          <a:lstStyle/>
          <a:p>
            <a:pPr marL="0" indent="0">
              <a:buNone/>
            </a:pPr>
            <a:r>
              <a:rPr lang="en-US" sz="2600" b="1" dirty="0">
                <a:solidFill>
                  <a:srgbClr val="111111"/>
                </a:solidFill>
                <a:latin typeface="Bookman Old Style" pitchFamily="34" charset="0"/>
                <a:ea typeface="Bookman Old Style" pitchFamily="34" charset="-122"/>
                <a:cs typeface="Bookman Old Style" pitchFamily="34" charset="-120"/>
              </a:rPr>
              <a:t>Components of UPI</a:t>
            </a:r>
            <a:endParaRPr lang="en-US" sz="2600" dirty="0"/>
          </a:p>
        </p:txBody>
      </p:sp>
      <p:sp>
        <p:nvSpPr>
          <p:cNvPr id="7" name="Shape 4"/>
          <p:cNvSpPr/>
          <p:nvPr/>
        </p:nvSpPr>
        <p:spPr>
          <a:xfrm>
            <a:off x="777240" y="1234440"/>
            <a:ext cx="2514600" cy="1417320"/>
          </a:xfrm>
          <a:prstGeom prst="roundRect">
            <a:avLst>
              <a:gd name="adj" fmla="val 5161"/>
            </a:avLst>
          </a:prstGeom>
          <a:solidFill>
            <a:srgbClr val="F4F8FC"/>
          </a:solidFill>
          <a:ln/>
          <a:effectLst>
            <a:outerShdw blurRad="63500" dist="25400" dir="5400000" algn="bl" rotWithShape="0">
              <a:srgbClr val="000000">
                <a:alpha val="10000"/>
              </a:srgbClr>
            </a:outerShdw>
          </a:effectLst>
        </p:spPr>
        <p:txBody>
          <a:bodyPr/>
          <a:lstStyle/>
          <a:p>
            <a:endParaRPr lang="en-IN"/>
          </a:p>
        </p:txBody>
      </p:sp>
      <p:sp>
        <p:nvSpPr>
          <p:cNvPr id="8" name="Shape 5"/>
          <p:cNvSpPr/>
          <p:nvPr/>
        </p:nvSpPr>
        <p:spPr>
          <a:xfrm>
            <a:off x="941832" y="1399032"/>
            <a:ext cx="411480" cy="411480"/>
          </a:xfrm>
          <a:prstGeom prst="ellipse">
            <a:avLst/>
          </a:prstGeom>
          <a:solidFill>
            <a:srgbClr val="F5A623"/>
          </a:solidFill>
          <a:ln/>
        </p:spPr>
        <p:txBody>
          <a:bodyPr/>
          <a:lstStyle/>
          <a:p>
            <a:endParaRPr lang="en-IN"/>
          </a:p>
        </p:txBody>
      </p:sp>
      <p:pic>
        <p:nvPicPr>
          <p:cNvPr id="9" name="Image 1" descr="preencoded.png"/>
          <p:cNvPicPr>
            <a:picLocks noChangeAspect="1"/>
          </p:cNvPicPr>
          <p:nvPr/>
        </p:nvPicPr>
        <p:blipFill>
          <a:blip r:embed="rId3"/>
          <a:stretch>
            <a:fillRect/>
          </a:stretch>
        </p:blipFill>
        <p:spPr>
          <a:xfrm>
            <a:off x="1051560" y="1508760"/>
            <a:ext cx="192024" cy="192024"/>
          </a:xfrm>
          <a:prstGeom prst="rect">
            <a:avLst/>
          </a:prstGeom>
        </p:spPr>
      </p:pic>
      <p:sp>
        <p:nvSpPr>
          <p:cNvPr id="10" name="Text 6"/>
          <p:cNvSpPr/>
          <p:nvPr/>
        </p:nvSpPr>
        <p:spPr>
          <a:xfrm>
            <a:off x="941832" y="1856232"/>
            <a:ext cx="2185416" cy="274320"/>
          </a:xfrm>
          <a:prstGeom prst="rect">
            <a:avLst/>
          </a:prstGeom>
          <a:noFill/>
          <a:ln/>
        </p:spPr>
        <p:txBody>
          <a:bodyPr wrap="square" lIns="0" tIns="0" rIns="0" bIns="0" rtlCol="0" anchor="ctr"/>
          <a:lstStyle/>
          <a:p>
            <a:pPr marL="0" indent="0">
              <a:buNone/>
            </a:pPr>
            <a:r>
              <a:rPr lang="en-US" sz="1300" b="1" dirty="0">
                <a:solidFill>
                  <a:srgbClr val="0D1B4C"/>
                </a:solidFill>
                <a:latin typeface="Calibri" pitchFamily="34" charset="0"/>
                <a:ea typeface="Calibri" pitchFamily="34" charset="-122"/>
                <a:cs typeface="Calibri" pitchFamily="34" charset="-120"/>
              </a:rPr>
              <a:t>Bank Account</a:t>
            </a:r>
            <a:endParaRPr lang="en-US" sz="1300" dirty="0"/>
          </a:p>
        </p:txBody>
      </p:sp>
      <p:sp>
        <p:nvSpPr>
          <p:cNvPr id="11" name="Text 7"/>
          <p:cNvSpPr/>
          <p:nvPr/>
        </p:nvSpPr>
        <p:spPr>
          <a:xfrm>
            <a:off x="941832" y="2130552"/>
            <a:ext cx="2185416" cy="457200"/>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Linked account money moves from/to</a:t>
            </a:r>
            <a:endParaRPr lang="en-US" sz="1000" dirty="0"/>
          </a:p>
        </p:txBody>
      </p:sp>
      <p:sp>
        <p:nvSpPr>
          <p:cNvPr id="12" name="Shape 8"/>
          <p:cNvSpPr/>
          <p:nvPr/>
        </p:nvSpPr>
        <p:spPr>
          <a:xfrm>
            <a:off x="3429000" y="1234440"/>
            <a:ext cx="2514600" cy="1417320"/>
          </a:xfrm>
          <a:prstGeom prst="roundRect">
            <a:avLst>
              <a:gd name="adj" fmla="val 5161"/>
            </a:avLst>
          </a:prstGeom>
          <a:solidFill>
            <a:srgbClr val="F4F8FC"/>
          </a:solidFill>
          <a:ln/>
          <a:effectLst>
            <a:outerShdw blurRad="63500" dist="25400" dir="5400000" algn="bl" rotWithShape="0">
              <a:srgbClr val="000000">
                <a:alpha val="10000"/>
              </a:srgbClr>
            </a:outerShdw>
          </a:effectLst>
        </p:spPr>
        <p:txBody>
          <a:bodyPr/>
          <a:lstStyle/>
          <a:p>
            <a:endParaRPr lang="en-IN"/>
          </a:p>
        </p:txBody>
      </p:sp>
      <p:sp>
        <p:nvSpPr>
          <p:cNvPr id="13" name="Shape 9"/>
          <p:cNvSpPr/>
          <p:nvPr/>
        </p:nvSpPr>
        <p:spPr>
          <a:xfrm>
            <a:off x="3593592" y="1399032"/>
            <a:ext cx="411480" cy="411480"/>
          </a:xfrm>
          <a:prstGeom prst="ellipse">
            <a:avLst/>
          </a:prstGeom>
          <a:solidFill>
            <a:srgbClr val="F5A623"/>
          </a:solidFill>
          <a:ln/>
        </p:spPr>
        <p:txBody>
          <a:bodyPr/>
          <a:lstStyle/>
          <a:p>
            <a:endParaRPr lang="en-IN"/>
          </a:p>
        </p:txBody>
      </p:sp>
      <p:pic>
        <p:nvPicPr>
          <p:cNvPr id="14" name="Image 2" descr="preencoded.png"/>
          <p:cNvPicPr>
            <a:picLocks noChangeAspect="1"/>
          </p:cNvPicPr>
          <p:nvPr/>
        </p:nvPicPr>
        <p:blipFill>
          <a:blip r:embed="rId4"/>
          <a:stretch>
            <a:fillRect/>
          </a:stretch>
        </p:blipFill>
        <p:spPr>
          <a:xfrm>
            <a:off x="3703320" y="1508760"/>
            <a:ext cx="192024" cy="192024"/>
          </a:xfrm>
          <a:prstGeom prst="rect">
            <a:avLst/>
          </a:prstGeom>
        </p:spPr>
      </p:pic>
      <p:sp>
        <p:nvSpPr>
          <p:cNvPr id="15" name="Text 10"/>
          <p:cNvSpPr/>
          <p:nvPr/>
        </p:nvSpPr>
        <p:spPr>
          <a:xfrm>
            <a:off x="3593592" y="1856232"/>
            <a:ext cx="2185416" cy="274320"/>
          </a:xfrm>
          <a:prstGeom prst="rect">
            <a:avLst/>
          </a:prstGeom>
          <a:noFill/>
          <a:ln/>
        </p:spPr>
        <p:txBody>
          <a:bodyPr wrap="square" lIns="0" tIns="0" rIns="0" bIns="0" rtlCol="0" anchor="ctr"/>
          <a:lstStyle/>
          <a:p>
            <a:pPr marL="0" indent="0">
              <a:buNone/>
            </a:pPr>
            <a:r>
              <a:rPr lang="en-US" sz="1300" b="1" dirty="0">
                <a:solidFill>
                  <a:srgbClr val="0D1B4C"/>
                </a:solidFill>
                <a:latin typeface="Calibri" pitchFamily="34" charset="0"/>
                <a:ea typeface="Calibri" pitchFamily="34" charset="-122"/>
                <a:cs typeface="Calibri" pitchFamily="34" charset="-120"/>
              </a:rPr>
              <a:t>UPI ID</a:t>
            </a:r>
            <a:endParaRPr lang="en-US" sz="1300" dirty="0"/>
          </a:p>
        </p:txBody>
      </p:sp>
      <p:sp>
        <p:nvSpPr>
          <p:cNvPr id="16" name="Text 11"/>
          <p:cNvSpPr/>
          <p:nvPr/>
        </p:nvSpPr>
        <p:spPr>
          <a:xfrm>
            <a:off x="3593592" y="2130552"/>
            <a:ext cx="2185416" cy="457200"/>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Unique address like name@bank</a:t>
            </a:r>
            <a:endParaRPr lang="en-US" sz="1000" dirty="0"/>
          </a:p>
        </p:txBody>
      </p:sp>
      <p:sp>
        <p:nvSpPr>
          <p:cNvPr id="17" name="Shape 12"/>
          <p:cNvSpPr/>
          <p:nvPr/>
        </p:nvSpPr>
        <p:spPr>
          <a:xfrm>
            <a:off x="6080760" y="1234440"/>
            <a:ext cx="2514600" cy="1417320"/>
          </a:xfrm>
          <a:prstGeom prst="roundRect">
            <a:avLst>
              <a:gd name="adj" fmla="val 5161"/>
            </a:avLst>
          </a:prstGeom>
          <a:solidFill>
            <a:srgbClr val="F4F8FC"/>
          </a:solidFill>
          <a:ln/>
          <a:effectLst>
            <a:outerShdw blurRad="63500" dist="25400" dir="5400000" algn="bl" rotWithShape="0">
              <a:srgbClr val="000000">
                <a:alpha val="10000"/>
              </a:srgbClr>
            </a:outerShdw>
          </a:effectLst>
        </p:spPr>
        <p:txBody>
          <a:bodyPr/>
          <a:lstStyle/>
          <a:p>
            <a:endParaRPr lang="en-IN"/>
          </a:p>
        </p:txBody>
      </p:sp>
      <p:sp>
        <p:nvSpPr>
          <p:cNvPr id="18" name="Shape 13"/>
          <p:cNvSpPr/>
          <p:nvPr/>
        </p:nvSpPr>
        <p:spPr>
          <a:xfrm>
            <a:off x="6245352" y="1399032"/>
            <a:ext cx="411480" cy="411480"/>
          </a:xfrm>
          <a:prstGeom prst="ellipse">
            <a:avLst/>
          </a:prstGeom>
          <a:solidFill>
            <a:srgbClr val="F5A623"/>
          </a:solidFill>
          <a:ln/>
        </p:spPr>
        <p:txBody>
          <a:bodyPr/>
          <a:lstStyle/>
          <a:p>
            <a:endParaRPr lang="en-IN"/>
          </a:p>
        </p:txBody>
      </p:sp>
      <p:pic>
        <p:nvPicPr>
          <p:cNvPr id="19" name="Image 3" descr="preencoded.png"/>
          <p:cNvPicPr>
            <a:picLocks noChangeAspect="1"/>
          </p:cNvPicPr>
          <p:nvPr/>
        </p:nvPicPr>
        <p:blipFill>
          <a:blip r:embed="rId5"/>
          <a:stretch>
            <a:fillRect/>
          </a:stretch>
        </p:blipFill>
        <p:spPr>
          <a:xfrm>
            <a:off x="6355080" y="1508760"/>
            <a:ext cx="192024" cy="192024"/>
          </a:xfrm>
          <a:prstGeom prst="rect">
            <a:avLst/>
          </a:prstGeom>
        </p:spPr>
      </p:pic>
      <p:sp>
        <p:nvSpPr>
          <p:cNvPr id="20" name="Text 14"/>
          <p:cNvSpPr/>
          <p:nvPr/>
        </p:nvSpPr>
        <p:spPr>
          <a:xfrm>
            <a:off x="6245352" y="1856232"/>
            <a:ext cx="2185416" cy="274320"/>
          </a:xfrm>
          <a:prstGeom prst="rect">
            <a:avLst/>
          </a:prstGeom>
          <a:noFill/>
          <a:ln/>
        </p:spPr>
        <p:txBody>
          <a:bodyPr wrap="square" lIns="0" tIns="0" rIns="0" bIns="0" rtlCol="0" anchor="ctr"/>
          <a:lstStyle/>
          <a:p>
            <a:pPr marL="0" indent="0">
              <a:buNone/>
            </a:pPr>
            <a:r>
              <a:rPr lang="en-US" sz="1300" b="1" dirty="0">
                <a:solidFill>
                  <a:srgbClr val="0D1B4C"/>
                </a:solidFill>
                <a:latin typeface="Calibri" pitchFamily="34" charset="0"/>
                <a:ea typeface="Calibri" pitchFamily="34" charset="-122"/>
                <a:cs typeface="Calibri" pitchFamily="34" charset="-120"/>
              </a:rPr>
              <a:t>Mobile App</a:t>
            </a:r>
            <a:endParaRPr lang="en-US" sz="1300" dirty="0"/>
          </a:p>
        </p:txBody>
      </p:sp>
      <p:sp>
        <p:nvSpPr>
          <p:cNvPr id="21" name="Text 15"/>
          <p:cNvSpPr/>
          <p:nvPr/>
        </p:nvSpPr>
        <p:spPr>
          <a:xfrm>
            <a:off x="6245352" y="2130552"/>
            <a:ext cx="2185416" cy="457200"/>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Interface used to send/receive money</a:t>
            </a:r>
            <a:endParaRPr lang="en-US" sz="1000" dirty="0"/>
          </a:p>
        </p:txBody>
      </p:sp>
      <p:sp>
        <p:nvSpPr>
          <p:cNvPr id="22" name="Shape 16"/>
          <p:cNvSpPr/>
          <p:nvPr/>
        </p:nvSpPr>
        <p:spPr>
          <a:xfrm>
            <a:off x="777240" y="2834640"/>
            <a:ext cx="2514600" cy="1417320"/>
          </a:xfrm>
          <a:prstGeom prst="roundRect">
            <a:avLst>
              <a:gd name="adj" fmla="val 5161"/>
            </a:avLst>
          </a:prstGeom>
          <a:solidFill>
            <a:srgbClr val="F4F8FC"/>
          </a:solidFill>
          <a:ln/>
          <a:effectLst>
            <a:outerShdw blurRad="63500" dist="25400" dir="5400000" algn="bl" rotWithShape="0">
              <a:srgbClr val="000000">
                <a:alpha val="10000"/>
              </a:srgbClr>
            </a:outerShdw>
          </a:effectLst>
        </p:spPr>
        <p:txBody>
          <a:bodyPr/>
          <a:lstStyle/>
          <a:p>
            <a:endParaRPr lang="en-IN"/>
          </a:p>
        </p:txBody>
      </p:sp>
      <p:sp>
        <p:nvSpPr>
          <p:cNvPr id="23" name="Shape 17"/>
          <p:cNvSpPr/>
          <p:nvPr/>
        </p:nvSpPr>
        <p:spPr>
          <a:xfrm>
            <a:off x="941832" y="2999232"/>
            <a:ext cx="411480" cy="411480"/>
          </a:xfrm>
          <a:prstGeom prst="ellipse">
            <a:avLst/>
          </a:prstGeom>
          <a:solidFill>
            <a:srgbClr val="F5A623"/>
          </a:solidFill>
          <a:ln/>
        </p:spPr>
        <p:txBody>
          <a:bodyPr/>
          <a:lstStyle/>
          <a:p>
            <a:endParaRPr lang="en-IN"/>
          </a:p>
        </p:txBody>
      </p:sp>
      <p:pic>
        <p:nvPicPr>
          <p:cNvPr id="24" name="Image 4" descr="preencoded.png"/>
          <p:cNvPicPr>
            <a:picLocks noChangeAspect="1"/>
          </p:cNvPicPr>
          <p:nvPr/>
        </p:nvPicPr>
        <p:blipFill>
          <a:blip r:embed="rId6"/>
          <a:stretch>
            <a:fillRect/>
          </a:stretch>
        </p:blipFill>
        <p:spPr>
          <a:xfrm>
            <a:off x="1051560" y="3108960"/>
            <a:ext cx="192024" cy="192024"/>
          </a:xfrm>
          <a:prstGeom prst="rect">
            <a:avLst/>
          </a:prstGeom>
        </p:spPr>
      </p:pic>
      <p:sp>
        <p:nvSpPr>
          <p:cNvPr id="25" name="Text 18"/>
          <p:cNvSpPr/>
          <p:nvPr/>
        </p:nvSpPr>
        <p:spPr>
          <a:xfrm>
            <a:off x="941832" y="3456432"/>
            <a:ext cx="2185416" cy="274320"/>
          </a:xfrm>
          <a:prstGeom prst="rect">
            <a:avLst/>
          </a:prstGeom>
          <a:noFill/>
          <a:ln/>
        </p:spPr>
        <p:txBody>
          <a:bodyPr wrap="square" lIns="0" tIns="0" rIns="0" bIns="0" rtlCol="0" anchor="ctr"/>
          <a:lstStyle/>
          <a:p>
            <a:pPr marL="0" indent="0">
              <a:buNone/>
            </a:pPr>
            <a:r>
              <a:rPr lang="en-US" sz="1300" b="1" dirty="0">
                <a:solidFill>
                  <a:srgbClr val="0D1B4C"/>
                </a:solidFill>
                <a:latin typeface="Calibri" pitchFamily="34" charset="0"/>
                <a:ea typeface="Calibri" pitchFamily="34" charset="-122"/>
                <a:cs typeface="Calibri" pitchFamily="34" charset="-120"/>
              </a:rPr>
              <a:t>QR Code</a:t>
            </a:r>
            <a:endParaRPr lang="en-US" sz="1300" dirty="0"/>
          </a:p>
        </p:txBody>
      </p:sp>
      <p:sp>
        <p:nvSpPr>
          <p:cNvPr id="26" name="Text 19"/>
          <p:cNvSpPr/>
          <p:nvPr/>
        </p:nvSpPr>
        <p:spPr>
          <a:xfrm>
            <a:off x="941832" y="3730752"/>
            <a:ext cx="2185416" cy="457200"/>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Scan to pay instantly</a:t>
            </a:r>
            <a:endParaRPr lang="en-US" sz="1000" dirty="0"/>
          </a:p>
        </p:txBody>
      </p:sp>
      <p:sp>
        <p:nvSpPr>
          <p:cNvPr id="27" name="Shape 20"/>
          <p:cNvSpPr/>
          <p:nvPr/>
        </p:nvSpPr>
        <p:spPr>
          <a:xfrm>
            <a:off x="3429000" y="2834640"/>
            <a:ext cx="2514600" cy="1417320"/>
          </a:xfrm>
          <a:prstGeom prst="roundRect">
            <a:avLst>
              <a:gd name="adj" fmla="val 5161"/>
            </a:avLst>
          </a:prstGeom>
          <a:solidFill>
            <a:srgbClr val="F4F8FC"/>
          </a:solidFill>
          <a:ln/>
          <a:effectLst>
            <a:outerShdw blurRad="63500" dist="25400" dir="5400000" algn="bl" rotWithShape="0">
              <a:srgbClr val="000000">
                <a:alpha val="10000"/>
              </a:srgbClr>
            </a:outerShdw>
          </a:effectLst>
        </p:spPr>
        <p:txBody>
          <a:bodyPr/>
          <a:lstStyle/>
          <a:p>
            <a:endParaRPr lang="en-IN"/>
          </a:p>
        </p:txBody>
      </p:sp>
      <p:sp>
        <p:nvSpPr>
          <p:cNvPr id="28" name="Shape 21"/>
          <p:cNvSpPr/>
          <p:nvPr/>
        </p:nvSpPr>
        <p:spPr>
          <a:xfrm>
            <a:off x="3593592" y="2999232"/>
            <a:ext cx="411480" cy="411480"/>
          </a:xfrm>
          <a:prstGeom prst="ellipse">
            <a:avLst/>
          </a:prstGeom>
          <a:solidFill>
            <a:srgbClr val="F5A623"/>
          </a:solidFill>
          <a:ln/>
        </p:spPr>
        <p:txBody>
          <a:bodyPr/>
          <a:lstStyle/>
          <a:p>
            <a:endParaRPr lang="en-IN"/>
          </a:p>
        </p:txBody>
      </p:sp>
      <p:pic>
        <p:nvPicPr>
          <p:cNvPr id="29" name="Image 5" descr="preencoded.png"/>
          <p:cNvPicPr>
            <a:picLocks noChangeAspect="1"/>
          </p:cNvPicPr>
          <p:nvPr/>
        </p:nvPicPr>
        <p:blipFill>
          <a:blip r:embed="rId7"/>
          <a:stretch>
            <a:fillRect/>
          </a:stretch>
        </p:blipFill>
        <p:spPr>
          <a:xfrm>
            <a:off x="3703320" y="3108960"/>
            <a:ext cx="192024" cy="192024"/>
          </a:xfrm>
          <a:prstGeom prst="rect">
            <a:avLst/>
          </a:prstGeom>
        </p:spPr>
      </p:pic>
      <p:sp>
        <p:nvSpPr>
          <p:cNvPr id="30" name="Text 22"/>
          <p:cNvSpPr/>
          <p:nvPr/>
        </p:nvSpPr>
        <p:spPr>
          <a:xfrm>
            <a:off x="3593592" y="3456432"/>
            <a:ext cx="2185416" cy="274320"/>
          </a:xfrm>
          <a:prstGeom prst="rect">
            <a:avLst/>
          </a:prstGeom>
          <a:noFill/>
          <a:ln/>
        </p:spPr>
        <p:txBody>
          <a:bodyPr wrap="square" lIns="0" tIns="0" rIns="0" bIns="0" rtlCol="0" anchor="ctr"/>
          <a:lstStyle/>
          <a:p>
            <a:pPr marL="0" indent="0">
              <a:buNone/>
            </a:pPr>
            <a:r>
              <a:rPr lang="en-US" sz="1300" b="1" dirty="0">
                <a:solidFill>
                  <a:srgbClr val="0D1B4C"/>
                </a:solidFill>
                <a:latin typeface="Calibri" pitchFamily="34" charset="0"/>
                <a:ea typeface="Calibri" pitchFamily="34" charset="-122"/>
                <a:cs typeface="Calibri" pitchFamily="34" charset="-120"/>
              </a:rPr>
              <a:t>UPI PIN</a:t>
            </a:r>
            <a:endParaRPr lang="en-US" sz="1300" dirty="0"/>
          </a:p>
        </p:txBody>
      </p:sp>
      <p:sp>
        <p:nvSpPr>
          <p:cNvPr id="31" name="Text 23"/>
          <p:cNvSpPr/>
          <p:nvPr/>
        </p:nvSpPr>
        <p:spPr>
          <a:xfrm>
            <a:off x="3593592" y="3730752"/>
            <a:ext cx="2185416" cy="457200"/>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Secret code to authorize payment</a:t>
            </a:r>
            <a:endParaRPr lang="en-US" sz="1000" dirty="0"/>
          </a:p>
        </p:txBody>
      </p:sp>
      <p:sp>
        <p:nvSpPr>
          <p:cNvPr id="32" name="Shape 24"/>
          <p:cNvSpPr/>
          <p:nvPr/>
        </p:nvSpPr>
        <p:spPr>
          <a:xfrm>
            <a:off x="6080760" y="2834640"/>
            <a:ext cx="2514600" cy="1417320"/>
          </a:xfrm>
          <a:prstGeom prst="roundRect">
            <a:avLst>
              <a:gd name="adj" fmla="val 5161"/>
            </a:avLst>
          </a:prstGeom>
          <a:solidFill>
            <a:srgbClr val="F4F8FC"/>
          </a:solidFill>
          <a:ln/>
          <a:effectLst>
            <a:outerShdw blurRad="63500" dist="25400" dir="5400000" algn="bl" rotWithShape="0">
              <a:srgbClr val="000000">
                <a:alpha val="10000"/>
              </a:srgbClr>
            </a:outerShdw>
          </a:effectLst>
        </p:spPr>
        <p:txBody>
          <a:bodyPr/>
          <a:lstStyle/>
          <a:p>
            <a:endParaRPr lang="en-IN"/>
          </a:p>
        </p:txBody>
      </p:sp>
      <p:sp>
        <p:nvSpPr>
          <p:cNvPr id="33" name="Shape 25"/>
          <p:cNvSpPr/>
          <p:nvPr/>
        </p:nvSpPr>
        <p:spPr>
          <a:xfrm>
            <a:off x="6245352" y="2999232"/>
            <a:ext cx="411480" cy="411480"/>
          </a:xfrm>
          <a:prstGeom prst="ellipse">
            <a:avLst/>
          </a:prstGeom>
          <a:solidFill>
            <a:srgbClr val="F5A623"/>
          </a:solidFill>
          <a:ln/>
        </p:spPr>
        <p:txBody>
          <a:bodyPr/>
          <a:lstStyle/>
          <a:p>
            <a:endParaRPr lang="en-IN"/>
          </a:p>
        </p:txBody>
      </p:sp>
      <p:pic>
        <p:nvPicPr>
          <p:cNvPr id="34" name="Image 6" descr="preencoded.png"/>
          <p:cNvPicPr>
            <a:picLocks noChangeAspect="1"/>
          </p:cNvPicPr>
          <p:nvPr/>
        </p:nvPicPr>
        <p:blipFill>
          <a:blip r:embed="rId8"/>
          <a:stretch>
            <a:fillRect/>
          </a:stretch>
        </p:blipFill>
        <p:spPr>
          <a:xfrm>
            <a:off x="6355080" y="3108960"/>
            <a:ext cx="192024" cy="192024"/>
          </a:xfrm>
          <a:prstGeom prst="rect">
            <a:avLst/>
          </a:prstGeom>
        </p:spPr>
      </p:pic>
      <p:sp>
        <p:nvSpPr>
          <p:cNvPr id="35" name="Text 26"/>
          <p:cNvSpPr/>
          <p:nvPr/>
        </p:nvSpPr>
        <p:spPr>
          <a:xfrm>
            <a:off x="6245352" y="3456432"/>
            <a:ext cx="2185416" cy="274320"/>
          </a:xfrm>
          <a:prstGeom prst="rect">
            <a:avLst/>
          </a:prstGeom>
          <a:noFill/>
          <a:ln/>
        </p:spPr>
        <p:txBody>
          <a:bodyPr wrap="square" lIns="0" tIns="0" rIns="0" bIns="0" rtlCol="0" anchor="ctr"/>
          <a:lstStyle/>
          <a:p>
            <a:pPr marL="0" indent="0">
              <a:buNone/>
            </a:pPr>
            <a:r>
              <a:rPr lang="en-US" sz="1300" b="1" dirty="0">
                <a:solidFill>
                  <a:srgbClr val="0D1B4C"/>
                </a:solidFill>
                <a:latin typeface="Calibri" pitchFamily="34" charset="0"/>
                <a:ea typeface="Calibri" pitchFamily="34" charset="-122"/>
                <a:cs typeface="Calibri" pitchFamily="34" charset="-120"/>
              </a:rPr>
              <a:t>Payment Switch</a:t>
            </a:r>
            <a:endParaRPr lang="en-US" sz="1300" dirty="0"/>
          </a:p>
        </p:txBody>
      </p:sp>
      <p:sp>
        <p:nvSpPr>
          <p:cNvPr id="36" name="Text 27"/>
          <p:cNvSpPr/>
          <p:nvPr/>
        </p:nvSpPr>
        <p:spPr>
          <a:xfrm>
            <a:off x="6245352" y="3730752"/>
            <a:ext cx="2185416" cy="457200"/>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NPCI's system routing the transaction</a:t>
            </a:r>
            <a:endParaRPr lang="en-US" sz="1000" dirty="0"/>
          </a:p>
        </p:txBody>
      </p:sp>
      <p:sp>
        <p:nvSpPr>
          <p:cNvPr id="37" name="Text 28"/>
          <p:cNvSpPr/>
          <p:nvPr/>
        </p:nvSpPr>
        <p:spPr>
          <a:xfrm>
            <a:off x="274320" y="4688332"/>
            <a:ext cx="365760" cy="256032"/>
          </a:xfrm>
          <a:prstGeom prst="rect">
            <a:avLst/>
          </a:prstGeom>
          <a:noFill/>
          <a:ln/>
        </p:spPr>
        <p:txBody>
          <a:bodyPr wrap="square" lIns="0" tIns="0" rIns="0" bIns="0" rtlCol="0" anchor="ctr"/>
          <a:lstStyle/>
          <a:p>
            <a:pPr marL="0" indent="0" algn="l">
              <a:buNone/>
            </a:pPr>
            <a:r>
              <a:rPr lang="en-US" sz="1000" dirty="0">
                <a:solidFill>
                  <a:srgbClr val="8DA9D0"/>
                </a:solidFill>
              </a:rPr>
              <a:t>5</a:t>
            </a:r>
            <a:endParaRPr lang="en-US" sz="1000" dirty="0"/>
          </a:p>
        </p:txBody>
      </p:sp>
      <p:sp>
        <p:nvSpPr>
          <p:cNvPr id="39" name="Frame 38">
            <a:extLst>
              <a:ext uri="{FF2B5EF4-FFF2-40B4-BE49-F238E27FC236}">
                <a16:creationId xmlns:a16="http://schemas.microsoft.com/office/drawing/2014/main" id="{FC9C804F-6090-6268-92D8-7BE317585CAF}"/>
              </a:ext>
            </a:extLst>
          </p:cNvPr>
          <p:cNvSpPr/>
          <p:nvPr/>
        </p:nvSpPr>
        <p:spPr>
          <a:xfrm>
            <a:off x="0" y="0"/>
            <a:ext cx="9144000" cy="5143500"/>
          </a:xfrm>
          <a:prstGeom prst="frame">
            <a:avLst>
              <a:gd name="adj1" fmla="val 44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1" name="Arrow: Pentagon 40">
            <a:extLst>
              <a:ext uri="{FF2B5EF4-FFF2-40B4-BE49-F238E27FC236}">
                <a16:creationId xmlns:a16="http://schemas.microsoft.com/office/drawing/2014/main" id="{E56EFD1D-3DCF-E930-F6FB-F3652551E8A9}"/>
              </a:ext>
            </a:extLst>
          </p:cNvPr>
          <p:cNvSpPr/>
          <p:nvPr/>
        </p:nvSpPr>
        <p:spPr>
          <a:xfrm rot="5400000">
            <a:off x="-26077" y="53172"/>
            <a:ext cx="609600" cy="528320"/>
          </a:xfrm>
          <a:prstGeom prst="homePlat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Arrow: Chevron 42">
            <a:extLst>
              <a:ext uri="{FF2B5EF4-FFF2-40B4-BE49-F238E27FC236}">
                <a16:creationId xmlns:a16="http://schemas.microsoft.com/office/drawing/2014/main" id="{1944DFF3-9753-E742-64A6-AB180AC00B3D}"/>
              </a:ext>
            </a:extLst>
          </p:cNvPr>
          <p:cNvSpPr/>
          <p:nvPr/>
        </p:nvSpPr>
        <p:spPr>
          <a:xfrm rot="5400000">
            <a:off x="8538210" y="4537710"/>
            <a:ext cx="701040" cy="510540"/>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45" name="Image 0" descr="/home/claude/nttf_logo.png">
            <a:extLst>
              <a:ext uri="{FF2B5EF4-FFF2-40B4-BE49-F238E27FC236}">
                <a16:creationId xmlns:a16="http://schemas.microsoft.com/office/drawing/2014/main" id="{3CE25305-E87F-6A2D-0822-129C9A754B52}"/>
              </a:ext>
            </a:extLst>
          </p:cNvPr>
          <p:cNvPicPr>
            <a:picLocks noChangeAspect="1"/>
          </p:cNvPicPr>
          <p:nvPr/>
        </p:nvPicPr>
        <p:blipFill>
          <a:blip r:embed="rId9"/>
          <a:stretch>
            <a:fillRect/>
          </a:stretch>
        </p:blipFill>
        <p:spPr>
          <a:xfrm>
            <a:off x="7160400" y="393532"/>
            <a:ext cx="1224000" cy="457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 y="45720"/>
            <a:ext cx="9052560" cy="5052060"/>
          </a:xfrm>
          <a:prstGeom prst="rect">
            <a:avLst/>
          </a:prstGeom>
          <a:ln w="38100">
            <a:solidFill>
              <a:srgbClr val="F5A623"/>
            </a:solidFill>
            <a:prstDash val="solid"/>
          </a:ln>
        </p:spPr>
        <p:txBody>
          <a:bodyPr/>
          <a:lstStyle/>
          <a:p>
            <a:endParaRPr lang="en-IN"/>
          </a:p>
        </p:txBody>
      </p:sp>
      <p:sp>
        <p:nvSpPr>
          <p:cNvPr id="3" name="Shape 1"/>
          <p:cNvSpPr/>
          <p:nvPr/>
        </p:nvSpPr>
        <p:spPr>
          <a:xfrm>
            <a:off x="146304" y="146304"/>
            <a:ext cx="8851392" cy="4850892"/>
          </a:xfrm>
          <a:prstGeom prst="rect">
            <a:avLst/>
          </a:prstGeom>
          <a:ln w="25400">
            <a:solidFill>
              <a:srgbClr val="4FA8DC"/>
            </a:solidFill>
            <a:prstDash val="solid"/>
          </a:ln>
        </p:spPr>
        <p:txBody>
          <a:bodyPr/>
          <a:lstStyle/>
          <a:p>
            <a:endParaRPr lang="en-IN"/>
          </a:p>
        </p:txBody>
      </p:sp>
      <p:sp>
        <p:nvSpPr>
          <p:cNvPr id="6" name="Text 3"/>
          <p:cNvSpPr/>
          <p:nvPr/>
        </p:nvSpPr>
        <p:spPr>
          <a:xfrm>
            <a:off x="777240" y="310896"/>
            <a:ext cx="5852160" cy="548640"/>
          </a:xfrm>
          <a:prstGeom prst="rect">
            <a:avLst/>
          </a:prstGeom>
          <a:noFill/>
          <a:ln/>
        </p:spPr>
        <p:txBody>
          <a:bodyPr wrap="square" lIns="0" tIns="0" rIns="0" bIns="0" rtlCol="0" anchor="ctr"/>
          <a:lstStyle/>
          <a:p>
            <a:pPr marL="0" indent="0">
              <a:buNone/>
            </a:pPr>
            <a:r>
              <a:rPr lang="en-US" sz="2600" b="1" dirty="0">
                <a:solidFill>
                  <a:srgbClr val="111111"/>
                </a:solidFill>
                <a:latin typeface="Bookman Old Style" pitchFamily="34" charset="0"/>
                <a:ea typeface="Bookman Old Style" pitchFamily="34" charset="-122"/>
                <a:cs typeface="Bookman Old Style" pitchFamily="34" charset="-120"/>
              </a:rPr>
              <a:t>How UPI Works</a:t>
            </a:r>
            <a:endParaRPr lang="en-US" sz="2600" dirty="0"/>
          </a:p>
        </p:txBody>
      </p:sp>
      <p:sp>
        <p:nvSpPr>
          <p:cNvPr id="7" name="Shape 4"/>
          <p:cNvSpPr/>
          <p:nvPr/>
        </p:nvSpPr>
        <p:spPr>
          <a:xfrm>
            <a:off x="685800" y="1965960"/>
            <a:ext cx="1051560" cy="1051560"/>
          </a:xfrm>
          <a:prstGeom prst="roundRect">
            <a:avLst>
              <a:gd name="adj" fmla="val 8696"/>
            </a:avLst>
          </a:prstGeom>
          <a:solidFill>
            <a:srgbClr val="0D1B4C"/>
          </a:solidFill>
          <a:ln/>
        </p:spPr>
        <p:txBody>
          <a:bodyPr/>
          <a:lstStyle/>
          <a:p>
            <a:endParaRPr lang="en-IN"/>
          </a:p>
        </p:txBody>
      </p:sp>
      <p:pic>
        <p:nvPicPr>
          <p:cNvPr id="8" name="Image 1" descr="preencoded.png"/>
          <p:cNvPicPr>
            <a:picLocks noChangeAspect="1"/>
          </p:cNvPicPr>
          <p:nvPr/>
        </p:nvPicPr>
        <p:blipFill>
          <a:blip r:embed="rId3"/>
          <a:stretch>
            <a:fillRect/>
          </a:stretch>
        </p:blipFill>
        <p:spPr>
          <a:xfrm>
            <a:off x="1028700" y="2075688"/>
            <a:ext cx="365760" cy="365760"/>
          </a:xfrm>
          <a:prstGeom prst="rect">
            <a:avLst/>
          </a:prstGeom>
        </p:spPr>
      </p:pic>
      <p:sp>
        <p:nvSpPr>
          <p:cNvPr id="9" name="Text 5"/>
          <p:cNvSpPr/>
          <p:nvPr/>
        </p:nvSpPr>
        <p:spPr>
          <a:xfrm>
            <a:off x="548640" y="3090672"/>
            <a:ext cx="1325880" cy="502920"/>
          </a:xfrm>
          <a:prstGeom prst="rect">
            <a:avLst/>
          </a:prstGeom>
          <a:noFill/>
          <a:ln/>
        </p:spPr>
        <p:txBody>
          <a:bodyPr wrap="square" lIns="0" tIns="0" rIns="0" bIns="0" rtlCol="0" anchor="ctr"/>
          <a:lstStyle/>
          <a:p>
            <a:pPr marL="0" indent="0" algn="ctr">
              <a:buNone/>
            </a:pPr>
            <a:r>
              <a:rPr lang="en-US" sz="950" dirty="0">
                <a:solidFill>
                  <a:srgbClr val="333333"/>
                </a:solidFill>
                <a:latin typeface="Calibri" pitchFamily="34" charset="0"/>
                <a:ea typeface="Calibri" pitchFamily="34" charset="-122"/>
                <a:cs typeface="Calibri" pitchFamily="34" charset="-120"/>
              </a:rPr>
              <a:t>Customer</a:t>
            </a:r>
            <a:endParaRPr lang="en-US" sz="950" dirty="0"/>
          </a:p>
        </p:txBody>
      </p:sp>
      <p:pic>
        <p:nvPicPr>
          <p:cNvPr id="10" name="Image 2" descr="preencoded.png"/>
          <p:cNvPicPr>
            <a:picLocks noChangeAspect="1"/>
          </p:cNvPicPr>
          <p:nvPr/>
        </p:nvPicPr>
        <p:blipFill>
          <a:blip r:embed="rId4"/>
          <a:stretch>
            <a:fillRect/>
          </a:stretch>
        </p:blipFill>
        <p:spPr>
          <a:xfrm>
            <a:off x="1792224" y="2372868"/>
            <a:ext cx="237744" cy="237744"/>
          </a:xfrm>
          <a:prstGeom prst="rect">
            <a:avLst/>
          </a:prstGeom>
        </p:spPr>
      </p:pic>
      <p:sp>
        <p:nvSpPr>
          <p:cNvPr id="11" name="Shape 6"/>
          <p:cNvSpPr/>
          <p:nvPr/>
        </p:nvSpPr>
        <p:spPr>
          <a:xfrm>
            <a:off x="2057400" y="1965960"/>
            <a:ext cx="1051560" cy="1051560"/>
          </a:xfrm>
          <a:prstGeom prst="roundRect">
            <a:avLst>
              <a:gd name="adj" fmla="val 8696"/>
            </a:avLst>
          </a:prstGeom>
          <a:solidFill>
            <a:srgbClr val="0D1B4C"/>
          </a:solidFill>
          <a:ln/>
        </p:spPr>
        <p:txBody>
          <a:bodyPr/>
          <a:lstStyle/>
          <a:p>
            <a:endParaRPr lang="en-IN"/>
          </a:p>
        </p:txBody>
      </p:sp>
      <p:pic>
        <p:nvPicPr>
          <p:cNvPr id="12" name="Image 3" descr="preencoded.png"/>
          <p:cNvPicPr>
            <a:picLocks noChangeAspect="1"/>
          </p:cNvPicPr>
          <p:nvPr/>
        </p:nvPicPr>
        <p:blipFill>
          <a:blip r:embed="rId5"/>
          <a:stretch>
            <a:fillRect/>
          </a:stretch>
        </p:blipFill>
        <p:spPr>
          <a:xfrm>
            <a:off x="2400300" y="2075688"/>
            <a:ext cx="365760" cy="365760"/>
          </a:xfrm>
          <a:prstGeom prst="rect">
            <a:avLst/>
          </a:prstGeom>
        </p:spPr>
      </p:pic>
      <p:sp>
        <p:nvSpPr>
          <p:cNvPr id="13" name="Text 7"/>
          <p:cNvSpPr/>
          <p:nvPr/>
        </p:nvSpPr>
        <p:spPr>
          <a:xfrm>
            <a:off x="1920240" y="3090672"/>
            <a:ext cx="1325880" cy="502920"/>
          </a:xfrm>
          <a:prstGeom prst="rect">
            <a:avLst/>
          </a:prstGeom>
          <a:noFill/>
          <a:ln/>
        </p:spPr>
        <p:txBody>
          <a:bodyPr wrap="square" lIns="0" tIns="0" rIns="0" bIns="0" rtlCol="0" anchor="ctr"/>
          <a:lstStyle/>
          <a:p>
            <a:pPr marL="0" indent="0" algn="ctr">
              <a:buNone/>
            </a:pPr>
            <a:r>
              <a:rPr lang="en-US" sz="950" dirty="0">
                <a:solidFill>
                  <a:srgbClr val="333333"/>
                </a:solidFill>
                <a:latin typeface="Calibri" pitchFamily="34" charset="0"/>
                <a:ea typeface="Calibri" pitchFamily="34" charset="-122"/>
                <a:cs typeface="Calibri" pitchFamily="34" charset="-120"/>
              </a:rPr>
              <a:t>UPI App</a:t>
            </a:r>
            <a:endParaRPr lang="en-US" sz="950" dirty="0"/>
          </a:p>
        </p:txBody>
      </p:sp>
      <p:pic>
        <p:nvPicPr>
          <p:cNvPr id="14" name="Image 4" descr="preencoded.png"/>
          <p:cNvPicPr>
            <a:picLocks noChangeAspect="1"/>
          </p:cNvPicPr>
          <p:nvPr/>
        </p:nvPicPr>
        <p:blipFill>
          <a:blip r:embed="rId4"/>
          <a:stretch>
            <a:fillRect/>
          </a:stretch>
        </p:blipFill>
        <p:spPr>
          <a:xfrm>
            <a:off x="3163824" y="2372868"/>
            <a:ext cx="237744" cy="237744"/>
          </a:xfrm>
          <a:prstGeom prst="rect">
            <a:avLst/>
          </a:prstGeom>
        </p:spPr>
      </p:pic>
      <p:sp>
        <p:nvSpPr>
          <p:cNvPr id="15" name="Shape 8"/>
          <p:cNvSpPr/>
          <p:nvPr/>
        </p:nvSpPr>
        <p:spPr>
          <a:xfrm>
            <a:off x="3429000" y="1965960"/>
            <a:ext cx="1051560" cy="1051560"/>
          </a:xfrm>
          <a:prstGeom prst="roundRect">
            <a:avLst>
              <a:gd name="adj" fmla="val 8696"/>
            </a:avLst>
          </a:prstGeom>
          <a:solidFill>
            <a:srgbClr val="0D1B4C"/>
          </a:solidFill>
          <a:ln/>
        </p:spPr>
        <p:txBody>
          <a:bodyPr/>
          <a:lstStyle/>
          <a:p>
            <a:endParaRPr lang="en-IN"/>
          </a:p>
        </p:txBody>
      </p:sp>
      <p:pic>
        <p:nvPicPr>
          <p:cNvPr id="16" name="Image 5" descr="preencoded.png"/>
          <p:cNvPicPr>
            <a:picLocks noChangeAspect="1"/>
          </p:cNvPicPr>
          <p:nvPr/>
        </p:nvPicPr>
        <p:blipFill>
          <a:blip r:embed="rId6"/>
          <a:stretch>
            <a:fillRect/>
          </a:stretch>
        </p:blipFill>
        <p:spPr>
          <a:xfrm>
            <a:off x="3771900" y="2075688"/>
            <a:ext cx="365760" cy="365760"/>
          </a:xfrm>
          <a:prstGeom prst="rect">
            <a:avLst/>
          </a:prstGeom>
        </p:spPr>
      </p:pic>
      <p:sp>
        <p:nvSpPr>
          <p:cNvPr id="17" name="Text 9"/>
          <p:cNvSpPr/>
          <p:nvPr/>
        </p:nvSpPr>
        <p:spPr>
          <a:xfrm>
            <a:off x="3291840" y="3090672"/>
            <a:ext cx="1325880" cy="502920"/>
          </a:xfrm>
          <a:prstGeom prst="rect">
            <a:avLst/>
          </a:prstGeom>
          <a:noFill/>
          <a:ln/>
        </p:spPr>
        <p:txBody>
          <a:bodyPr wrap="square" lIns="0" tIns="0" rIns="0" bIns="0" rtlCol="0" anchor="ctr"/>
          <a:lstStyle/>
          <a:p>
            <a:pPr marL="0" indent="0" algn="ctr">
              <a:buNone/>
            </a:pPr>
            <a:r>
              <a:rPr lang="en-US" sz="950" dirty="0">
                <a:solidFill>
                  <a:srgbClr val="333333"/>
                </a:solidFill>
                <a:latin typeface="Calibri" pitchFamily="34" charset="0"/>
                <a:ea typeface="Calibri" pitchFamily="34" charset="-122"/>
                <a:cs typeface="Calibri" pitchFamily="34" charset="-120"/>
              </a:rPr>
              <a:t>Bank</a:t>
            </a:r>
            <a:endParaRPr lang="en-US" sz="950" dirty="0"/>
          </a:p>
          <a:p>
            <a:pPr marL="0" indent="0" algn="ctr">
              <a:buNone/>
            </a:pPr>
            <a:r>
              <a:rPr lang="en-US" sz="950" dirty="0">
                <a:solidFill>
                  <a:srgbClr val="333333"/>
                </a:solidFill>
                <a:latin typeface="Calibri" pitchFamily="34" charset="0"/>
                <a:ea typeface="Calibri" pitchFamily="34" charset="-122"/>
                <a:cs typeface="Calibri" pitchFamily="34" charset="-120"/>
              </a:rPr>
              <a:t>Verification</a:t>
            </a:r>
            <a:endParaRPr lang="en-US" sz="950" dirty="0"/>
          </a:p>
        </p:txBody>
      </p:sp>
      <p:pic>
        <p:nvPicPr>
          <p:cNvPr id="18" name="Image 6" descr="preencoded.png"/>
          <p:cNvPicPr>
            <a:picLocks noChangeAspect="1"/>
          </p:cNvPicPr>
          <p:nvPr/>
        </p:nvPicPr>
        <p:blipFill>
          <a:blip r:embed="rId4"/>
          <a:stretch>
            <a:fillRect/>
          </a:stretch>
        </p:blipFill>
        <p:spPr>
          <a:xfrm>
            <a:off x="4535424" y="2372868"/>
            <a:ext cx="237744" cy="237744"/>
          </a:xfrm>
          <a:prstGeom prst="rect">
            <a:avLst/>
          </a:prstGeom>
        </p:spPr>
      </p:pic>
      <p:sp>
        <p:nvSpPr>
          <p:cNvPr id="19" name="Shape 10"/>
          <p:cNvSpPr/>
          <p:nvPr/>
        </p:nvSpPr>
        <p:spPr>
          <a:xfrm>
            <a:off x="4800600" y="1965960"/>
            <a:ext cx="1051560" cy="1051560"/>
          </a:xfrm>
          <a:prstGeom prst="roundRect">
            <a:avLst>
              <a:gd name="adj" fmla="val 8696"/>
            </a:avLst>
          </a:prstGeom>
          <a:solidFill>
            <a:srgbClr val="0D1B4C"/>
          </a:solidFill>
          <a:ln/>
        </p:spPr>
        <p:txBody>
          <a:bodyPr/>
          <a:lstStyle/>
          <a:p>
            <a:endParaRPr lang="en-IN"/>
          </a:p>
        </p:txBody>
      </p:sp>
      <p:pic>
        <p:nvPicPr>
          <p:cNvPr id="20" name="Image 7" descr="preencoded.png"/>
          <p:cNvPicPr>
            <a:picLocks noChangeAspect="1"/>
          </p:cNvPicPr>
          <p:nvPr/>
        </p:nvPicPr>
        <p:blipFill>
          <a:blip r:embed="rId7"/>
          <a:stretch>
            <a:fillRect/>
          </a:stretch>
        </p:blipFill>
        <p:spPr>
          <a:xfrm>
            <a:off x="5143500" y="2075688"/>
            <a:ext cx="365760" cy="365760"/>
          </a:xfrm>
          <a:prstGeom prst="rect">
            <a:avLst/>
          </a:prstGeom>
        </p:spPr>
      </p:pic>
      <p:sp>
        <p:nvSpPr>
          <p:cNvPr id="21" name="Text 11"/>
          <p:cNvSpPr/>
          <p:nvPr/>
        </p:nvSpPr>
        <p:spPr>
          <a:xfrm>
            <a:off x="4663440" y="3090672"/>
            <a:ext cx="1325880" cy="502920"/>
          </a:xfrm>
          <a:prstGeom prst="rect">
            <a:avLst/>
          </a:prstGeom>
          <a:noFill/>
          <a:ln/>
        </p:spPr>
        <p:txBody>
          <a:bodyPr wrap="square" lIns="0" tIns="0" rIns="0" bIns="0" rtlCol="0" anchor="ctr"/>
          <a:lstStyle/>
          <a:p>
            <a:pPr marL="0" indent="0" algn="ctr">
              <a:buNone/>
            </a:pPr>
            <a:r>
              <a:rPr lang="en-US" sz="950" dirty="0">
                <a:solidFill>
                  <a:srgbClr val="333333"/>
                </a:solidFill>
                <a:latin typeface="Calibri" pitchFamily="34" charset="0"/>
                <a:ea typeface="Calibri" pitchFamily="34" charset="-122"/>
                <a:cs typeface="Calibri" pitchFamily="34" charset="-120"/>
              </a:rPr>
              <a:t>Payment</a:t>
            </a:r>
            <a:endParaRPr lang="en-US" sz="950" dirty="0"/>
          </a:p>
          <a:p>
            <a:pPr marL="0" indent="0" algn="ctr">
              <a:buNone/>
            </a:pPr>
            <a:r>
              <a:rPr lang="en-US" sz="950" dirty="0">
                <a:solidFill>
                  <a:srgbClr val="333333"/>
                </a:solidFill>
                <a:latin typeface="Calibri" pitchFamily="34" charset="0"/>
                <a:ea typeface="Calibri" pitchFamily="34" charset="-122"/>
                <a:cs typeface="Calibri" pitchFamily="34" charset="-120"/>
              </a:rPr>
              <a:t>Switch (NPCI)</a:t>
            </a:r>
            <a:endParaRPr lang="en-US" sz="950" dirty="0"/>
          </a:p>
        </p:txBody>
      </p:sp>
      <p:pic>
        <p:nvPicPr>
          <p:cNvPr id="22" name="Image 8" descr="preencoded.png"/>
          <p:cNvPicPr>
            <a:picLocks noChangeAspect="1"/>
          </p:cNvPicPr>
          <p:nvPr/>
        </p:nvPicPr>
        <p:blipFill>
          <a:blip r:embed="rId4"/>
          <a:stretch>
            <a:fillRect/>
          </a:stretch>
        </p:blipFill>
        <p:spPr>
          <a:xfrm>
            <a:off x="5907024" y="2372868"/>
            <a:ext cx="237744" cy="237744"/>
          </a:xfrm>
          <a:prstGeom prst="rect">
            <a:avLst/>
          </a:prstGeom>
        </p:spPr>
      </p:pic>
      <p:sp>
        <p:nvSpPr>
          <p:cNvPr id="23" name="Shape 12"/>
          <p:cNvSpPr/>
          <p:nvPr/>
        </p:nvSpPr>
        <p:spPr>
          <a:xfrm>
            <a:off x="6172200" y="1965960"/>
            <a:ext cx="1051560" cy="1051560"/>
          </a:xfrm>
          <a:prstGeom prst="roundRect">
            <a:avLst>
              <a:gd name="adj" fmla="val 8696"/>
            </a:avLst>
          </a:prstGeom>
          <a:solidFill>
            <a:srgbClr val="0D1B4C"/>
          </a:solidFill>
          <a:ln/>
        </p:spPr>
        <p:txBody>
          <a:bodyPr/>
          <a:lstStyle/>
          <a:p>
            <a:endParaRPr lang="en-IN"/>
          </a:p>
        </p:txBody>
      </p:sp>
      <p:pic>
        <p:nvPicPr>
          <p:cNvPr id="24" name="Image 9" descr="preencoded.png"/>
          <p:cNvPicPr>
            <a:picLocks noChangeAspect="1"/>
          </p:cNvPicPr>
          <p:nvPr/>
        </p:nvPicPr>
        <p:blipFill>
          <a:blip r:embed="rId8"/>
          <a:stretch>
            <a:fillRect/>
          </a:stretch>
        </p:blipFill>
        <p:spPr>
          <a:xfrm>
            <a:off x="6515100" y="2075688"/>
            <a:ext cx="365760" cy="365760"/>
          </a:xfrm>
          <a:prstGeom prst="rect">
            <a:avLst/>
          </a:prstGeom>
        </p:spPr>
      </p:pic>
      <p:sp>
        <p:nvSpPr>
          <p:cNvPr id="25" name="Text 13"/>
          <p:cNvSpPr/>
          <p:nvPr/>
        </p:nvSpPr>
        <p:spPr>
          <a:xfrm>
            <a:off x="6035040" y="3090672"/>
            <a:ext cx="1325880" cy="502920"/>
          </a:xfrm>
          <a:prstGeom prst="rect">
            <a:avLst/>
          </a:prstGeom>
          <a:noFill/>
          <a:ln/>
        </p:spPr>
        <p:txBody>
          <a:bodyPr wrap="square" lIns="0" tIns="0" rIns="0" bIns="0" rtlCol="0" anchor="ctr"/>
          <a:lstStyle/>
          <a:p>
            <a:pPr marL="0" indent="0" algn="ctr">
              <a:buNone/>
            </a:pPr>
            <a:r>
              <a:rPr lang="en-US" sz="950" dirty="0">
                <a:solidFill>
                  <a:srgbClr val="333333"/>
                </a:solidFill>
                <a:latin typeface="Calibri" pitchFamily="34" charset="0"/>
                <a:ea typeface="Calibri" pitchFamily="34" charset="-122"/>
                <a:cs typeface="Calibri" pitchFamily="34" charset="-120"/>
              </a:rPr>
              <a:t>Receiver's</a:t>
            </a:r>
            <a:endParaRPr lang="en-US" sz="950" dirty="0"/>
          </a:p>
          <a:p>
            <a:pPr marL="0" indent="0" algn="ctr">
              <a:buNone/>
            </a:pPr>
            <a:r>
              <a:rPr lang="en-US" sz="950" dirty="0">
                <a:solidFill>
                  <a:srgbClr val="333333"/>
                </a:solidFill>
                <a:latin typeface="Calibri" pitchFamily="34" charset="0"/>
                <a:ea typeface="Calibri" pitchFamily="34" charset="-122"/>
                <a:cs typeface="Calibri" pitchFamily="34" charset="-120"/>
              </a:rPr>
              <a:t>Bank</a:t>
            </a:r>
            <a:endParaRPr lang="en-US" sz="950" dirty="0"/>
          </a:p>
        </p:txBody>
      </p:sp>
      <p:pic>
        <p:nvPicPr>
          <p:cNvPr id="26" name="Image 10" descr="preencoded.png"/>
          <p:cNvPicPr>
            <a:picLocks noChangeAspect="1"/>
          </p:cNvPicPr>
          <p:nvPr/>
        </p:nvPicPr>
        <p:blipFill>
          <a:blip r:embed="rId4"/>
          <a:stretch>
            <a:fillRect/>
          </a:stretch>
        </p:blipFill>
        <p:spPr>
          <a:xfrm>
            <a:off x="7278624" y="2372868"/>
            <a:ext cx="237744" cy="237744"/>
          </a:xfrm>
          <a:prstGeom prst="rect">
            <a:avLst/>
          </a:prstGeom>
        </p:spPr>
      </p:pic>
      <p:sp>
        <p:nvSpPr>
          <p:cNvPr id="27" name="Shape 14"/>
          <p:cNvSpPr/>
          <p:nvPr/>
        </p:nvSpPr>
        <p:spPr>
          <a:xfrm>
            <a:off x="7543800" y="1965960"/>
            <a:ext cx="1051560" cy="1051560"/>
          </a:xfrm>
          <a:prstGeom prst="roundRect">
            <a:avLst>
              <a:gd name="adj" fmla="val 8696"/>
            </a:avLst>
          </a:prstGeom>
          <a:solidFill>
            <a:srgbClr val="F5A623"/>
          </a:solidFill>
          <a:ln/>
        </p:spPr>
        <p:txBody>
          <a:bodyPr/>
          <a:lstStyle/>
          <a:p>
            <a:endParaRPr lang="en-IN"/>
          </a:p>
        </p:txBody>
      </p:sp>
      <p:pic>
        <p:nvPicPr>
          <p:cNvPr id="28" name="Image 11" descr="preencoded.png"/>
          <p:cNvPicPr>
            <a:picLocks noChangeAspect="1"/>
          </p:cNvPicPr>
          <p:nvPr/>
        </p:nvPicPr>
        <p:blipFill>
          <a:blip r:embed="rId9"/>
          <a:stretch>
            <a:fillRect/>
          </a:stretch>
        </p:blipFill>
        <p:spPr>
          <a:xfrm>
            <a:off x="7886700" y="2075688"/>
            <a:ext cx="365760" cy="365760"/>
          </a:xfrm>
          <a:prstGeom prst="rect">
            <a:avLst/>
          </a:prstGeom>
        </p:spPr>
      </p:pic>
      <p:sp>
        <p:nvSpPr>
          <p:cNvPr id="29" name="Text 15"/>
          <p:cNvSpPr/>
          <p:nvPr/>
        </p:nvSpPr>
        <p:spPr>
          <a:xfrm>
            <a:off x="7406640" y="3090672"/>
            <a:ext cx="1325880" cy="502920"/>
          </a:xfrm>
          <a:prstGeom prst="rect">
            <a:avLst/>
          </a:prstGeom>
          <a:noFill/>
          <a:ln/>
        </p:spPr>
        <p:txBody>
          <a:bodyPr wrap="square" lIns="0" tIns="0" rIns="0" bIns="0" rtlCol="0" anchor="ctr"/>
          <a:lstStyle/>
          <a:p>
            <a:pPr marL="0" indent="0" algn="ctr">
              <a:buNone/>
            </a:pPr>
            <a:r>
              <a:rPr lang="en-US" sz="950" dirty="0">
                <a:solidFill>
                  <a:srgbClr val="333333"/>
                </a:solidFill>
                <a:latin typeface="Calibri" pitchFamily="34" charset="0"/>
                <a:ea typeface="Calibri" pitchFamily="34" charset="-122"/>
                <a:cs typeface="Calibri" pitchFamily="34" charset="-120"/>
              </a:rPr>
              <a:t>Money</a:t>
            </a:r>
            <a:endParaRPr lang="en-US" sz="950" dirty="0"/>
          </a:p>
          <a:p>
            <a:pPr marL="0" indent="0" algn="ctr">
              <a:buNone/>
            </a:pPr>
            <a:r>
              <a:rPr lang="en-US" sz="950" dirty="0">
                <a:solidFill>
                  <a:srgbClr val="333333"/>
                </a:solidFill>
                <a:latin typeface="Calibri" pitchFamily="34" charset="0"/>
                <a:ea typeface="Calibri" pitchFamily="34" charset="-122"/>
                <a:cs typeface="Calibri" pitchFamily="34" charset="-120"/>
              </a:rPr>
              <a:t>Credited</a:t>
            </a:r>
            <a:endParaRPr lang="en-US" sz="950" dirty="0"/>
          </a:p>
        </p:txBody>
      </p:sp>
      <p:sp>
        <p:nvSpPr>
          <p:cNvPr id="30" name="Text 16"/>
          <p:cNvSpPr/>
          <p:nvPr/>
        </p:nvSpPr>
        <p:spPr>
          <a:xfrm>
            <a:off x="274320" y="4708652"/>
            <a:ext cx="365760" cy="256032"/>
          </a:xfrm>
          <a:prstGeom prst="rect">
            <a:avLst/>
          </a:prstGeom>
          <a:noFill/>
          <a:ln/>
        </p:spPr>
        <p:txBody>
          <a:bodyPr wrap="square" lIns="0" tIns="0" rIns="0" bIns="0" rtlCol="0" anchor="ctr"/>
          <a:lstStyle/>
          <a:p>
            <a:pPr marL="0" indent="0" algn="l">
              <a:buNone/>
            </a:pPr>
            <a:r>
              <a:rPr lang="en-US" sz="1000" dirty="0">
                <a:solidFill>
                  <a:srgbClr val="8DA9D0"/>
                </a:solidFill>
              </a:rPr>
              <a:t>6</a:t>
            </a:r>
            <a:endParaRPr lang="en-US" sz="1000" dirty="0"/>
          </a:p>
        </p:txBody>
      </p:sp>
      <p:sp>
        <p:nvSpPr>
          <p:cNvPr id="32" name="Frame 31">
            <a:extLst>
              <a:ext uri="{FF2B5EF4-FFF2-40B4-BE49-F238E27FC236}">
                <a16:creationId xmlns:a16="http://schemas.microsoft.com/office/drawing/2014/main" id="{C97C4FEC-21AE-DC61-C713-72C4BD9F5E98}"/>
              </a:ext>
            </a:extLst>
          </p:cNvPr>
          <p:cNvSpPr/>
          <p:nvPr/>
        </p:nvSpPr>
        <p:spPr>
          <a:xfrm>
            <a:off x="0" y="0"/>
            <a:ext cx="9144000" cy="5143500"/>
          </a:xfrm>
          <a:prstGeom prst="frame">
            <a:avLst>
              <a:gd name="adj1" fmla="val 44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4" name="Arrow: Pentagon 33">
            <a:extLst>
              <a:ext uri="{FF2B5EF4-FFF2-40B4-BE49-F238E27FC236}">
                <a16:creationId xmlns:a16="http://schemas.microsoft.com/office/drawing/2014/main" id="{097F14E9-8DC3-AA2A-4586-935FA6A22F8A}"/>
              </a:ext>
            </a:extLst>
          </p:cNvPr>
          <p:cNvSpPr/>
          <p:nvPr/>
        </p:nvSpPr>
        <p:spPr>
          <a:xfrm rot="5400000">
            <a:off x="-26077" y="53172"/>
            <a:ext cx="609600" cy="528320"/>
          </a:xfrm>
          <a:prstGeom prst="homePlat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Arrow: Chevron 35">
            <a:extLst>
              <a:ext uri="{FF2B5EF4-FFF2-40B4-BE49-F238E27FC236}">
                <a16:creationId xmlns:a16="http://schemas.microsoft.com/office/drawing/2014/main" id="{D8D36376-A9D3-2D78-AAAD-C3F4D271471E}"/>
              </a:ext>
            </a:extLst>
          </p:cNvPr>
          <p:cNvSpPr/>
          <p:nvPr/>
        </p:nvSpPr>
        <p:spPr>
          <a:xfrm rot="5400000">
            <a:off x="8538210" y="4537710"/>
            <a:ext cx="701040" cy="510540"/>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38" name="Image 0" descr="/home/claude/nttf_logo.png">
            <a:extLst>
              <a:ext uri="{FF2B5EF4-FFF2-40B4-BE49-F238E27FC236}">
                <a16:creationId xmlns:a16="http://schemas.microsoft.com/office/drawing/2014/main" id="{8588BAEA-DBA4-3EBC-1A6D-C23DEC494FC8}"/>
              </a:ext>
            </a:extLst>
          </p:cNvPr>
          <p:cNvPicPr>
            <a:picLocks noChangeAspect="1"/>
          </p:cNvPicPr>
          <p:nvPr/>
        </p:nvPicPr>
        <p:blipFill>
          <a:blip r:embed="rId10"/>
          <a:stretch>
            <a:fillRect/>
          </a:stretch>
        </p:blipFill>
        <p:spPr>
          <a:xfrm>
            <a:off x="7160400" y="393532"/>
            <a:ext cx="1224000" cy="457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 y="45720"/>
            <a:ext cx="9052560" cy="5052060"/>
          </a:xfrm>
          <a:prstGeom prst="rect">
            <a:avLst/>
          </a:prstGeom>
          <a:ln w="38100">
            <a:solidFill>
              <a:srgbClr val="F5A623"/>
            </a:solidFill>
            <a:prstDash val="solid"/>
          </a:ln>
        </p:spPr>
        <p:txBody>
          <a:bodyPr/>
          <a:lstStyle/>
          <a:p>
            <a:endParaRPr lang="en-IN"/>
          </a:p>
        </p:txBody>
      </p:sp>
      <p:sp>
        <p:nvSpPr>
          <p:cNvPr id="3" name="Shape 1"/>
          <p:cNvSpPr/>
          <p:nvPr/>
        </p:nvSpPr>
        <p:spPr>
          <a:xfrm>
            <a:off x="146304" y="146304"/>
            <a:ext cx="8851392" cy="4850892"/>
          </a:xfrm>
          <a:prstGeom prst="rect">
            <a:avLst/>
          </a:prstGeom>
          <a:ln w="25400">
            <a:solidFill>
              <a:srgbClr val="4FA8DC"/>
            </a:solidFill>
            <a:prstDash val="solid"/>
          </a:ln>
        </p:spPr>
        <p:txBody>
          <a:bodyPr/>
          <a:lstStyle/>
          <a:p>
            <a:endParaRPr lang="en-IN"/>
          </a:p>
        </p:txBody>
      </p:sp>
      <p:sp>
        <p:nvSpPr>
          <p:cNvPr id="6" name="Text 3"/>
          <p:cNvSpPr/>
          <p:nvPr/>
        </p:nvSpPr>
        <p:spPr>
          <a:xfrm>
            <a:off x="777240" y="310896"/>
            <a:ext cx="5852160" cy="548640"/>
          </a:xfrm>
          <a:prstGeom prst="rect">
            <a:avLst/>
          </a:prstGeom>
          <a:noFill/>
          <a:ln/>
        </p:spPr>
        <p:txBody>
          <a:bodyPr wrap="square" lIns="0" tIns="0" rIns="0" bIns="0" rtlCol="0" anchor="ctr"/>
          <a:lstStyle/>
          <a:p>
            <a:pPr marL="0" indent="0">
              <a:buNone/>
            </a:pPr>
            <a:r>
              <a:rPr lang="en-US" sz="2600" b="1" dirty="0">
                <a:solidFill>
                  <a:srgbClr val="111111"/>
                </a:solidFill>
                <a:latin typeface="Bookman Old Style" pitchFamily="34" charset="0"/>
                <a:ea typeface="Bookman Old Style" pitchFamily="34" charset="-122"/>
                <a:cs typeface="Bookman Old Style" pitchFamily="34" charset="-120"/>
              </a:rPr>
              <a:t>Security Features</a:t>
            </a:r>
            <a:endParaRPr lang="en-US" sz="2600" dirty="0"/>
          </a:p>
        </p:txBody>
      </p:sp>
      <p:sp>
        <p:nvSpPr>
          <p:cNvPr id="7" name="Shape 4"/>
          <p:cNvSpPr/>
          <p:nvPr/>
        </p:nvSpPr>
        <p:spPr>
          <a:xfrm>
            <a:off x="1120140" y="1417320"/>
            <a:ext cx="731520" cy="731520"/>
          </a:xfrm>
          <a:prstGeom prst="ellipse">
            <a:avLst/>
          </a:prstGeom>
          <a:solidFill>
            <a:srgbClr val="1C6EBE"/>
          </a:solidFill>
          <a:ln/>
        </p:spPr>
        <p:txBody>
          <a:bodyPr/>
          <a:lstStyle/>
          <a:p>
            <a:endParaRPr lang="en-IN"/>
          </a:p>
        </p:txBody>
      </p:sp>
      <p:pic>
        <p:nvPicPr>
          <p:cNvPr id="8" name="Image 1" descr="preencoded.png"/>
          <p:cNvPicPr>
            <a:picLocks noChangeAspect="1"/>
          </p:cNvPicPr>
          <p:nvPr/>
        </p:nvPicPr>
        <p:blipFill>
          <a:blip r:embed="rId3"/>
          <a:stretch>
            <a:fillRect/>
          </a:stretch>
        </p:blipFill>
        <p:spPr>
          <a:xfrm>
            <a:off x="1312164" y="1609344"/>
            <a:ext cx="347472" cy="347472"/>
          </a:xfrm>
          <a:prstGeom prst="rect">
            <a:avLst/>
          </a:prstGeom>
        </p:spPr>
      </p:pic>
      <p:sp>
        <p:nvSpPr>
          <p:cNvPr id="9" name="Text 5"/>
          <p:cNvSpPr/>
          <p:nvPr/>
        </p:nvSpPr>
        <p:spPr>
          <a:xfrm>
            <a:off x="777240" y="2286000"/>
            <a:ext cx="1417320" cy="640080"/>
          </a:xfrm>
          <a:prstGeom prst="rect">
            <a:avLst/>
          </a:prstGeom>
          <a:noFill/>
          <a:ln/>
        </p:spPr>
        <p:txBody>
          <a:bodyPr wrap="square" lIns="0" tIns="0" rIns="0" bIns="0" rtlCol="0" anchor="ctr"/>
          <a:lstStyle/>
          <a:p>
            <a:pPr marL="0" indent="0" algn="ctr">
              <a:buNone/>
            </a:pPr>
            <a:r>
              <a:rPr lang="en-US" sz="1050" dirty="0">
                <a:solidFill>
                  <a:srgbClr val="2A2A2A"/>
                </a:solidFill>
                <a:latin typeface="Calibri" pitchFamily="34" charset="0"/>
                <a:ea typeface="Calibri" pitchFamily="34" charset="-122"/>
                <a:cs typeface="Calibri" pitchFamily="34" charset="-120"/>
              </a:rPr>
              <a:t>Two-factor Authentication</a:t>
            </a:r>
            <a:endParaRPr lang="en-US" sz="1050" dirty="0"/>
          </a:p>
        </p:txBody>
      </p:sp>
      <p:sp>
        <p:nvSpPr>
          <p:cNvPr id="10" name="Shape 6"/>
          <p:cNvSpPr/>
          <p:nvPr/>
        </p:nvSpPr>
        <p:spPr>
          <a:xfrm>
            <a:off x="2628900" y="1417320"/>
            <a:ext cx="731520" cy="731520"/>
          </a:xfrm>
          <a:prstGeom prst="ellipse">
            <a:avLst/>
          </a:prstGeom>
          <a:solidFill>
            <a:srgbClr val="1C6EBE"/>
          </a:solidFill>
          <a:ln/>
        </p:spPr>
        <p:txBody>
          <a:bodyPr/>
          <a:lstStyle/>
          <a:p>
            <a:endParaRPr lang="en-IN"/>
          </a:p>
        </p:txBody>
      </p:sp>
      <p:pic>
        <p:nvPicPr>
          <p:cNvPr id="11" name="Image 2" descr="preencoded.png"/>
          <p:cNvPicPr>
            <a:picLocks noChangeAspect="1"/>
          </p:cNvPicPr>
          <p:nvPr/>
        </p:nvPicPr>
        <p:blipFill>
          <a:blip r:embed="rId4"/>
          <a:stretch>
            <a:fillRect/>
          </a:stretch>
        </p:blipFill>
        <p:spPr>
          <a:xfrm>
            <a:off x="2820924" y="1609344"/>
            <a:ext cx="347472" cy="347472"/>
          </a:xfrm>
          <a:prstGeom prst="rect">
            <a:avLst/>
          </a:prstGeom>
        </p:spPr>
      </p:pic>
      <p:sp>
        <p:nvSpPr>
          <p:cNvPr id="12" name="Text 7"/>
          <p:cNvSpPr/>
          <p:nvPr/>
        </p:nvSpPr>
        <p:spPr>
          <a:xfrm>
            <a:off x="2286000" y="2286000"/>
            <a:ext cx="1417320" cy="640080"/>
          </a:xfrm>
          <a:prstGeom prst="rect">
            <a:avLst/>
          </a:prstGeom>
          <a:noFill/>
          <a:ln/>
        </p:spPr>
        <p:txBody>
          <a:bodyPr wrap="square" lIns="0" tIns="0" rIns="0" bIns="0" rtlCol="0" anchor="ctr"/>
          <a:lstStyle/>
          <a:p>
            <a:pPr marL="0" indent="0" algn="ctr">
              <a:buNone/>
            </a:pPr>
            <a:r>
              <a:rPr lang="en-US" sz="1050" dirty="0">
                <a:solidFill>
                  <a:srgbClr val="2A2A2A"/>
                </a:solidFill>
                <a:latin typeface="Calibri" pitchFamily="34" charset="0"/>
                <a:ea typeface="Calibri" pitchFamily="34" charset="-122"/>
                <a:cs typeface="Calibri" pitchFamily="34" charset="-120"/>
              </a:rPr>
              <a:t>PIN Verification</a:t>
            </a:r>
            <a:endParaRPr lang="en-US" sz="1050" dirty="0"/>
          </a:p>
        </p:txBody>
      </p:sp>
      <p:sp>
        <p:nvSpPr>
          <p:cNvPr id="13" name="Shape 8"/>
          <p:cNvSpPr/>
          <p:nvPr/>
        </p:nvSpPr>
        <p:spPr>
          <a:xfrm>
            <a:off x="4137660" y="1417320"/>
            <a:ext cx="731520" cy="731520"/>
          </a:xfrm>
          <a:prstGeom prst="ellipse">
            <a:avLst/>
          </a:prstGeom>
          <a:solidFill>
            <a:srgbClr val="1C6EBE"/>
          </a:solidFill>
          <a:ln/>
        </p:spPr>
        <p:txBody>
          <a:bodyPr/>
          <a:lstStyle/>
          <a:p>
            <a:endParaRPr lang="en-IN"/>
          </a:p>
        </p:txBody>
      </p:sp>
      <p:pic>
        <p:nvPicPr>
          <p:cNvPr id="14" name="Image 3" descr="preencoded.png"/>
          <p:cNvPicPr>
            <a:picLocks noChangeAspect="1"/>
          </p:cNvPicPr>
          <p:nvPr/>
        </p:nvPicPr>
        <p:blipFill>
          <a:blip r:embed="rId5"/>
          <a:stretch>
            <a:fillRect/>
          </a:stretch>
        </p:blipFill>
        <p:spPr>
          <a:xfrm>
            <a:off x="4329684" y="1609344"/>
            <a:ext cx="347472" cy="347472"/>
          </a:xfrm>
          <a:prstGeom prst="rect">
            <a:avLst/>
          </a:prstGeom>
        </p:spPr>
      </p:pic>
      <p:sp>
        <p:nvSpPr>
          <p:cNvPr id="15" name="Text 9"/>
          <p:cNvSpPr/>
          <p:nvPr/>
        </p:nvSpPr>
        <p:spPr>
          <a:xfrm>
            <a:off x="3794760" y="2286000"/>
            <a:ext cx="1417320" cy="640080"/>
          </a:xfrm>
          <a:prstGeom prst="rect">
            <a:avLst/>
          </a:prstGeom>
          <a:noFill/>
          <a:ln/>
        </p:spPr>
        <p:txBody>
          <a:bodyPr wrap="square" lIns="0" tIns="0" rIns="0" bIns="0" rtlCol="0" anchor="ctr"/>
          <a:lstStyle/>
          <a:p>
            <a:pPr marL="0" indent="0" algn="ctr">
              <a:buNone/>
            </a:pPr>
            <a:r>
              <a:rPr lang="en-US" sz="1050" dirty="0">
                <a:solidFill>
                  <a:srgbClr val="2A2A2A"/>
                </a:solidFill>
                <a:latin typeface="Calibri" pitchFamily="34" charset="0"/>
                <a:ea typeface="Calibri" pitchFamily="34" charset="-122"/>
                <a:cs typeface="Calibri" pitchFamily="34" charset="-120"/>
              </a:rPr>
              <a:t>Encryption</a:t>
            </a:r>
            <a:endParaRPr lang="en-US" sz="1050" dirty="0"/>
          </a:p>
        </p:txBody>
      </p:sp>
      <p:sp>
        <p:nvSpPr>
          <p:cNvPr id="16" name="Shape 10"/>
          <p:cNvSpPr/>
          <p:nvPr/>
        </p:nvSpPr>
        <p:spPr>
          <a:xfrm>
            <a:off x="5646420" y="1417320"/>
            <a:ext cx="731520" cy="731520"/>
          </a:xfrm>
          <a:prstGeom prst="ellipse">
            <a:avLst/>
          </a:prstGeom>
          <a:solidFill>
            <a:srgbClr val="1C6EBE"/>
          </a:solidFill>
          <a:ln/>
        </p:spPr>
        <p:txBody>
          <a:bodyPr/>
          <a:lstStyle/>
          <a:p>
            <a:endParaRPr lang="en-IN"/>
          </a:p>
        </p:txBody>
      </p:sp>
      <p:pic>
        <p:nvPicPr>
          <p:cNvPr id="17" name="Image 4" descr="preencoded.png"/>
          <p:cNvPicPr>
            <a:picLocks noChangeAspect="1"/>
          </p:cNvPicPr>
          <p:nvPr/>
        </p:nvPicPr>
        <p:blipFill>
          <a:blip r:embed="rId6"/>
          <a:stretch>
            <a:fillRect/>
          </a:stretch>
        </p:blipFill>
        <p:spPr>
          <a:xfrm>
            <a:off x="5838444" y="1609344"/>
            <a:ext cx="347472" cy="347472"/>
          </a:xfrm>
          <a:prstGeom prst="rect">
            <a:avLst/>
          </a:prstGeom>
        </p:spPr>
      </p:pic>
      <p:sp>
        <p:nvSpPr>
          <p:cNvPr id="18" name="Text 11"/>
          <p:cNvSpPr/>
          <p:nvPr/>
        </p:nvSpPr>
        <p:spPr>
          <a:xfrm>
            <a:off x="5303520" y="2286000"/>
            <a:ext cx="1417320" cy="640080"/>
          </a:xfrm>
          <a:prstGeom prst="rect">
            <a:avLst/>
          </a:prstGeom>
          <a:noFill/>
          <a:ln/>
        </p:spPr>
        <p:txBody>
          <a:bodyPr wrap="square" lIns="0" tIns="0" rIns="0" bIns="0" rtlCol="0" anchor="ctr"/>
          <a:lstStyle/>
          <a:p>
            <a:pPr marL="0" indent="0" algn="ctr">
              <a:buNone/>
            </a:pPr>
            <a:r>
              <a:rPr lang="en-US" sz="1050" dirty="0">
                <a:solidFill>
                  <a:srgbClr val="2A2A2A"/>
                </a:solidFill>
                <a:latin typeface="Calibri" pitchFamily="34" charset="0"/>
                <a:ea typeface="Calibri" pitchFamily="34" charset="-122"/>
                <a:cs typeface="Calibri" pitchFamily="34" charset="-120"/>
              </a:rPr>
              <a:t>Device Binding</a:t>
            </a:r>
            <a:endParaRPr lang="en-US" sz="1050" dirty="0"/>
          </a:p>
        </p:txBody>
      </p:sp>
      <p:sp>
        <p:nvSpPr>
          <p:cNvPr id="19" name="Shape 12"/>
          <p:cNvSpPr/>
          <p:nvPr/>
        </p:nvSpPr>
        <p:spPr>
          <a:xfrm>
            <a:off x="7155180" y="1417320"/>
            <a:ext cx="731520" cy="731520"/>
          </a:xfrm>
          <a:prstGeom prst="ellipse">
            <a:avLst/>
          </a:prstGeom>
          <a:solidFill>
            <a:srgbClr val="1C6EBE"/>
          </a:solidFill>
          <a:ln/>
        </p:spPr>
        <p:txBody>
          <a:bodyPr/>
          <a:lstStyle/>
          <a:p>
            <a:endParaRPr lang="en-IN"/>
          </a:p>
        </p:txBody>
      </p:sp>
      <p:pic>
        <p:nvPicPr>
          <p:cNvPr id="20" name="Image 5" descr="preencoded.png"/>
          <p:cNvPicPr>
            <a:picLocks noChangeAspect="1"/>
          </p:cNvPicPr>
          <p:nvPr/>
        </p:nvPicPr>
        <p:blipFill>
          <a:blip r:embed="rId7"/>
          <a:stretch>
            <a:fillRect/>
          </a:stretch>
        </p:blipFill>
        <p:spPr>
          <a:xfrm>
            <a:off x="7347204" y="1609344"/>
            <a:ext cx="347472" cy="347472"/>
          </a:xfrm>
          <a:prstGeom prst="rect">
            <a:avLst/>
          </a:prstGeom>
        </p:spPr>
      </p:pic>
      <p:sp>
        <p:nvSpPr>
          <p:cNvPr id="21" name="Text 13"/>
          <p:cNvSpPr/>
          <p:nvPr/>
        </p:nvSpPr>
        <p:spPr>
          <a:xfrm>
            <a:off x="6812280" y="2286000"/>
            <a:ext cx="1417320" cy="640080"/>
          </a:xfrm>
          <a:prstGeom prst="rect">
            <a:avLst/>
          </a:prstGeom>
          <a:noFill/>
          <a:ln/>
        </p:spPr>
        <p:txBody>
          <a:bodyPr wrap="square" lIns="0" tIns="0" rIns="0" bIns="0" rtlCol="0" anchor="ctr"/>
          <a:lstStyle/>
          <a:p>
            <a:pPr marL="0" indent="0" algn="ctr">
              <a:buNone/>
            </a:pPr>
            <a:r>
              <a:rPr lang="en-US" sz="1050" dirty="0">
                <a:solidFill>
                  <a:srgbClr val="2A2A2A"/>
                </a:solidFill>
                <a:latin typeface="Calibri" pitchFamily="34" charset="0"/>
                <a:ea typeface="Calibri" pitchFamily="34" charset="-122"/>
                <a:cs typeface="Calibri" pitchFamily="34" charset="-120"/>
              </a:rPr>
              <a:t>Fraud Monitoring</a:t>
            </a:r>
            <a:endParaRPr lang="en-US" sz="1050" dirty="0"/>
          </a:p>
        </p:txBody>
      </p:sp>
      <p:sp>
        <p:nvSpPr>
          <p:cNvPr id="22" name="Shape 14"/>
          <p:cNvSpPr/>
          <p:nvPr/>
        </p:nvSpPr>
        <p:spPr>
          <a:xfrm>
            <a:off x="777240" y="3108960"/>
            <a:ext cx="7589520" cy="1188720"/>
          </a:xfrm>
          <a:prstGeom prst="roundRect">
            <a:avLst>
              <a:gd name="adj" fmla="val 7692"/>
            </a:avLst>
          </a:prstGeom>
          <a:solidFill>
            <a:srgbClr val="F4F8FC"/>
          </a:solidFill>
          <a:ln/>
        </p:spPr>
        <p:txBody>
          <a:bodyPr/>
          <a:lstStyle/>
          <a:p>
            <a:endParaRPr lang="en-IN"/>
          </a:p>
        </p:txBody>
      </p:sp>
      <p:sp>
        <p:nvSpPr>
          <p:cNvPr id="23" name="Text 15"/>
          <p:cNvSpPr/>
          <p:nvPr/>
        </p:nvSpPr>
        <p:spPr>
          <a:xfrm>
            <a:off x="1005840" y="3246120"/>
            <a:ext cx="7132320" cy="914400"/>
          </a:xfrm>
          <a:prstGeom prst="rect">
            <a:avLst/>
          </a:prstGeom>
          <a:noFill/>
          <a:ln/>
        </p:spPr>
        <p:txBody>
          <a:bodyPr wrap="square" lIns="0" tIns="0" rIns="0" bIns="0" rtlCol="0" anchor="ctr"/>
          <a:lstStyle/>
          <a:p>
            <a:pPr marL="0" indent="0">
              <a:buNone/>
            </a:pPr>
            <a:r>
              <a:rPr lang="en-US" sz="1300" i="1" dirty="0">
                <a:solidFill>
                  <a:srgbClr val="333333"/>
                </a:solidFill>
                <a:latin typeface="Calibri" pitchFamily="34" charset="0"/>
                <a:ea typeface="Calibri" pitchFamily="34" charset="-122"/>
                <a:cs typeface="Calibri" pitchFamily="34" charset="-120"/>
              </a:rPr>
              <a:t>UPI is secure because every transaction needs a registered device, a personal PIN, and bank-grade encryption — layers that make unauthorized access extremely difficult.</a:t>
            </a:r>
            <a:endParaRPr lang="en-US" sz="1300" dirty="0"/>
          </a:p>
        </p:txBody>
      </p:sp>
      <p:sp>
        <p:nvSpPr>
          <p:cNvPr id="24" name="Text 16"/>
          <p:cNvSpPr/>
          <p:nvPr/>
        </p:nvSpPr>
        <p:spPr>
          <a:xfrm>
            <a:off x="274320" y="4698492"/>
            <a:ext cx="365760" cy="256032"/>
          </a:xfrm>
          <a:prstGeom prst="rect">
            <a:avLst/>
          </a:prstGeom>
          <a:noFill/>
          <a:ln/>
        </p:spPr>
        <p:txBody>
          <a:bodyPr wrap="square" lIns="0" tIns="0" rIns="0" bIns="0" rtlCol="0" anchor="ctr"/>
          <a:lstStyle/>
          <a:p>
            <a:pPr marL="0" indent="0" algn="l">
              <a:buNone/>
            </a:pPr>
            <a:r>
              <a:rPr lang="en-US" sz="1000" dirty="0">
                <a:solidFill>
                  <a:srgbClr val="8DA9D0"/>
                </a:solidFill>
              </a:rPr>
              <a:t>7</a:t>
            </a:r>
            <a:endParaRPr lang="en-US" sz="1000" dirty="0"/>
          </a:p>
        </p:txBody>
      </p:sp>
      <p:sp>
        <p:nvSpPr>
          <p:cNvPr id="26" name="Frame 25">
            <a:extLst>
              <a:ext uri="{FF2B5EF4-FFF2-40B4-BE49-F238E27FC236}">
                <a16:creationId xmlns:a16="http://schemas.microsoft.com/office/drawing/2014/main" id="{0A7DEAF8-2C97-BF25-CE21-C324146F46C4}"/>
              </a:ext>
            </a:extLst>
          </p:cNvPr>
          <p:cNvSpPr/>
          <p:nvPr/>
        </p:nvSpPr>
        <p:spPr>
          <a:xfrm>
            <a:off x="0" y="0"/>
            <a:ext cx="9144000" cy="5143500"/>
          </a:xfrm>
          <a:prstGeom prst="frame">
            <a:avLst>
              <a:gd name="adj1" fmla="val 44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Pentagon 27">
            <a:extLst>
              <a:ext uri="{FF2B5EF4-FFF2-40B4-BE49-F238E27FC236}">
                <a16:creationId xmlns:a16="http://schemas.microsoft.com/office/drawing/2014/main" id="{3D1A6BBF-7993-914B-06D8-DD10D1159DD8}"/>
              </a:ext>
            </a:extLst>
          </p:cNvPr>
          <p:cNvSpPr/>
          <p:nvPr/>
        </p:nvSpPr>
        <p:spPr>
          <a:xfrm rot="5400000">
            <a:off x="-26077" y="53172"/>
            <a:ext cx="609600" cy="528320"/>
          </a:xfrm>
          <a:prstGeom prst="homePlat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Arrow: Chevron 29">
            <a:extLst>
              <a:ext uri="{FF2B5EF4-FFF2-40B4-BE49-F238E27FC236}">
                <a16:creationId xmlns:a16="http://schemas.microsoft.com/office/drawing/2014/main" id="{E8A30AA6-579D-3A1D-42FF-E621725C7C64}"/>
              </a:ext>
            </a:extLst>
          </p:cNvPr>
          <p:cNvSpPr/>
          <p:nvPr/>
        </p:nvSpPr>
        <p:spPr>
          <a:xfrm rot="5400000">
            <a:off x="8538210" y="4537710"/>
            <a:ext cx="701040" cy="510540"/>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32" name="Image 0" descr="/home/claude/nttf_logo.png">
            <a:extLst>
              <a:ext uri="{FF2B5EF4-FFF2-40B4-BE49-F238E27FC236}">
                <a16:creationId xmlns:a16="http://schemas.microsoft.com/office/drawing/2014/main" id="{BD37AD27-B686-E90C-1D35-E7BBA53DC981}"/>
              </a:ext>
            </a:extLst>
          </p:cNvPr>
          <p:cNvPicPr>
            <a:picLocks noChangeAspect="1"/>
          </p:cNvPicPr>
          <p:nvPr/>
        </p:nvPicPr>
        <p:blipFill>
          <a:blip r:embed="rId8"/>
          <a:stretch>
            <a:fillRect/>
          </a:stretch>
        </p:blipFill>
        <p:spPr>
          <a:xfrm>
            <a:off x="7160400" y="393532"/>
            <a:ext cx="1224000" cy="457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 y="45720"/>
            <a:ext cx="9052560" cy="5052060"/>
          </a:xfrm>
          <a:prstGeom prst="rect">
            <a:avLst/>
          </a:prstGeom>
          <a:ln w="38100">
            <a:solidFill>
              <a:srgbClr val="F5A623"/>
            </a:solidFill>
            <a:prstDash val="solid"/>
          </a:ln>
        </p:spPr>
        <p:txBody>
          <a:bodyPr/>
          <a:lstStyle/>
          <a:p>
            <a:endParaRPr lang="en-IN"/>
          </a:p>
        </p:txBody>
      </p:sp>
      <p:sp>
        <p:nvSpPr>
          <p:cNvPr id="3" name="Shape 1"/>
          <p:cNvSpPr/>
          <p:nvPr/>
        </p:nvSpPr>
        <p:spPr>
          <a:xfrm>
            <a:off x="146304" y="146304"/>
            <a:ext cx="8851392" cy="4850892"/>
          </a:xfrm>
          <a:prstGeom prst="rect">
            <a:avLst/>
          </a:prstGeom>
          <a:ln w="25400">
            <a:solidFill>
              <a:srgbClr val="4FA8DC"/>
            </a:solidFill>
            <a:prstDash val="solid"/>
          </a:ln>
        </p:spPr>
        <p:txBody>
          <a:bodyPr/>
          <a:lstStyle/>
          <a:p>
            <a:endParaRPr lang="en-IN"/>
          </a:p>
        </p:txBody>
      </p:sp>
      <p:sp>
        <p:nvSpPr>
          <p:cNvPr id="6" name="Text 3"/>
          <p:cNvSpPr/>
          <p:nvPr/>
        </p:nvSpPr>
        <p:spPr>
          <a:xfrm>
            <a:off x="777240" y="310896"/>
            <a:ext cx="5852160" cy="548640"/>
          </a:xfrm>
          <a:prstGeom prst="rect">
            <a:avLst/>
          </a:prstGeom>
          <a:noFill/>
          <a:ln/>
        </p:spPr>
        <p:txBody>
          <a:bodyPr wrap="square" lIns="0" tIns="0" rIns="0" bIns="0" rtlCol="0" anchor="ctr"/>
          <a:lstStyle/>
          <a:p>
            <a:pPr marL="0" indent="0">
              <a:buNone/>
            </a:pPr>
            <a:r>
              <a:rPr lang="en-US" sz="2600" b="1" dirty="0">
                <a:solidFill>
                  <a:srgbClr val="111111"/>
                </a:solidFill>
                <a:latin typeface="Bookman Old Style" pitchFamily="34" charset="0"/>
                <a:ea typeface="Bookman Old Style" pitchFamily="34" charset="-122"/>
                <a:cs typeface="Bookman Old Style" pitchFamily="34" charset="-120"/>
              </a:rPr>
              <a:t>Advantages &amp; Limitations</a:t>
            </a:r>
            <a:endParaRPr lang="en-US" sz="2600" dirty="0"/>
          </a:p>
        </p:txBody>
      </p:sp>
      <p:sp>
        <p:nvSpPr>
          <p:cNvPr id="7" name="Shape 4"/>
          <p:cNvSpPr/>
          <p:nvPr/>
        </p:nvSpPr>
        <p:spPr>
          <a:xfrm>
            <a:off x="777240" y="1188720"/>
            <a:ext cx="3611880" cy="3200400"/>
          </a:xfrm>
          <a:prstGeom prst="roundRect">
            <a:avLst>
              <a:gd name="adj" fmla="val 2857"/>
            </a:avLst>
          </a:prstGeom>
          <a:solidFill>
            <a:srgbClr val="EAF6EE"/>
          </a:solidFill>
          <a:ln/>
        </p:spPr>
        <p:txBody>
          <a:bodyPr/>
          <a:lstStyle/>
          <a:p>
            <a:endParaRPr lang="en-IN"/>
          </a:p>
        </p:txBody>
      </p:sp>
      <p:sp>
        <p:nvSpPr>
          <p:cNvPr id="8" name="Text 5"/>
          <p:cNvSpPr/>
          <p:nvPr/>
        </p:nvSpPr>
        <p:spPr>
          <a:xfrm>
            <a:off x="960120" y="1325880"/>
            <a:ext cx="3291840" cy="365760"/>
          </a:xfrm>
          <a:prstGeom prst="rect">
            <a:avLst/>
          </a:prstGeom>
          <a:noFill/>
          <a:ln/>
        </p:spPr>
        <p:txBody>
          <a:bodyPr wrap="square" lIns="0" tIns="0" rIns="0" bIns="0" rtlCol="0" anchor="ctr"/>
          <a:lstStyle/>
          <a:p>
            <a:pPr marL="0" indent="0">
              <a:buNone/>
            </a:pPr>
            <a:r>
              <a:rPr lang="en-US" sz="1600" b="1" dirty="0">
                <a:solidFill>
                  <a:srgbClr val="1E7A3E"/>
                </a:solidFill>
                <a:latin typeface="Calibri" pitchFamily="34" charset="0"/>
                <a:ea typeface="Calibri" pitchFamily="34" charset="-122"/>
                <a:cs typeface="Calibri" pitchFamily="34" charset="-120"/>
              </a:rPr>
              <a:t>Advantages</a:t>
            </a:r>
            <a:endParaRPr lang="en-US" sz="1600" dirty="0"/>
          </a:p>
        </p:txBody>
      </p:sp>
      <p:sp>
        <p:nvSpPr>
          <p:cNvPr id="9" name="Text 6"/>
          <p:cNvSpPr/>
          <p:nvPr/>
        </p:nvSpPr>
        <p:spPr>
          <a:xfrm>
            <a:off x="960120" y="1737360"/>
            <a:ext cx="3291840" cy="2560320"/>
          </a:xfrm>
          <a:prstGeom prst="rect">
            <a:avLst/>
          </a:prstGeom>
          <a:noFill/>
          <a:ln/>
        </p:spPr>
        <p:txBody>
          <a:bodyPr wrap="square" rtlCol="0" anchor="t"/>
          <a:lstStyle/>
          <a:p>
            <a:pPr marL="342900" indent="-342900">
              <a:spcAft>
                <a:spcPts val="1200"/>
              </a:spcAft>
              <a:buSzPct val="100000"/>
              <a:buChar char="●"/>
            </a:pPr>
            <a:r>
              <a:rPr lang="en-US" sz="1400" dirty="0">
                <a:solidFill>
                  <a:srgbClr val="1E5A2E"/>
                </a:solidFill>
                <a:latin typeface="Calibri" pitchFamily="34" charset="0"/>
                <a:ea typeface="Calibri" pitchFamily="34" charset="-122"/>
                <a:cs typeface="Calibri" pitchFamily="34" charset="-120"/>
              </a:rPr>
              <a:t>Fast</a:t>
            </a:r>
            <a:endParaRPr lang="en-US" sz="1400" dirty="0"/>
          </a:p>
          <a:p>
            <a:pPr marL="342900" indent="-342900">
              <a:spcAft>
                <a:spcPts val="1200"/>
              </a:spcAft>
              <a:buSzPct val="100000"/>
              <a:buChar char="●"/>
            </a:pPr>
            <a:r>
              <a:rPr lang="en-US" sz="1400" dirty="0">
                <a:solidFill>
                  <a:srgbClr val="1E5A2E"/>
                </a:solidFill>
                <a:latin typeface="Calibri" pitchFamily="34" charset="0"/>
                <a:ea typeface="Calibri" pitchFamily="34" charset="-122"/>
                <a:cs typeface="Calibri" pitchFamily="34" charset="-120"/>
              </a:rPr>
              <a:t>Free</a:t>
            </a:r>
            <a:endParaRPr lang="en-US" sz="1400" dirty="0"/>
          </a:p>
          <a:p>
            <a:pPr marL="342900" indent="-342900">
              <a:spcAft>
                <a:spcPts val="1200"/>
              </a:spcAft>
              <a:buSzPct val="100000"/>
              <a:buChar char="●"/>
            </a:pPr>
            <a:r>
              <a:rPr lang="en-US" sz="1400" dirty="0">
                <a:solidFill>
                  <a:srgbClr val="1E5A2E"/>
                </a:solidFill>
                <a:latin typeface="Calibri" pitchFamily="34" charset="0"/>
                <a:ea typeface="Calibri" pitchFamily="34" charset="-122"/>
                <a:cs typeface="Calibri" pitchFamily="34" charset="-120"/>
              </a:rPr>
              <a:t>Paperless</a:t>
            </a:r>
            <a:endParaRPr lang="en-US" sz="1400" dirty="0"/>
          </a:p>
          <a:p>
            <a:pPr marL="342900" indent="-342900">
              <a:spcAft>
                <a:spcPts val="1200"/>
              </a:spcAft>
              <a:buSzPct val="100000"/>
              <a:buChar char="●"/>
            </a:pPr>
            <a:r>
              <a:rPr lang="en-US" sz="1400" dirty="0">
                <a:solidFill>
                  <a:srgbClr val="1E5A2E"/>
                </a:solidFill>
                <a:latin typeface="Calibri" pitchFamily="34" charset="0"/>
                <a:ea typeface="Calibri" pitchFamily="34" charset="-122"/>
                <a:cs typeface="Calibri" pitchFamily="34" charset="-120"/>
              </a:rPr>
              <a:t>24x7</a:t>
            </a:r>
            <a:endParaRPr lang="en-US" sz="1400" dirty="0"/>
          </a:p>
          <a:p>
            <a:pPr marL="342900" indent="-342900">
              <a:spcAft>
                <a:spcPts val="1200"/>
              </a:spcAft>
              <a:buSzPct val="100000"/>
              <a:buChar char="●"/>
            </a:pPr>
            <a:r>
              <a:rPr lang="en-US" sz="1400" dirty="0">
                <a:solidFill>
                  <a:srgbClr val="1E5A2E"/>
                </a:solidFill>
                <a:latin typeface="Calibri" pitchFamily="34" charset="0"/>
                <a:ea typeface="Calibri" pitchFamily="34" charset="-122"/>
                <a:cs typeface="Calibri" pitchFamily="34" charset="-120"/>
              </a:rPr>
              <a:t>Easy</a:t>
            </a:r>
            <a:endParaRPr lang="en-US" sz="1400" dirty="0"/>
          </a:p>
        </p:txBody>
      </p:sp>
      <p:sp>
        <p:nvSpPr>
          <p:cNvPr id="10" name="Shape 7"/>
          <p:cNvSpPr/>
          <p:nvPr/>
        </p:nvSpPr>
        <p:spPr>
          <a:xfrm>
            <a:off x="4709160" y="1188720"/>
            <a:ext cx="3657600" cy="3200400"/>
          </a:xfrm>
          <a:prstGeom prst="roundRect">
            <a:avLst>
              <a:gd name="adj" fmla="val 2857"/>
            </a:avLst>
          </a:prstGeom>
          <a:solidFill>
            <a:srgbClr val="FDEDEC"/>
          </a:solidFill>
          <a:ln/>
        </p:spPr>
        <p:txBody>
          <a:bodyPr/>
          <a:lstStyle/>
          <a:p>
            <a:endParaRPr lang="en-IN"/>
          </a:p>
        </p:txBody>
      </p:sp>
      <p:sp>
        <p:nvSpPr>
          <p:cNvPr id="11" name="Text 8"/>
          <p:cNvSpPr/>
          <p:nvPr/>
        </p:nvSpPr>
        <p:spPr>
          <a:xfrm>
            <a:off x="4892040" y="1325880"/>
            <a:ext cx="3291840" cy="365760"/>
          </a:xfrm>
          <a:prstGeom prst="rect">
            <a:avLst/>
          </a:prstGeom>
          <a:noFill/>
          <a:ln/>
        </p:spPr>
        <p:txBody>
          <a:bodyPr wrap="square" lIns="0" tIns="0" rIns="0" bIns="0" rtlCol="0" anchor="ctr"/>
          <a:lstStyle/>
          <a:p>
            <a:pPr marL="0" indent="0">
              <a:buNone/>
            </a:pPr>
            <a:r>
              <a:rPr lang="en-US" sz="1600" b="1" dirty="0">
                <a:solidFill>
                  <a:srgbClr val="B03A2E"/>
                </a:solidFill>
                <a:latin typeface="Calibri" pitchFamily="34" charset="0"/>
                <a:ea typeface="Calibri" pitchFamily="34" charset="-122"/>
                <a:cs typeface="Calibri" pitchFamily="34" charset="-120"/>
              </a:rPr>
              <a:t>Limitations</a:t>
            </a:r>
            <a:endParaRPr lang="en-US" sz="1600" dirty="0"/>
          </a:p>
        </p:txBody>
      </p:sp>
      <p:sp>
        <p:nvSpPr>
          <p:cNvPr id="12" name="Text 9"/>
          <p:cNvSpPr/>
          <p:nvPr/>
        </p:nvSpPr>
        <p:spPr>
          <a:xfrm>
            <a:off x="4892040" y="1737360"/>
            <a:ext cx="3291840" cy="2560320"/>
          </a:xfrm>
          <a:prstGeom prst="rect">
            <a:avLst/>
          </a:prstGeom>
          <a:noFill/>
          <a:ln/>
        </p:spPr>
        <p:txBody>
          <a:bodyPr wrap="square" rtlCol="0" anchor="t"/>
          <a:lstStyle/>
          <a:p>
            <a:pPr marL="342900" indent="-342900">
              <a:spcAft>
                <a:spcPts val="1200"/>
              </a:spcAft>
              <a:buSzPct val="100000"/>
              <a:buChar char="●"/>
            </a:pPr>
            <a:r>
              <a:rPr lang="en-US" sz="1400" dirty="0">
                <a:solidFill>
                  <a:srgbClr val="8B3226"/>
                </a:solidFill>
                <a:latin typeface="Calibri" pitchFamily="34" charset="0"/>
                <a:ea typeface="Calibri" pitchFamily="34" charset="-122"/>
                <a:cs typeface="Calibri" pitchFamily="34" charset="-120"/>
              </a:rPr>
              <a:t>Internet required</a:t>
            </a:r>
            <a:endParaRPr lang="en-US" sz="1400" dirty="0"/>
          </a:p>
          <a:p>
            <a:pPr marL="342900" indent="-342900">
              <a:spcAft>
                <a:spcPts val="1200"/>
              </a:spcAft>
              <a:buSzPct val="100000"/>
              <a:buChar char="●"/>
            </a:pPr>
            <a:r>
              <a:rPr lang="en-US" sz="1400" dirty="0">
                <a:solidFill>
                  <a:srgbClr val="8B3226"/>
                </a:solidFill>
                <a:latin typeface="Calibri" pitchFamily="34" charset="0"/>
                <a:ea typeface="Calibri" pitchFamily="34" charset="-122"/>
                <a:cs typeface="Calibri" pitchFamily="34" charset="-120"/>
              </a:rPr>
              <a:t>Scam risk</a:t>
            </a:r>
            <a:endParaRPr lang="en-US" sz="1400" dirty="0"/>
          </a:p>
          <a:p>
            <a:pPr marL="342900" indent="-342900">
              <a:spcAft>
                <a:spcPts val="1200"/>
              </a:spcAft>
              <a:buSzPct val="100000"/>
              <a:buChar char="●"/>
            </a:pPr>
            <a:r>
              <a:rPr lang="en-US" sz="1400" dirty="0">
                <a:solidFill>
                  <a:srgbClr val="8B3226"/>
                </a:solidFill>
                <a:latin typeface="Calibri" pitchFamily="34" charset="0"/>
                <a:ea typeface="Calibri" pitchFamily="34" charset="-122"/>
                <a:cs typeface="Calibri" pitchFamily="34" charset="-120"/>
              </a:rPr>
              <a:t>Daily transaction limit</a:t>
            </a:r>
            <a:endParaRPr lang="en-US" sz="1400" dirty="0"/>
          </a:p>
          <a:p>
            <a:pPr marL="342900" indent="-342900">
              <a:spcAft>
                <a:spcPts val="1200"/>
              </a:spcAft>
              <a:buSzPct val="100000"/>
              <a:buChar char="●"/>
            </a:pPr>
            <a:r>
              <a:rPr lang="en-US" sz="1400" dirty="0">
                <a:solidFill>
                  <a:srgbClr val="8B3226"/>
                </a:solidFill>
                <a:latin typeface="Calibri" pitchFamily="34" charset="0"/>
                <a:ea typeface="Calibri" pitchFamily="34" charset="-122"/>
                <a:cs typeface="Calibri" pitchFamily="34" charset="-120"/>
              </a:rPr>
              <a:t>Server downtime</a:t>
            </a:r>
            <a:endParaRPr lang="en-US" sz="1400" dirty="0"/>
          </a:p>
        </p:txBody>
      </p:sp>
      <p:sp>
        <p:nvSpPr>
          <p:cNvPr id="13" name="Text 10"/>
          <p:cNvSpPr/>
          <p:nvPr/>
        </p:nvSpPr>
        <p:spPr>
          <a:xfrm>
            <a:off x="274320" y="4708652"/>
            <a:ext cx="365760" cy="256032"/>
          </a:xfrm>
          <a:prstGeom prst="rect">
            <a:avLst/>
          </a:prstGeom>
          <a:noFill/>
          <a:ln/>
        </p:spPr>
        <p:txBody>
          <a:bodyPr wrap="square" lIns="0" tIns="0" rIns="0" bIns="0" rtlCol="0" anchor="ctr"/>
          <a:lstStyle/>
          <a:p>
            <a:pPr marL="0" indent="0" algn="l">
              <a:buNone/>
            </a:pPr>
            <a:r>
              <a:rPr lang="en-US" sz="1000" dirty="0">
                <a:solidFill>
                  <a:srgbClr val="8DA9D0"/>
                </a:solidFill>
              </a:rPr>
              <a:t>8</a:t>
            </a:r>
            <a:endParaRPr lang="en-US" sz="1000" dirty="0"/>
          </a:p>
        </p:txBody>
      </p:sp>
      <p:sp>
        <p:nvSpPr>
          <p:cNvPr id="15" name="Frame 14">
            <a:extLst>
              <a:ext uri="{FF2B5EF4-FFF2-40B4-BE49-F238E27FC236}">
                <a16:creationId xmlns:a16="http://schemas.microsoft.com/office/drawing/2014/main" id="{DBE0B860-9AAB-6611-CA08-24B96B6749A3}"/>
              </a:ext>
            </a:extLst>
          </p:cNvPr>
          <p:cNvSpPr/>
          <p:nvPr/>
        </p:nvSpPr>
        <p:spPr>
          <a:xfrm>
            <a:off x="0" y="0"/>
            <a:ext cx="9144000" cy="5143500"/>
          </a:xfrm>
          <a:prstGeom prst="frame">
            <a:avLst>
              <a:gd name="adj1" fmla="val 44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7" name="Arrow: Pentagon 16">
            <a:extLst>
              <a:ext uri="{FF2B5EF4-FFF2-40B4-BE49-F238E27FC236}">
                <a16:creationId xmlns:a16="http://schemas.microsoft.com/office/drawing/2014/main" id="{7181D329-E70F-B2A4-C13A-E949799D13D5}"/>
              </a:ext>
            </a:extLst>
          </p:cNvPr>
          <p:cNvSpPr/>
          <p:nvPr/>
        </p:nvSpPr>
        <p:spPr>
          <a:xfrm rot="5400000">
            <a:off x="-26077" y="53172"/>
            <a:ext cx="609600" cy="528320"/>
          </a:xfrm>
          <a:prstGeom prst="homePlat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Chevron 18">
            <a:extLst>
              <a:ext uri="{FF2B5EF4-FFF2-40B4-BE49-F238E27FC236}">
                <a16:creationId xmlns:a16="http://schemas.microsoft.com/office/drawing/2014/main" id="{42069705-EBA1-478E-D909-E88C543ECDE9}"/>
              </a:ext>
            </a:extLst>
          </p:cNvPr>
          <p:cNvSpPr/>
          <p:nvPr/>
        </p:nvSpPr>
        <p:spPr>
          <a:xfrm rot="5400000">
            <a:off x="8538210" y="4537710"/>
            <a:ext cx="701040" cy="510540"/>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21" name="Image 0" descr="/home/claude/nttf_logo.png">
            <a:extLst>
              <a:ext uri="{FF2B5EF4-FFF2-40B4-BE49-F238E27FC236}">
                <a16:creationId xmlns:a16="http://schemas.microsoft.com/office/drawing/2014/main" id="{3BBF2A86-8021-D3E9-5649-97E7961C398A}"/>
              </a:ext>
            </a:extLst>
          </p:cNvPr>
          <p:cNvPicPr>
            <a:picLocks noChangeAspect="1"/>
          </p:cNvPicPr>
          <p:nvPr/>
        </p:nvPicPr>
        <p:blipFill>
          <a:blip r:embed="rId3"/>
          <a:stretch>
            <a:fillRect/>
          </a:stretch>
        </p:blipFill>
        <p:spPr>
          <a:xfrm>
            <a:off x="7160400" y="393532"/>
            <a:ext cx="1224000" cy="457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 y="45720"/>
            <a:ext cx="9052560" cy="5052060"/>
          </a:xfrm>
          <a:prstGeom prst="rect">
            <a:avLst/>
          </a:prstGeom>
          <a:ln w="38100">
            <a:solidFill>
              <a:srgbClr val="F5A623"/>
            </a:solidFill>
            <a:prstDash val="solid"/>
          </a:ln>
        </p:spPr>
        <p:txBody>
          <a:bodyPr/>
          <a:lstStyle/>
          <a:p>
            <a:endParaRPr lang="en-IN"/>
          </a:p>
        </p:txBody>
      </p:sp>
      <p:sp>
        <p:nvSpPr>
          <p:cNvPr id="3" name="Shape 1"/>
          <p:cNvSpPr/>
          <p:nvPr/>
        </p:nvSpPr>
        <p:spPr>
          <a:xfrm>
            <a:off x="146304" y="146304"/>
            <a:ext cx="8851392" cy="4850892"/>
          </a:xfrm>
          <a:prstGeom prst="rect">
            <a:avLst/>
          </a:prstGeom>
          <a:ln w="25400">
            <a:solidFill>
              <a:srgbClr val="4FA8DC"/>
            </a:solidFill>
            <a:prstDash val="solid"/>
          </a:ln>
        </p:spPr>
        <p:txBody>
          <a:bodyPr/>
          <a:lstStyle/>
          <a:p>
            <a:endParaRPr lang="en-IN"/>
          </a:p>
        </p:txBody>
      </p:sp>
      <p:sp>
        <p:nvSpPr>
          <p:cNvPr id="6" name="Text 3"/>
          <p:cNvSpPr/>
          <p:nvPr/>
        </p:nvSpPr>
        <p:spPr>
          <a:xfrm>
            <a:off x="777240" y="310896"/>
            <a:ext cx="5852160" cy="548640"/>
          </a:xfrm>
          <a:prstGeom prst="rect">
            <a:avLst/>
          </a:prstGeom>
          <a:noFill/>
          <a:ln/>
        </p:spPr>
        <p:txBody>
          <a:bodyPr wrap="square" lIns="0" tIns="0" rIns="0" bIns="0" rtlCol="0" anchor="ctr"/>
          <a:lstStyle/>
          <a:p>
            <a:pPr marL="0" indent="0">
              <a:buNone/>
            </a:pPr>
            <a:r>
              <a:rPr lang="en-US" sz="2600" b="1" dirty="0">
                <a:solidFill>
                  <a:srgbClr val="111111"/>
                </a:solidFill>
                <a:latin typeface="Bookman Old Style" pitchFamily="34" charset="0"/>
                <a:ea typeface="Bookman Old Style" pitchFamily="34" charset="-122"/>
                <a:cs typeface="Bookman Old Style" pitchFamily="34" charset="-120"/>
              </a:rPr>
              <a:t>Popular UPI Apps</a:t>
            </a:r>
            <a:endParaRPr lang="en-US" sz="2600" dirty="0"/>
          </a:p>
        </p:txBody>
      </p:sp>
      <p:sp>
        <p:nvSpPr>
          <p:cNvPr id="7" name="Shape 4"/>
          <p:cNvSpPr/>
          <p:nvPr/>
        </p:nvSpPr>
        <p:spPr>
          <a:xfrm>
            <a:off x="777240" y="1554480"/>
            <a:ext cx="1417320" cy="1280160"/>
          </a:xfrm>
          <a:prstGeom prst="roundRect">
            <a:avLst>
              <a:gd name="adj" fmla="val 7143"/>
            </a:avLst>
          </a:prstGeom>
          <a:solidFill>
            <a:srgbClr val="0D1B4C"/>
          </a:solidFill>
          <a:ln/>
        </p:spPr>
        <p:txBody>
          <a:bodyPr/>
          <a:lstStyle/>
          <a:p>
            <a:endParaRPr lang="en-IN"/>
          </a:p>
        </p:txBody>
      </p:sp>
      <p:pic>
        <p:nvPicPr>
          <p:cNvPr id="8" name="Image 1" descr="preencoded.png"/>
          <p:cNvPicPr>
            <a:picLocks noChangeAspect="1"/>
          </p:cNvPicPr>
          <p:nvPr/>
        </p:nvPicPr>
        <p:blipFill>
          <a:blip r:embed="rId3"/>
          <a:stretch>
            <a:fillRect/>
          </a:stretch>
        </p:blipFill>
        <p:spPr>
          <a:xfrm>
            <a:off x="1284732" y="1755648"/>
            <a:ext cx="402336" cy="402336"/>
          </a:xfrm>
          <a:prstGeom prst="rect">
            <a:avLst/>
          </a:prstGeom>
        </p:spPr>
      </p:pic>
      <p:sp>
        <p:nvSpPr>
          <p:cNvPr id="9" name="Text 5"/>
          <p:cNvSpPr/>
          <p:nvPr/>
        </p:nvSpPr>
        <p:spPr>
          <a:xfrm>
            <a:off x="822960" y="2331720"/>
            <a:ext cx="132588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Google Pay</a:t>
            </a:r>
            <a:endParaRPr lang="en-US" sz="1150" dirty="0"/>
          </a:p>
        </p:txBody>
      </p:sp>
      <p:sp>
        <p:nvSpPr>
          <p:cNvPr id="10" name="Shape 6"/>
          <p:cNvSpPr/>
          <p:nvPr/>
        </p:nvSpPr>
        <p:spPr>
          <a:xfrm>
            <a:off x="2286000" y="1554480"/>
            <a:ext cx="1417320" cy="1280160"/>
          </a:xfrm>
          <a:prstGeom prst="roundRect">
            <a:avLst>
              <a:gd name="adj" fmla="val 7143"/>
            </a:avLst>
          </a:prstGeom>
          <a:solidFill>
            <a:srgbClr val="1C6EBE"/>
          </a:solidFill>
          <a:ln/>
        </p:spPr>
        <p:txBody>
          <a:bodyPr/>
          <a:lstStyle/>
          <a:p>
            <a:endParaRPr lang="en-IN"/>
          </a:p>
        </p:txBody>
      </p:sp>
      <p:pic>
        <p:nvPicPr>
          <p:cNvPr id="11" name="Image 2" descr="preencoded.png"/>
          <p:cNvPicPr>
            <a:picLocks noChangeAspect="1"/>
          </p:cNvPicPr>
          <p:nvPr/>
        </p:nvPicPr>
        <p:blipFill>
          <a:blip r:embed="rId3"/>
          <a:stretch>
            <a:fillRect/>
          </a:stretch>
        </p:blipFill>
        <p:spPr>
          <a:xfrm>
            <a:off x="2793492" y="1755648"/>
            <a:ext cx="402336" cy="402336"/>
          </a:xfrm>
          <a:prstGeom prst="rect">
            <a:avLst/>
          </a:prstGeom>
        </p:spPr>
      </p:pic>
      <p:sp>
        <p:nvSpPr>
          <p:cNvPr id="12" name="Text 7"/>
          <p:cNvSpPr/>
          <p:nvPr/>
        </p:nvSpPr>
        <p:spPr>
          <a:xfrm>
            <a:off x="2331720" y="2331720"/>
            <a:ext cx="132588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PhonePe</a:t>
            </a:r>
            <a:endParaRPr lang="en-US" sz="1150" dirty="0"/>
          </a:p>
        </p:txBody>
      </p:sp>
      <p:sp>
        <p:nvSpPr>
          <p:cNvPr id="13" name="Shape 8"/>
          <p:cNvSpPr/>
          <p:nvPr/>
        </p:nvSpPr>
        <p:spPr>
          <a:xfrm>
            <a:off x="3794760" y="1554480"/>
            <a:ext cx="1417320" cy="1280160"/>
          </a:xfrm>
          <a:prstGeom prst="roundRect">
            <a:avLst>
              <a:gd name="adj" fmla="val 7143"/>
            </a:avLst>
          </a:prstGeom>
          <a:solidFill>
            <a:srgbClr val="0D1B4C"/>
          </a:solidFill>
          <a:ln/>
        </p:spPr>
        <p:txBody>
          <a:bodyPr/>
          <a:lstStyle/>
          <a:p>
            <a:endParaRPr lang="en-IN"/>
          </a:p>
        </p:txBody>
      </p:sp>
      <p:pic>
        <p:nvPicPr>
          <p:cNvPr id="14" name="Image 3" descr="preencoded.png"/>
          <p:cNvPicPr>
            <a:picLocks noChangeAspect="1"/>
          </p:cNvPicPr>
          <p:nvPr/>
        </p:nvPicPr>
        <p:blipFill>
          <a:blip r:embed="rId3"/>
          <a:stretch>
            <a:fillRect/>
          </a:stretch>
        </p:blipFill>
        <p:spPr>
          <a:xfrm>
            <a:off x="4302252" y="1755648"/>
            <a:ext cx="402336" cy="402336"/>
          </a:xfrm>
          <a:prstGeom prst="rect">
            <a:avLst/>
          </a:prstGeom>
        </p:spPr>
      </p:pic>
      <p:sp>
        <p:nvSpPr>
          <p:cNvPr id="15" name="Text 9"/>
          <p:cNvSpPr/>
          <p:nvPr/>
        </p:nvSpPr>
        <p:spPr>
          <a:xfrm>
            <a:off x="3840480" y="2331720"/>
            <a:ext cx="132588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Paytm</a:t>
            </a:r>
            <a:endParaRPr lang="en-US" sz="1150" dirty="0"/>
          </a:p>
        </p:txBody>
      </p:sp>
      <p:sp>
        <p:nvSpPr>
          <p:cNvPr id="16" name="Shape 10"/>
          <p:cNvSpPr/>
          <p:nvPr/>
        </p:nvSpPr>
        <p:spPr>
          <a:xfrm>
            <a:off x="5303520" y="1554480"/>
            <a:ext cx="1417320" cy="1280160"/>
          </a:xfrm>
          <a:prstGeom prst="roundRect">
            <a:avLst>
              <a:gd name="adj" fmla="val 7143"/>
            </a:avLst>
          </a:prstGeom>
          <a:solidFill>
            <a:srgbClr val="1C6EBE"/>
          </a:solidFill>
          <a:ln/>
        </p:spPr>
        <p:txBody>
          <a:bodyPr/>
          <a:lstStyle/>
          <a:p>
            <a:endParaRPr lang="en-IN"/>
          </a:p>
        </p:txBody>
      </p:sp>
      <p:pic>
        <p:nvPicPr>
          <p:cNvPr id="17" name="Image 4" descr="preencoded.png"/>
          <p:cNvPicPr>
            <a:picLocks noChangeAspect="1"/>
          </p:cNvPicPr>
          <p:nvPr/>
        </p:nvPicPr>
        <p:blipFill>
          <a:blip r:embed="rId3"/>
          <a:stretch>
            <a:fillRect/>
          </a:stretch>
        </p:blipFill>
        <p:spPr>
          <a:xfrm>
            <a:off x="5811012" y="1755648"/>
            <a:ext cx="402336" cy="402336"/>
          </a:xfrm>
          <a:prstGeom prst="rect">
            <a:avLst/>
          </a:prstGeom>
        </p:spPr>
      </p:pic>
      <p:sp>
        <p:nvSpPr>
          <p:cNvPr id="18" name="Text 11"/>
          <p:cNvSpPr/>
          <p:nvPr/>
        </p:nvSpPr>
        <p:spPr>
          <a:xfrm>
            <a:off x="5349240" y="2331720"/>
            <a:ext cx="132588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BHIM</a:t>
            </a:r>
            <a:endParaRPr lang="en-US" sz="1150" dirty="0"/>
          </a:p>
        </p:txBody>
      </p:sp>
      <p:sp>
        <p:nvSpPr>
          <p:cNvPr id="19" name="Shape 12"/>
          <p:cNvSpPr/>
          <p:nvPr/>
        </p:nvSpPr>
        <p:spPr>
          <a:xfrm>
            <a:off x="6812280" y="1554480"/>
            <a:ext cx="1417320" cy="1280160"/>
          </a:xfrm>
          <a:prstGeom prst="roundRect">
            <a:avLst>
              <a:gd name="adj" fmla="val 7143"/>
            </a:avLst>
          </a:prstGeom>
          <a:solidFill>
            <a:srgbClr val="0D1B4C"/>
          </a:solidFill>
          <a:ln/>
        </p:spPr>
        <p:txBody>
          <a:bodyPr/>
          <a:lstStyle/>
          <a:p>
            <a:endParaRPr lang="en-IN"/>
          </a:p>
        </p:txBody>
      </p:sp>
      <p:pic>
        <p:nvPicPr>
          <p:cNvPr id="20" name="Image 5" descr="preencoded.png"/>
          <p:cNvPicPr>
            <a:picLocks noChangeAspect="1"/>
          </p:cNvPicPr>
          <p:nvPr/>
        </p:nvPicPr>
        <p:blipFill>
          <a:blip r:embed="rId3"/>
          <a:stretch>
            <a:fillRect/>
          </a:stretch>
        </p:blipFill>
        <p:spPr>
          <a:xfrm>
            <a:off x="7319772" y="1755648"/>
            <a:ext cx="402336" cy="402336"/>
          </a:xfrm>
          <a:prstGeom prst="rect">
            <a:avLst/>
          </a:prstGeom>
        </p:spPr>
      </p:pic>
      <p:sp>
        <p:nvSpPr>
          <p:cNvPr id="21" name="Text 13"/>
          <p:cNvSpPr/>
          <p:nvPr/>
        </p:nvSpPr>
        <p:spPr>
          <a:xfrm>
            <a:off x="6858000" y="2331720"/>
            <a:ext cx="132588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Amazon Pay</a:t>
            </a:r>
            <a:endParaRPr lang="en-US" sz="1150" dirty="0"/>
          </a:p>
        </p:txBody>
      </p:sp>
      <p:sp>
        <p:nvSpPr>
          <p:cNvPr id="22" name="Shape 14"/>
          <p:cNvSpPr/>
          <p:nvPr/>
        </p:nvSpPr>
        <p:spPr>
          <a:xfrm>
            <a:off x="777240" y="3108960"/>
            <a:ext cx="7589520" cy="1188720"/>
          </a:xfrm>
          <a:prstGeom prst="roundRect">
            <a:avLst>
              <a:gd name="adj" fmla="val 7692"/>
            </a:avLst>
          </a:prstGeom>
          <a:solidFill>
            <a:srgbClr val="F4F8FC"/>
          </a:solidFill>
          <a:ln/>
        </p:spPr>
        <p:txBody>
          <a:bodyPr/>
          <a:lstStyle/>
          <a:p>
            <a:endParaRPr lang="en-IN"/>
          </a:p>
        </p:txBody>
      </p:sp>
      <p:sp>
        <p:nvSpPr>
          <p:cNvPr id="23" name="Text 15"/>
          <p:cNvSpPr/>
          <p:nvPr/>
        </p:nvSpPr>
        <p:spPr>
          <a:xfrm>
            <a:off x="1005840" y="3246120"/>
            <a:ext cx="7132320" cy="914400"/>
          </a:xfrm>
          <a:prstGeom prst="rect">
            <a:avLst/>
          </a:prstGeom>
          <a:noFill/>
          <a:ln/>
        </p:spPr>
        <p:txBody>
          <a:bodyPr wrap="square" lIns="0" tIns="0" rIns="0" bIns="0" rtlCol="0" anchor="ctr"/>
          <a:lstStyle/>
          <a:p>
            <a:pPr marL="0" indent="0">
              <a:buNone/>
            </a:pPr>
            <a:r>
              <a:rPr lang="en-US" sz="1300" i="1" dirty="0">
                <a:solidFill>
                  <a:srgbClr val="333333"/>
                </a:solidFill>
                <a:latin typeface="Calibri" pitchFamily="34" charset="0"/>
                <a:ea typeface="Calibri" pitchFamily="34" charset="-122"/>
                <a:cs typeface="Calibri" pitchFamily="34" charset="-120"/>
              </a:rPr>
              <a:t>All these apps run on the same underlying UPI network built by NPCI — so a Google Pay user can pay a PhonePe or Paytm user directly, with no extra steps.</a:t>
            </a:r>
            <a:endParaRPr lang="en-US" sz="1300" dirty="0"/>
          </a:p>
        </p:txBody>
      </p:sp>
      <p:sp>
        <p:nvSpPr>
          <p:cNvPr id="24" name="Text 16"/>
          <p:cNvSpPr/>
          <p:nvPr/>
        </p:nvSpPr>
        <p:spPr>
          <a:xfrm>
            <a:off x="274320" y="4698492"/>
            <a:ext cx="365760" cy="256032"/>
          </a:xfrm>
          <a:prstGeom prst="rect">
            <a:avLst/>
          </a:prstGeom>
          <a:noFill/>
          <a:ln/>
        </p:spPr>
        <p:txBody>
          <a:bodyPr wrap="square" lIns="0" tIns="0" rIns="0" bIns="0" rtlCol="0" anchor="ctr"/>
          <a:lstStyle/>
          <a:p>
            <a:pPr marL="0" indent="0" algn="l">
              <a:buNone/>
            </a:pPr>
            <a:r>
              <a:rPr lang="en-US" sz="1000" dirty="0">
                <a:solidFill>
                  <a:srgbClr val="8DA9D0"/>
                </a:solidFill>
              </a:rPr>
              <a:t>9</a:t>
            </a:r>
            <a:endParaRPr lang="en-US" sz="1000" dirty="0"/>
          </a:p>
        </p:txBody>
      </p:sp>
      <p:sp>
        <p:nvSpPr>
          <p:cNvPr id="26" name="Frame 25">
            <a:extLst>
              <a:ext uri="{FF2B5EF4-FFF2-40B4-BE49-F238E27FC236}">
                <a16:creationId xmlns:a16="http://schemas.microsoft.com/office/drawing/2014/main" id="{4B265056-7132-0AAE-3F33-2DE8D2B13E82}"/>
              </a:ext>
            </a:extLst>
          </p:cNvPr>
          <p:cNvSpPr/>
          <p:nvPr/>
        </p:nvSpPr>
        <p:spPr>
          <a:xfrm>
            <a:off x="0" y="0"/>
            <a:ext cx="9144000" cy="5143500"/>
          </a:xfrm>
          <a:prstGeom prst="frame">
            <a:avLst>
              <a:gd name="adj1" fmla="val 44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Pentagon 27">
            <a:extLst>
              <a:ext uri="{FF2B5EF4-FFF2-40B4-BE49-F238E27FC236}">
                <a16:creationId xmlns:a16="http://schemas.microsoft.com/office/drawing/2014/main" id="{6B344448-27F9-0076-D6C9-C9C05AF76A9C}"/>
              </a:ext>
            </a:extLst>
          </p:cNvPr>
          <p:cNvSpPr/>
          <p:nvPr/>
        </p:nvSpPr>
        <p:spPr>
          <a:xfrm rot="5400000">
            <a:off x="-26077" y="53172"/>
            <a:ext cx="609600" cy="528320"/>
          </a:xfrm>
          <a:prstGeom prst="homePlat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Arrow: Chevron 29">
            <a:extLst>
              <a:ext uri="{FF2B5EF4-FFF2-40B4-BE49-F238E27FC236}">
                <a16:creationId xmlns:a16="http://schemas.microsoft.com/office/drawing/2014/main" id="{9D3C8A3E-F726-7C70-075D-09B36189B301}"/>
              </a:ext>
            </a:extLst>
          </p:cNvPr>
          <p:cNvSpPr/>
          <p:nvPr/>
        </p:nvSpPr>
        <p:spPr>
          <a:xfrm rot="5400000">
            <a:off x="8538210" y="4537710"/>
            <a:ext cx="701040" cy="510540"/>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32" name="Image 0" descr="/home/claude/nttf_logo.png">
            <a:extLst>
              <a:ext uri="{FF2B5EF4-FFF2-40B4-BE49-F238E27FC236}">
                <a16:creationId xmlns:a16="http://schemas.microsoft.com/office/drawing/2014/main" id="{2D76E7EA-8161-A84A-160B-0B67181047F0}"/>
              </a:ext>
            </a:extLst>
          </p:cNvPr>
          <p:cNvPicPr>
            <a:picLocks noChangeAspect="1"/>
          </p:cNvPicPr>
          <p:nvPr/>
        </p:nvPicPr>
        <p:blipFill>
          <a:blip r:embed="rId4"/>
          <a:stretch>
            <a:fillRect/>
          </a:stretch>
        </p:blipFill>
        <p:spPr>
          <a:xfrm>
            <a:off x="7160400" y="393532"/>
            <a:ext cx="1224000" cy="457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 y="45720"/>
            <a:ext cx="9052560" cy="5052060"/>
          </a:xfrm>
          <a:prstGeom prst="rect">
            <a:avLst/>
          </a:prstGeom>
          <a:ln w="38100">
            <a:solidFill>
              <a:srgbClr val="F5A623"/>
            </a:solidFill>
            <a:prstDash val="solid"/>
          </a:ln>
        </p:spPr>
        <p:txBody>
          <a:bodyPr/>
          <a:lstStyle/>
          <a:p>
            <a:endParaRPr lang="en-IN"/>
          </a:p>
        </p:txBody>
      </p:sp>
      <p:sp>
        <p:nvSpPr>
          <p:cNvPr id="3" name="Shape 1"/>
          <p:cNvSpPr/>
          <p:nvPr/>
        </p:nvSpPr>
        <p:spPr>
          <a:xfrm>
            <a:off x="146304" y="146304"/>
            <a:ext cx="8851392" cy="4850892"/>
          </a:xfrm>
          <a:prstGeom prst="rect">
            <a:avLst/>
          </a:prstGeom>
          <a:ln w="25400">
            <a:solidFill>
              <a:srgbClr val="4FA8DC"/>
            </a:solidFill>
            <a:prstDash val="solid"/>
          </a:ln>
        </p:spPr>
        <p:txBody>
          <a:bodyPr/>
          <a:lstStyle/>
          <a:p>
            <a:endParaRPr lang="en-IN"/>
          </a:p>
        </p:txBody>
      </p:sp>
      <p:sp>
        <p:nvSpPr>
          <p:cNvPr id="6" name="Text 3"/>
          <p:cNvSpPr/>
          <p:nvPr/>
        </p:nvSpPr>
        <p:spPr>
          <a:xfrm>
            <a:off x="777240" y="310896"/>
            <a:ext cx="5852160" cy="548640"/>
          </a:xfrm>
          <a:prstGeom prst="rect">
            <a:avLst/>
          </a:prstGeom>
          <a:noFill/>
          <a:ln/>
        </p:spPr>
        <p:txBody>
          <a:bodyPr wrap="square" lIns="0" tIns="0" rIns="0" bIns="0" rtlCol="0" anchor="ctr"/>
          <a:lstStyle/>
          <a:p>
            <a:pPr marL="0" indent="0">
              <a:buNone/>
            </a:pPr>
            <a:r>
              <a:rPr lang="en-US" sz="2600" b="1" dirty="0">
                <a:solidFill>
                  <a:srgbClr val="111111"/>
                </a:solidFill>
                <a:latin typeface="Bookman Old Style" pitchFamily="34" charset="0"/>
                <a:ea typeface="Bookman Old Style" pitchFamily="34" charset="-122"/>
                <a:cs typeface="Bookman Old Style" pitchFamily="34" charset="-120"/>
              </a:rPr>
              <a:t>Future of UPI</a:t>
            </a:r>
            <a:endParaRPr lang="en-US" sz="2600" dirty="0"/>
          </a:p>
        </p:txBody>
      </p:sp>
      <p:sp>
        <p:nvSpPr>
          <p:cNvPr id="7" name="Shape 4"/>
          <p:cNvSpPr/>
          <p:nvPr/>
        </p:nvSpPr>
        <p:spPr>
          <a:xfrm>
            <a:off x="777240" y="1280160"/>
            <a:ext cx="2377440" cy="1371600"/>
          </a:xfrm>
          <a:prstGeom prst="roundRect">
            <a:avLst>
              <a:gd name="adj" fmla="val 6667"/>
            </a:avLst>
          </a:prstGeom>
          <a:solidFill>
            <a:srgbClr val="F4F8FC"/>
          </a:solidFill>
          <a:ln/>
          <a:effectLst>
            <a:outerShdw blurRad="63500" dist="25400" dir="5400000" algn="bl" rotWithShape="0">
              <a:srgbClr val="000000">
                <a:alpha val="10000"/>
              </a:srgbClr>
            </a:outerShdw>
          </a:effectLst>
        </p:spPr>
        <p:txBody>
          <a:bodyPr/>
          <a:lstStyle/>
          <a:p>
            <a:endParaRPr lang="en-IN"/>
          </a:p>
        </p:txBody>
      </p:sp>
      <p:sp>
        <p:nvSpPr>
          <p:cNvPr id="8" name="Shape 5"/>
          <p:cNvSpPr/>
          <p:nvPr/>
        </p:nvSpPr>
        <p:spPr>
          <a:xfrm>
            <a:off x="1691640" y="1444752"/>
            <a:ext cx="548640" cy="548640"/>
          </a:xfrm>
          <a:prstGeom prst="ellipse">
            <a:avLst/>
          </a:prstGeom>
          <a:solidFill>
            <a:srgbClr val="F5A623"/>
          </a:solidFill>
          <a:ln/>
        </p:spPr>
        <p:txBody>
          <a:bodyPr/>
          <a:lstStyle/>
          <a:p>
            <a:endParaRPr lang="en-IN"/>
          </a:p>
        </p:txBody>
      </p:sp>
      <p:pic>
        <p:nvPicPr>
          <p:cNvPr id="9" name="Image 1" descr="preencoded.png"/>
          <p:cNvPicPr>
            <a:picLocks noChangeAspect="1"/>
          </p:cNvPicPr>
          <p:nvPr/>
        </p:nvPicPr>
        <p:blipFill>
          <a:blip r:embed="rId3"/>
          <a:stretch>
            <a:fillRect/>
          </a:stretch>
        </p:blipFill>
        <p:spPr>
          <a:xfrm>
            <a:off x="1819656" y="1572768"/>
            <a:ext cx="292608" cy="292608"/>
          </a:xfrm>
          <a:prstGeom prst="rect">
            <a:avLst/>
          </a:prstGeom>
        </p:spPr>
      </p:pic>
      <p:sp>
        <p:nvSpPr>
          <p:cNvPr id="10" name="Text 6"/>
          <p:cNvSpPr/>
          <p:nvPr/>
        </p:nvSpPr>
        <p:spPr>
          <a:xfrm>
            <a:off x="868680" y="2121408"/>
            <a:ext cx="2194560" cy="457200"/>
          </a:xfrm>
          <a:prstGeom prst="rect">
            <a:avLst/>
          </a:prstGeom>
          <a:noFill/>
          <a:ln/>
        </p:spPr>
        <p:txBody>
          <a:bodyPr wrap="square" lIns="0" tIns="0" rIns="0" bIns="0" rtlCol="0" anchor="ctr"/>
          <a:lstStyle/>
          <a:p>
            <a:pPr marL="0" indent="0" algn="ctr">
              <a:buNone/>
            </a:pPr>
            <a:r>
              <a:rPr lang="en-US" sz="1150" b="1" dirty="0">
                <a:solidFill>
                  <a:srgbClr val="0D1B4C"/>
                </a:solidFill>
                <a:latin typeface="Calibri" pitchFamily="34" charset="0"/>
                <a:ea typeface="Calibri" pitchFamily="34" charset="-122"/>
                <a:cs typeface="Calibri" pitchFamily="34" charset="-120"/>
              </a:rPr>
              <a:t>International Payments</a:t>
            </a:r>
            <a:endParaRPr lang="en-US" sz="1150" dirty="0"/>
          </a:p>
        </p:txBody>
      </p:sp>
      <p:sp>
        <p:nvSpPr>
          <p:cNvPr id="11" name="Shape 7"/>
          <p:cNvSpPr/>
          <p:nvPr/>
        </p:nvSpPr>
        <p:spPr>
          <a:xfrm>
            <a:off x="3337560" y="1280160"/>
            <a:ext cx="2377440" cy="1371600"/>
          </a:xfrm>
          <a:prstGeom prst="roundRect">
            <a:avLst>
              <a:gd name="adj" fmla="val 6667"/>
            </a:avLst>
          </a:prstGeom>
          <a:solidFill>
            <a:srgbClr val="F4F8FC"/>
          </a:solidFill>
          <a:ln/>
          <a:effectLst>
            <a:outerShdw blurRad="63500" dist="25400" dir="5400000" algn="bl" rotWithShape="0">
              <a:srgbClr val="000000">
                <a:alpha val="10000"/>
              </a:srgbClr>
            </a:outerShdw>
          </a:effectLst>
        </p:spPr>
        <p:txBody>
          <a:bodyPr/>
          <a:lstStyle/>
          <a:p>
            <a:endParaRPr lang="en-IN"/>
          </a:p>
        </p:txBody>
      </p:sp>
      <p:sp>
        <p:nvSpPr>
          <p:cNvPr id="12" name="Shape 8"/>
          <p:cNvSpPr/>
          <p:nvPr/>
        </p:nvSpPr>
        <p:spPr>
          <a:xfrm>
            <a:off x="4251960" y="1444752"/>
            <a:ext cx="548640" cy="548640"/>
          </a:xfrm>
          <a:prstGeom prst="ellipse">
            <a:avLst/>
          </a:prstGeom>
          <a:solidFill>
            <a:srgbClr val="F5A623"/>
          </a:solidFill>
          <a:ln/>
        </p:spPr>
        <p:txBody>
          <a:bodyPr/>
          <a:lstStyle/>
          <a:p>
            <a:endParaRPr lang="en-IN"/>
          </a:p>
        </p:txBody>
      </p:sp>
      <p:pic>
        <p:nvPicPr>
          <p:cNvPr id="13" name="Image 2" descr="preencoded.png"/>
          <p:cNvPicPr>
            <a:picLocks noChangeAspect="1"/>
          </p:cNvPicPr>
          <p:nvPr/>
        </p:nvPicPr>
        <p:blipFill>
          <a:blip r:embed="rId4"/>
          <a:stretch>
            <a:fillRect/>
          </a:stretch>
        </p:blipFill>
        <p:spPr>
          <a:xfrm>
            <a:off x="4379976" y="1572768"/>
            <a:ext cx="292608" cy="292608"/>
          </a:xfrm>
          <a:prstGeom prst="rect">
            <a:avLst/>
          </a:prstGeom>
        </p:spPr>
      </p:pic>
      <p:sp>
        <p:nvSpPr>
          <p:cNvPr id="14" name="Text 9"/>
          <p:cNvSpPr/>
          <p:nvPr/>
        </p:nvSpPr>
        <p:spPr>
          <a:xfrm>
            <a:off x="3429000" y="2121408"/>
            <a:ext cx="2194560" cy="457200"/>
          </a:xfrm>
          <a:prstGeom prst="rect">
            <a:avLst/>
          </a:prstGeom>
          <a:noFill/>
          <a:ln/>
        </p:spPr>
        <p:txBody>
          <a:bodyPr wrap="square" lIns="0" tIns="0" rIns="0" bIns="0" rtlCol="0" anchor="ctr"/>
          <a:lstStyle/>
          <a:p>
            <a:pPr marL="0" indent="0" algn="ctr">
              <a:buNone/>
            </a:pPr>
            <a:r>
              <a:rPr lang="en-US" sz="1150" b="1" dirty="0">
                <a:solidFill>
                  <a:srgbClr val="0D1B4C"/>
                </a:solidFill>
                <a:latin typeface="Calibri" pitchFamily="34" charset="0"/>
                <a:ea typeface="Calibri" pitchFamily="34" charset="-122"/>
                <a:cs typeface="Calibri" pitchFamily="34" charset="-120"/>
              </a:rPr>
              <a:t>Voice Payments</a:t>
            </a:r>
            <a:endParaRPr lang="en-US" sz="1150" dirty="0"/>
          </a:p>
        </p:txBody>
      </p:sp>
      <p:sp>
        <p:nvSpPr>
          <p:cNvPr id="15" name="Shape 10"/>
          <p:cNvSpPr/>
          <p:nvPr/>
        </p:nvSpPr>
        <p:spPr>
          <a:xfrm>
            <a:off x="5897880" y="1280160"/>
            <a:ext cx="2377440" cy="1371600"/>
          </a:xfrm>
          <a:prstGeom prst="roundRect">
            <a:avLst>
              <a:gd name="adj" fmla="val 6667"/>
            </a:avLst>
          </a:prstGeom>
          <a:solidFill>
            <a:srgbClr val="F4F8FC"/>
          </a:solidFill>
          <a:ln/>
          <a:effectLst>
            <a:outerShdw blurRad="63500" dist="25400" dir="5400000" algn="bl" rotWithShape="0">
              <a:srgbClr val="000000">
                <a:alpha val="10000"/>
              </a:srgbClr>
            </a:outerShdw>
          </a:effectLst>
        </p:spPr>
        <p:txBody>
          <a:bodyPr/>
          <a:lstStyle/>
          <a:p>
            <a:endParaRPr lang="en-IN"/>
          </a:p>
        </p:txBody>
      </p:sp>
      <p:sp>
        <p:nvSpPr>
          <p:cNvPr id="16" name="Shape 11"/>
          <p:cNvSpPr/>
          <p:nvPr/>
        </p:nvSpPr>
        <p:spPr>
          <a:xfrm>
            <a:off x="6812280" y="1444752"/>
            <a:ext cx="548640" cy="548640"/>
          </a:xfrm>
          <a:prstGeom prst="ellipse">
            <a:avLst/>
          </a:prstGeom>
          <a:solidFill>
            <a:srgbClr val="F5A623"/>
          </a:solidFill>
          <a:ln/>
        </p:spPr>
        <p:txBody>
          <a:bodyPr/>
          <a:lstStyle/>
          <a:p>
            <a:endParaRPr lang="en-IN"/>
          </a:p>
        </p:txBody>
      </p:sp>
      <p:pic>
        <p:nvPicPr>
          <p:cNvPr id="17" name="Image 3" descr="preencoded.png"/>
          <p:cNvPicPr>
            <a:picLocks noChangeAspect="1"/>
          </p:cNvPicPr>
          <p:nvPr/>
        </p:nvPicPr>
        <p:blipFill>
          <a:blip r:embed="rId5"/>
          <a:stretch>
            <a:fillRect/>
          </a:stretch>
        </p:blipFill>
        <p:spPr>
          <a:xfrm>
            <a:off x="6940296" y="1572768"/>
            <a:ext cx="292608" cy="292608"/>
          </a:xfrm>
          <a:prstGeom prst="rect">
            <a:avLst/>
          </a:prstGeom>
        </p:spPr>
      </p:pic>
      <p:sp>
        <p:nvSpPr>
          <p:cNvPr id="18" name="Text 12"/>
          <p:cNvSpPr/>
          <p:nvPr/>
        </p:nvSpPr>
        <p:spPr>
          <a:xfrm>
            <a:off x="5989320" y="2121408"/>
            <a:ext cx="2194560" cy="457200"/>
          </a:xfrm>
          <a:prstGeom prst="rect">
            <a:avLst/>
          </a:prstGeom>
          <a:noFill/>
          <a:ln/>
        </p:spPr>
        <p:txBody>
          <a:bodyPr wrap="square" lIns="0" tIns="0" rIns="0" bIns="0" rtlCol="0" anchor="ctr"/>
          <a:lstStyle/>
          <a:p>
            <a:pPr marL="0" indent="0" algn="ctr">
              <a:buNone/>
            </a:pPr>
            <a:r>
              <a:rPr lang="en-US" sz="1150" b="1" dirty="0">
                <a:solidFill>
                  <a:srgbClr val="0D1B4C"/>
                </a:solidFill>
                <a:latin typeface="Calibri" pitchFamily="34" charset="0"/>
                <a:ea typeface="Calibri" pitchFamily="34" charset="-122"/>
                <a:cs typeface="Calibri" pitchFamily="34" charset="-120"/>
              </a:rPr>
              <a:t>NFC Tap &amp; Pay</a:t>
            </a:r>
            <a:endParaRPr lang="en-US" sz="1150" dirty="0"/>
          </a:p>
        </p:txBody>
      </p:sp>
      <p:sp>
        <p:nvSpPr>
          <p:cNvPr id="19" name="Shape 13"/>
          <p:cNvSpPr/>
          <p:nvPr/>
        </p:nvSpPr>
        <p:spPr>
          <a:xfrm>
            <a:off x="777240" y="2880360"/>
            <a:ext cx="2377440" cy="1371600"/>
          </a:xfrm>
          <a:prstGeom prst="roundRect">
            <a:avLst>
              <a:gd name="adj" fmla="val 6667"/>
            </a:avLst>
          </a:prstGeom>
          <a:solidFill>
            <a:srgbClr val="F4F8FC"/>
          </a:solidFill>
          <a:ln/>
          <a:effectLst>
            <a:outerShdw blurRad="63500" dist="25400" dir="5400000" algn="bl" rotWithShape="0">
              <a:srgbClr val="000000">
                <a:alpha val="10000"/>
              </a:srgbClr>
            </a:outerShdw>
          </a:effectLst>
        </p:spPr>
        <p:txBody>
          <a:bodyPr/>
          <a:lstStyle/>
          <a:p>
            <a:endParaRPr lang="en-IN"/>
          </a:p>
        </p:txBody>
      </p:sp>
      <p:sp>
        <p:nvSpPr>
          <p:cNvPr id="20" name="Shape 14"/>
          <p:cNvSpPr/>
          <p:nvPr/>
        </p:nvSpPr>
        <p:spPr>
          <a:xfrm>
            <a:off x="1691640" y="3044952"/>
            <a:ext cx="548640" cy="548640"/>
          </a:xfrm>
          <a:prstGeom prst="ellipse">
            <a:avLst/>
          </a:prstGeom>
          <a:solidFill>
            <a:srgbClr val="F5A623"/>
          </a:solidFill>
          <a:ln/>
        </p:spPr>
        <p:txBody>
          <a:bodyPr/>
          <a:lstStyle/>
          <a:p>
            <a:endParaRPr lang="en-IN"/>
          </a:p>
        </p:txBody>
      </p:sp>
      <p:pic>
        <p:nvPicPr>
          <p:cNvPr id="21" name="Image 4" descr="preencoded.png"/>
          <p:cNvPicPr>
            <a:picLocks noChangeAspect="1"/>
          </p:cNvPicPr>
          <p:nvPr/>
        </p:nvPicPr>
        <p:blipFill>
          <a:blip r:embed="rId6"/>
          <a:stretch>
            <a:fillRect/>
          </a:stretch>
        </p:blipFill>
        <p:spPr>
          <a:xfrm>
            <a:off x="1819656" y="3172968"/>
            <a:ext cx="292608" cy="292608"/>
          </a:xfrm>
          <a:prstGeom prst="rect">
            <a:avLst/>
          </a:prstGeom>
        </p:spPr>
      </p:pic>
      <p:sp>
        <p:nvSpPr>
          <p:cNvPr id="22" name="Text 15"/>
          <p:cNvSpPr/>
          <p:nvPr/>
        </p:nvSpPr>
        <p:spPr>
          <a:xfrm>
            <a:off x="868680" y="3721608"/>
            <a:ext cx="2194560" cy="457200"/>
          </a:xfrm>
          <a:prstGeom prst="rect">
            <a:avLst/>
          </a:prstGeom>
          <a:noFill/>
          <a:ln/>
        </p:spPr>
        <p:txBody>
          <a:bodyPr wrap="square" lIns="0" tIns="0" rIns="0" bIns="0" rtlCol="0" anchor="ctr"/>
          <a:lstStyle/>
          <a:p>
            <a:pPr marL="0" indent="0" algn="ctr">
              <a:buNone/>
            </a:pPr>
            <a:r>
              <a:rPr lang="en-US" sz="1150" b="1" dirty="0">
                <a:solidFill>
                  <a:srgbClr val="0D1B4C"/>
                </a:solidFill>
                <a:latin typeface="Calibri" pitchFamily="34" charset="0"/>
                <a:ea typeface="Calibri" pitchFamily="34" charset="-122"/>
                <a:cs typeface="Calibri" pitchFamily="34" charset="-120"/>
              </a:rPr>
              <a:t>AI Fraud Detection</a:t>
            </a:r>
            <a:endParaRPr lang="en-US" sz="1150" dirty="0"/>
          </a:p>
        </p:txBody>
      </p:sp>
      <p:sp>
        <p:nvSpPr>
          <p:cNvPr id="23" name="Shape 16"/>
          <p:cNvSpPr/>
          <p:nvPr/>
        </p:nvSpPr>
        <p:spPr>
          <a:xfrm>
            <a:off x="3337560" y="2880360"/>
            <a:ext cx="2377440" cy="1371600"/>
          </a:xfrm>
          <a:prstGeom prst="roundRect">
            <a:avLst>
              <a:gd name="adj" fmla="val 6667"/>
            </a:avLst>
          </a:prstGeom>
          <a:solidFill>
            <a:srgbClr val="F4F8FC"/>
          </a:solidFill>
          <a:ln/>
          <a:effectLst>
            <a:outerShdw blurRad="63500" dist="25400" dir="5400000" algn="bl" rotWithShape="0">
              <a:srgbClr val="000000">
                <a:alpha val="10000"/>
              </a:srgbClr>
            </a:outerShdw>
          </a:effectLst>
        </p:spPr>
        <p:txBody>
          <a:bodyPr/>
          <a:lstStyle/>
          <a:p>
            <a:endParaRPr lang="en-IN"/>
          </a:p>
        </p:txBody>
      </p:sp>
      <p:sp>
        <p:nvSpPr>
          <p:cNvPr id="24" name="Shape 17"/>
          <p:cNvSpPr/>
          <p:nvPr/>
        </p:nvSpPr>
        <p:spPr>
          <a:xfrm>
            <a:off x="4251960" y="3044952"/>
            <a:ext cx="548640" cy="548640"/>
          </a:xfrm>
          <a:prstGeom prst="ellipse">
            <a:avLst/>
          </a:prstGeom>
          <a:solidFill>
            <a:srgbClr val="F5A623"/>
          </a:solidFill>
          <a:ln/>
        </p:spPr>
        <p:txBody>
          <a:bodyPr/>
          <a:lstStyle/>
          <a:p>
            <a:endParaRPr lang="en-IN"/>
          </a:p>
        </p:txBody>
      </p:sp>
      <p:pic>
        <p:nvPicPr>
          <p:cNvPr id="25" name="Image 5" descr="preencoded.png"/>
          <p:cNvPicPr>
            <a:picLocks noChangeAspect="1"/>
          </p:cNvPicPr>
          <p:nvPr/>
        </p:nvPicPr>
        <p:blipFill>
          <a:blip r:embed="rId7"/>
          <a:stretch>
            <a:fillRect/>
          </a:stretch>
        </p:blipFill>
        <p:spPr>
          <a:xfrm>
            <a:off x="4379976" y="3172968"/>
            <a:ext cx="292608" cy="292608"/>
          </a:xfrm>
          <a:prstGeom prst="rect">
            <a:avLst/>
          </a:prstGeom>
        </p:spPr>
      </p:pic>
      <p:sp>
        <p:nvSpPr>
          <p:cNvPr id="26" name="Text 18"/>
          <p:cNvSpPr/>
          <p:nvPr/>
        </p:nvSpPr>
        <p:spPr>
          <a:xfrm>
            <a:off x="3429000" y="3721608"/>
            <a:ext cx="2194560" cy="457200"/>
          </a:xfrm>
          <a:prstGeom prst="rect">
            <a:avLst/>
          </a:prstGeom>
          <a:noFill/>
          <a:ln/>
        </p:spPr>
        <p:txBody>
          <a:bodyPr wrap="square" lIns="0" tIns="0" rIns="0" bIns="0" rtlCol="0" anchor="ctr"/>
          <a:lstStyle/>
          <a:p>
            <a:pPr marL="0" indent="0" algn="ctr">
              <a:buNone/>
            </a:pPr>
            <a:r>
              <a:rPr lang="en-US" sz="1150" b="1" dirty="0">
                <a:solidFill>
                  <a:srgbClr val="0D1B4C"/>
                </a:solidFill>
                <a:latin typeface="Calibri" pitchFamily="34" charset="0"/>
                <a:ea typeface="Calibri" pitchFamily="34" charset="-122"/>
                <a:cs typeface="Calibri" pitchFamily="34" charset="-120"/>
              </a:rPr>
              <a:t>Offline UPI</a:t>
            </a:r>
            <a:endParaRPr lang="en-US" sz="1150" dirty="0"/>
          </a:p>
        </p:txBody>
      </p:sp>
      <p:sp>
        <p:nvSpPr>
          <p:cNvPr id="27" name="Text 19"/>
          <p:cNvSpPr/>
          <p:nvPr/>
        </p:nvSpPr>
        <p:spPr>
          <a:xfrm>
            <a:off x="274320" y="4698492"/>
            <a:ext cx="365760" cy="256032"/>
          </a:xfrm>
          <a:prstGeom prst="rect">
            <a:avLst/>
          </a:prstGeom>
          <a:noFill/>
          <a:ln/>
        </p:spPr>
        <p:txBody>
          <a:bodyPr wrap="square" lIns="0" tIns="0" rIns="0" bIns="0" rtlCol="0" anchor="ctr"/>
          <a:lstStyle/>
          <a:p>
            <a:pPr marL="0" indent="0" algn="l">
              <a:buNone/>
            </a:pPr>
            <a:r>
              <a:rPr lang="en-US" sz="1000" dirty="0">
                <a:solidFill>
                  <a:srgbClr val="8DA9D0"/>
                </a:solidFill>
              </a:rPr>
              <a:t>10</a:t>
            </a:r>
            <a:endParaRPr lang="en-US" sz="1000" dirty="0"/>
          </a:p>
        </p:txBody>
      </p:sp>
      <p:sp>
        <p:nvSpPr>
          <p:cNvPr id="29" name="Frame 28">
            <a:extLst>
              <a:ext uri="{FF2B5EF4-FFF2-40B4-BE49-F238E27FC236}">
                <a16:creationId xmlns:a16="http://schemas.microsoft.com/office/drawing/2014/main" id="{EC70FF5B-4AE6-8457-B926-23123984F842}"/>
              </a:ext>
            </a:extLst>
          </p:cNvPr>
          <p:cNvSpPr/>
          <p:nvPr/>
        </p:nvSpPr>
        <p:spPr>
          <a:xfrm>
            <a:off x="0" y="0"/>
            <a:ext cx="9144000" cy="5143500"/>
          </a:xfrm>
          <a:prstGeom prst="frame">
            <a:avLst>
              <a:gd name="adj1" fmla="val 44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Pentagon 30">
            <a:extLst>
              <a:ext uri="{FF2B5EF4-FFF2-40B4-BE49-F238E27FC236}">
                <a16:creationId xmlns:a16="http://schemas.microsoft.com/office/drawing/2014/main" id="{D339B1A9-4A6A-E9DD-D127-D2EA0D178E38}"/>
              </a:ext>
            </a:extLst>
          </p:cNvPr>
          <p:cNvSpPr/>
          <p:nvPr/>
        </p:nvSpPr>
        <p:spPr>
          <a:xfrm rot="5400000">
            <a:off x="-26077" y="53172"/>
            <a:ext cx="609600" cy="528320"/>
          </a:xfrm>
          <a:prstGeom prst="homePlat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Arrow: Chevron 32">
            <a:extLst>
              <a:ext uri="{FF2B5EF4-FFF2-40B4-BE49-F238E27FC236}">
                <a16:creationId xmlns:a16="http://schemas.microsoft.com/office/drawing/2014/main" id="{FA7ECB35-03E7-E1E5-1745-6CCF375D8B8C}"/>
              </a:ext>
            </a:extLst>
          </p:cNvPr>
          <p:cNvSpPr/>
          <p:nvPr/>
        </p:nvSpPr>
        <p:spPr>
          <a:xfrm rot="5400000">
            <a:off x="8538210" y="4537710"/>
            <a:ext cx="701040" cy="510540"/>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35" name="Image 0" descr="/home/claude/nttf_logo.png">
            <a:extLst>
              <a:ext uri="{FF2B5EF4-FFF2-40B4-BE49-F238E27FC236}">
                <a16:creationId xmlns:a16="http://schemas.microsoft.com/office/drawing/2014/main" id="{D93254B3-765C-21AE-E854-70CFF6034C13}"/>
              </a:ext>
            </a:extLst>
          </p:cNvPr>
          <p:cNvPicPr>
            <a:picLocks noChangeAspect="1"/>
          </p:cNvPicPr>
          <p:nvPr/>
        </p:nvPicPr>
        <p:blipFill>
          <a:blip r:embed="rId8"/>
          <a:stretch>
            <a:fillRect/>
          </a:stretch>
        </p:blipFill>
        <p:spPr>
          <a:xfrm>
            <a:off x="7160400" y="393532"/>
            <a:ext cx="1224000" cy="457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 y="45720"/>
            <a:ext cx="9052560" cy="5052060"/>
          </a:xfrm>
          <a:prstGeom prst="rect">
            <a:avLst/>
          </a:prstGeom>
          <a:ln w="38100">
            <a:solidFill>
              <a:srgbClr val="F5A623"/>
            </a:solidFill>
            <a:prstDash val="solid"/>
          </a:ln>
        </p:spPr>
        <p:txBody>
          <a:bodyPr/>
          <a:lstStyle/>
          <a:p>
            <a:endParaRPr lang="en-IN"/>
          </a:p>
        </p:txBody>
      </p:sp>
      <p:sp>
        <p:nvSpPr>
          <p:cNvPr id="3" name="Shape 1"/>
          <p:cNvSpPr/>
          <p:nvPr/>
        </p:nvSpPr>
        <p:spPr>
          <a:xfrm>
            <a:off x="146304" y="146304"/>
            <a:ext cx="8851392" cy="4850892"/>
          </a:xfrm>
          <a:prstGeom prst="rect">
            <a:avLst/>
          </a:prstGeom>
          <a:ln w="25400">
            <a:solidFill>
              <a:srgbClr val="4FA8DC"/>
            </a:solidFill>
            <a:prstDash val="solid"/>
          </a:ln>
        </p:spPr>
        <p:txBody>
          <a:bodyPr/>
          <a:lstStyle/>
          <a:p>
            <a:endParaRPr lang="en-IN"/>
          </a:p>
        </p:txBody>
      </p:sp>
      <p:sp>
        <p:nvSpPr>
          <p:cNvPr id="6" name="Text 3"/>
          <p:cNvSpPr/>
          <p:nvPr/>
        </p:nvSpPr>
        <p:spPr>
          <a:xfrm>
            <a:off x="777240" y="310896"/>
            <a:ext cx="5852160" cy="548640"/>
          </a:xfrm>
          <a:prstGeom prst="rect">
            <a:avLst/>
          </a:prstGeom>
          <a:noFill/>
          <a:ln/>
        </p:spPr>
        <p:txBody>
          <a:bodyPr wrap="square" lIns="0" tIns="0" rIns="0" bIns="0" rtlCol="0" anchor="ctr"/>
          <a:lstStyle/>
          <a:p>
            <a:pPr marL="0" indent="0">
              <a:buNone/>
            </a:pPr>
            <a:r>
              <a:rPr lang="en-US" sz="2600" b="1" dirty="0">
                <a:solidFill>
                  <a:srgbClr val="111111"/>
                </a:solidFill>
                <a:latin typeface="Bookman Old Style" pitchFamily="34" charset="0"/>
                <a:ea typeface="Bookman Old Style" pitchFamily="34" charset="-122"/>
                <a:cs typeface="Bookman Old Style" pitchFamily="34" charset="-120"/>
              </a:rPr>
              <a:t>Interesting Facts</a:t>
            </a:r>
            <a:endParaRPr lang="en-US" sz="2600" dirty="0"/>
          </a:p>
        </p:txBody>
      </p:sp>
      <p:sp>
        <p:nvSpPr>
          <p:cNvPr id="7" name="Shape 4"/>
          <p:cNvSpPr/>
          <p:nvPr/>
        </p:nvSpPr>
        <p:spPr>
          <a:xfrm>
            <a:off x="777240" y="1280160"/>
            <a:ext cx="3611880" cy="1417320"/>
          </a:xfrm>
          <a:prstGeom prst="roundRect">
            <a:avLst>
              <a:gd name="adj" fmla="val 6452"/>
            </a:avLst>
          </a:prstGeom>
          <a:solidFill>
            <a:srgbClr val="0D1B4C"/>
          </a:solidFill>
          <a:ln/>
        </p:spPr>
        <p:txBody>
          <a:bodyPr/>
          <a:lstStyle/>
          <a:p>
            <a:endParaRPr lang="en-IN"/>
          </a:p>
        </p:txBody>
      </p:sp>
      <p:sp>
        <p:nvSpPr>
          <p:cNvPr id="8" name="Text 5"/>
          <p:cNvSpPr/>
          <p:nvPr/>
        </p:nvSpPr>
        <p:spPr>
          <a:xfrm>
            <a:off x="1005840" y="1417320"/>
            <a:ext cx="3154680" cy="594360"/>
          </a:xfrm>
          <a:prstGeom prst="rect">
            <a:avLst/>
          </a:prstGeom>
          <a:noFill/>
          <a:ln/>
        </p:spPr>
        <p:txBody>
          <a:bodyPr wrap="square" lIns="0" tIns="0" rIns="0" bIns="0" rtlCol="0" anchor="ctr"/>
          <a:lstStyle/>
          <a:p>
            <a:pPr marL="0" indent="0">
              <a:buNone/>
            </a:pPr>
            <a:r>
              <a:rPr lang="en-US" sz="2600" b="1" dirty="0">
                <a:solidFill>
                  <a:srgbClr val="F5A623"/>
                </a:solidFill>
                <a:latin typeface="Arial" pitchFamily="34" charset="0"/>
                <a:ea typeface="Arial" pitchFamily="34" charset="-122"/>
                <a:cs typeface="Arial" pitchFamily="34" charset="-120"/>
              </a:rPr>
              <a:t>Billions</a:t>
            </a:r>
            <a:endParaRPr lang="en-US" sz="2600" dirty="0"/>
          </a:p>
        </p:txBody>
      </p:sp>
      <p:sp>
        <p:nvSpPr>
          <p:cNvPr id="9" name="Text 6"/>
          <p:cNvSpPr/>
          <p:nvPr/>
        </p:nvSpPr>
        <p:spPr>
          <a:xfrm>
            <a:off x="1005840" y="2057400"/>
            <a:ext cx="3154680" cy="548640"/>
          </a:xfrm>
          <a:prstGeom prst="rect">
            <a:avLst/>
          </a:prstGeom>
          <a:noFill/>
          <a:ln/>
        </p:spPr>
        <p:txBody>
          <a:bodyPr wrap="square" lIns="0" tIns="0" rIns="0" bIns="0" rtlCol="0" anchor="ctr"/>
          <a:lstStyle/>
          <a:p>
            <a:pPr marL="0" indent="0">
              <a:buNone/>
            </a:pPr>
            <a:r>
              <a:rPr lang="en-US" sz="1200" dirty="0">
                <a:solidFill>
                  <a:srgbClr val="E4ECF7"/>
                </a:solidFill>
                <a:latin typeface="Calibri" pitchFamily="34" charset="0"/>
                <a:ea typeface="Calibri" pitchFamily="34" charset="-122"/>
                <a:cs typeface="Calibri" pitchFamily="34" charset="-120"/>
              </a:rPr>
              <a:t>of transactions processed every month</a:t>
            </a:r>
            <a:endParaRPr lang="en-US" sz="1200" dirty="0"/>
          </a:p>
        </p:txBody>
      </p:sp>
      <p:sp>
        <p:nvSpPr>
          <p:cNvPr id="10" name="Shape 7"/>
          <p:cNvSpPr/>
          <p:nvPr/>
        </p:nvSpPr>
        <p:spPr>
          <a:xfrm>
            <a:off x="4709160" y="1280160"/>
            <a:ext cx="3611880" cy="1417320"/>
          </a:xfrm>
          <a:prstGeom prst="roundRect">
            <a:avLst>
              <a:gd name="adj" fmla="val 6452"/>
            </a:avLst>
          </a:prstGeom>
          <a:solidFill>
            <a:srgbClr val="0D1B4C"/>
          </a:solidFill>
          <a:ln/>
        </p:spPr>
        <p:txBody>
          <a:bodyPr/>
          <a:lstStyle/>
          <a:p>
            <a:endParaRPr lang="en-IN"/>
          </a:p>
        </p:txBody>
      </p:sp>
      <p:sp>
        <p:nvSpPr>
          <p:cNvPr id="11" name="Text 8"/>
          <p:cNvSpPr/>
          <p:nvPr/>
        </p:nvSpPr>
        <p:spPr>
          <a:xfrm>
            <a:off x="4937760" y="1417320"/>
            <a:ext cx="3154680" cy="594360"/>
          </a:xfrm>
          <a:prstGeom prst="rect">
            <a:avLst/>
          </a:prstGeom>
          <a:noFill/>
          <a:ln/>
        </p:spPr>
        <p:txBody>
          <a:bodyPr wrap="square" lIns="0" tIns="0" rIns="0" bIns="0" rtlCol="0" anchor="ctr"/>
          <a:lstStyle/>
          <a:p>
            <a:pPr marL="0" indent="0">
              <a:buNone/>
            </a:pPr>
            <a:r>
              <a:rPr lang="en-US" sz="2600" b="1" dirty="0">
                <a:solidFill>
                  <a:srgbClr val="F5A623"/>
                </a:solidFill>
                <a:latin typeface="Arial" pitchFamily="34" charset="0"/>
                <a:ea typeface="Arial" pitchFamily="34" charset="-122"/>
                <a:cs typeface="Arial" pitchFamily="34" charset="-120"/>
              </a:rPr>
              <a:t>Millions</a:t>
            </a:r>
            <a:endParaRPr lang="en-US" sz="2600" dirty="0"/>
          </a:p>
        </p:txBody>
      </p:sp>
      <p:sp>
        <p:nvSpPr>
          <p:cNvPr id="12" name="Text 9"/>
          <p:cNvSpPr/>
          <p:nvPr/>
        </p:nvSpPr>
        <p:spPr>
          <a:xfrm>
            <a:off x="4937760" y="2057400"/>
            <a:ext cx="3154680" cy="548640"/>
          </a:xfrm>
          <a:prstGeom prst="rect">
            <a:avLst/>
          </a:prstGeom>
          <a:noFill/>
          <a:ln/>
        </p:spPr>
        <p:txBody>
          <a:bodyPr wrap="square" lIns="0" tIns="0" rIns="0" bIns="0" rtlCol="0" anchor="ctr"/>
          <a:lstStyle/>
          <a:p>
            <a:pPr marL="0" indent="0">
              <a:buNone/>
            </a:pPr>
            <a:r>
              <a:rPr lang="en-US" sz="1200" dirty="0">
                <a:solidFill>
                  <a:srgbClr val="E4ECF7"/>
                </a:solidFill>
                <a:latin typeface="Calibri" pitchFamily="34" charset="0"/>
                <a:ea typeface="Calibri" pitchFamily="34" charset="-122"/>
                <a:cs typeface="Calibri" pitchFamily="34" charset="-120"/>
              </a:rPr>
              <a:t>of people use UPI daily</a:t>
            </a:r>
            <a:endParaRPr lang="en-US" sz="1200" dirty="0"/>
          </a:p>
        </p:txBody>
      </p:sp>
      <p:sp>
        <p:nvSpPr>
          <p:cNvPr id="13" name="Shape 10"/>
          <p:cNvSpPr/>
          <p:nvPr/>
        </p:nvSpPr>
        <p:spPr>
          <a:xfrm>
            <a:off x="777240" y="2926080"/>
            <a:ext cx="3611880" cy="1417320"/>
          </a:xfrm>
          <a:prstGeom prst="roundRect">
            <a:avLst>
              <a:gd name="adj" fmla="val 6452"/>
            </a:avLst>
          </a:prstGeom>
          <a:solidFill>
            <a:srgbClr val="0D1B4C"/>
          </a:solidFill>
          <a:ln/>
        </p:spPr>
        <p:txBody>
          <a:bodyPr/>
          <a:lstStyle/>
          <a:p>
            <a:endParaRPr lang="en-IN"/>
          </a:p>
        </p:txBody>
      </p:sp>
      <p:sp>
        <p:nvSpPr>
          <p:cNvPr id="14" name="Text 11"/>
          <p:cNvSpPr/>
          <p:nvPr/>
        </p:nvSpPr>
        <p:spPr>
          <a:xfrm>
            <a:off x="1005840" y="3063240"/>
            <a:ext cx="3154680" cy="594360"/>
          </a:xfrm>
          <a:prstGeom prst="rect">
            <a:avLst/>
          </a:prstGeom>
          <a:noFill/>
          <a:ln/>
        </p:spPr>
        <p:txBody>
          <a:bodyPr wrap="square" lIns="0" tIns="0" rIns="0" bIns="0" rtlCol="0" anchor="ctr"/>
          <a:lstStyle/>
          <a:p>
            <a:pPr marL="0" indent="0">
              <a:buNone/>
            </a:pPr>
            <a:r>
              <a:rPr lang="en-US" sz="2600" b="1" dirty="0">
                <a:solidFill>
                  <a:srgbClr val="F5A623"/>
                </a:solidFill>
                <a:latin typeface="Arial" pitchFamily="34" charset="0"/>
                <a:ea typeface="Arial" pitchFamily="34" charset="-122"/>
                <a:cs typeface="Arial" pitchFamily="34" charset="-120"/>
              </a:rPr>
              <a:t>Everywhere</a:t>
            </a:r>
            <a:endParaRPr lang="en-US" sz="2600" dirty="0"/>
          </a:p>
        </p:txBody>
      </p:sp>
      <p:sp>
        <p:nvSpPr>
          <p:cNvPr id="15" name="Text 12"/>
          <p:cNvSpPr/>
          <p:nvPr/>
        </p:nvSpPr>
        <p:spPr>
          <a:xfrm>
            <a:off x="1005840" y="3703320"/>
            <a:ext cx="3154680" cy="548640"/>
          </a:xfrm>
          <a:prstGeom prst="rect">
            <a:avLst/>
          </a:prstGeom>
          <a:noFill/>
          <a:ln/>
        </p:spPr>
        <p:txBody>
          <a:bodyPr wrap="square" lIns="0" tIns="0" rIns="0" bIns="0" rtlCol="0" anchor="ctr"/>
          <a:lstStyle/>
          <a:p>
            <a:pPr marL="0" indent="0">
              <a:buNone/>
            </a:pPr>
            <a:r>
              <a:rPr lang="en-US" sz="1200" dirty="0">
                <a:solidFill>
                  <a:srgbClr val="E4ECF7"/>
                </a:solidFill>
                <a:latin typeface="Calibri" pitchFamily="34" charset="0"/>
                <a:ea typeface="Calibri" pitchFamily="34" charset="-122"/>
                <a:cs typeface="Calibri" pitchFamily="34" charset="-120"/>
              </a:rPr>
              <a:t>accepted from street vendors to shopping malls</a:t>
            </a:r>
            <a:endParaRPr lang="en-US" sz="1200" dirty="0"/>
          </a:p>
        </p:txBody>
      </p:sp>
      <p:sp>
        <p:nvSpPr>
          <p:cNvPr id="16" name="Shape 13"/>
          <p:cNvSpPr/>
          <p:nvPr/>
        </p:nvSpPr>
        <p:spPr>
          <a:xfrm>
            <a:off x="4709160" y="2926080"/>
            <a:ext cx="3611880" cy="1417320"/>
          </a:xfrm>
          <a:prstGeom prst="roundRect">
            <a:avLst>
              <a:gd name="adj" fmla="val 6452"/>
            </a:avLst>
          </a:prstGeom>
          <a:solidFill>
            <a:srgbClr val="0D1B4C"/>
          </a:solidFill>
          <a:ln/>
        </p:spPr>
        <p:txBody>
          <a:bodyPr/>
          <a:lstStyle/>
          <a:p>
            <a:endParaRPr lang="en-IN"/>
          </a:p>
        </p:txBody>
      </p:sp>
      <p:sp>
        <p:nvSpPr>
          <p:cNvPr id="17" name="Text 14"/>
          <p:cNvSpPr/>
          <p:nvPr/>
        </p:nvSpPr>
        <p:spPr>
          <a:xfrm>
            <a:off x="4937760" y="3063240"/>
            <a:ext cx="3154680" cy="594360"/>
          </a:xfrm>
          <a:prstGeom prst="rect">
            <a:avLst/>
          </a:prstGeom>
          <a:noFill/>
          <a:ln/>
        </p:spPr>
        <p:txBody>
          <a:bodyPr wrap="square" lIns="0" tIns="0" rIns="0" bIns="0" rtlCol="0" anchor="ctr"/>
          <a:lstStyle/>
          <a:p>
            <a:pPr marL="0" indent="0">
              <a:buNone/>
            </a:pPr>
            <a:r>
              <a:rPr lang="en-US" sz="2600" b="1" dirty="0">
                <a:solidFill>
                  <a:srgbClr val="F5A623"/>
                </a:solidFill>
                <a:latin typeface="Arial" pitchFamily="34" charset="0"/>
                <a:ea typeface="Arial" pitchFamily="34" charset="-122"/>
                <a:cs typeface="Arial" pitchFamily="34" charset="-120"/>
              </a:rPr>
              <a:t>Less Cash</a:t>
            </a:r>
            <a:endParaRPr lang="en-US" sz="2600" dirty="0"/>
          </a:p>
        </p:txBody>
      </p:sp>
      <p:sp>
        <p:nvSpPr>
          <p:cNvPr id="18" name="Text 15"/>
          <p:cNvSpPr/>
          <p:nvPr/>
        </p:nvSpPr>
        <p:spPr>
          <a:xfrm>
            <a:off x="4937760" y="3703320"/>
            <a:ext cx="3154680" cy="548640"/>
          </a:xfrm>
          <a:prstGeom prst="rect">
            <a:avLst/>
          </a:prstGeom>
          <a:noFill/>
          <a:ln/>
        </p:spPr>
        <p:txBody>
          <a:bodyPr wrap="square" lIns="0" tIns="0" rIns="0" bIns="0" rtlCol="0" anchor="ctr"/>
          <a:lstStyle/>
          <a:p>
            <a:pPr marL="0" indent="0">
              <a:buNone/>
            </a:pPr>
            <a:r>
              <a:rPr lang="en-US" sz="1200" dirty="0">
                <a:solidFill>
                  <a:srgbClr val="E4ECF7"/>
                </a:solidFill>
                <a:latin typeface="Calibri" pitchFamily="34" charset="0"/>
                <a:ea typeface="Calibri" pitchFamily="34" charset="-122"/>
                <a:cs typeface="Calibri" pitchFamily="34" charset="-120"/>
              </a:rPr>
              <a:t>QR codes have reduced dependence on cash</a:t>
            </a:r>
            <a:endParaRPr lang="en-US" sz="1200" dirty="0"/>
          </a:p>
        </p:txBody>
      </p:sp>
      <p:sp>
        <p:nvSpPr>
          <p:cNvPr id="19" name="Text 16"/>
          <p:cNvSpPr/>
          <p:nvPr/>
        </p:nvSpPr>
        <p:spPr>
          <a:xfrm>
            <a:off x="274320" y="4708652"/>
            <a:ext cx="365760" cy="256032"/>
          </a:xfrm>
          <a:prstGeom prst="rect">
            <a:avLst/>
          </a:prstGeom>
          <a:noFill/>
          <a:ln/>
        </p:spPr>
        <p:txBody>
          <a:bodyPr wrap="square" lIns="0" tIns="0" rIns="0" bIns="0" rtlCol="0" anchor="ctr"/>
          <a:lstStyle/>
          <a:p>
            <a:pPr marL="0" indent="0" algn="l">
              <a:buNone/>
            </a:pPr>
            <a:r>
              <a:rPr lang="en-US" sz="1000" dirty="0">
                <a:solidFill>
                  <a:srgbClr val="8DA9D0"/>
                </a:solidFill>
              </a:rPr>
              <a:t>11</a:t>
            </a:r>
            <a:endParaRPr lang="en-US" sz="1000" dirty="0"/>
          </a:p>
        </p:txBody>
      </p:sp>
      <p:sp>
        <p:nvSpPr>
          <p:cNvPr id="21" name="Frame 20">
            <a:extLst>
              <a:ext uri="{FF2B5EF4-FFF2-40B4-BE49-F238E27FC236}">
                <a16:creationId xmlns:a16="http://schemas.microsoft.com/office/drawing/2014/main" id="{68F510D6-93E6-E558-E3C0-AC324FE1F979}"/>
              </a:ext>
            </a:extLst>
          </p:cNvPr>
          <p:cNvSpPr/>
          <p:nvPr/>
        </p:nvSpPr>
        <p:spPr>
          <a:xfrm>
            <a:off x="0" y="0"/>
            <a:ext cx="9144000" cy="5143500"/>
          </a:xfrm>
          <a:prstGeom prst="frame">
            <a:avLst>
              <a:gd name="adj1" fmla="val 44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3" name="Arrow: Pentagon 22">
            <a:extLst>
              <a:ext uri="{FF2B5EF4-FFF2-40B4-BE49-F238E27FC236}">
                <a16:creationId xmlns:a16="http://schemas.microsoft.com/office/drawing/2014/main" id="{6BD47F47-1B5A-5273-3345-31A4E6D418AF}"/>
              </a:ext>
            </a:extLst>
          </p:cNvPr>
          <p:cNvSpPr/>
          <p:nvPr/>
        </p:nvSpPr>
        <p:spPr>
          <a:xfrm rot="5400000">
            <a:off x="-26077" y="53172"/>
            <a:ext cx="609600" cy="528320"/>
          </a:xfrm>
          <a:prstGeom prst="homePlat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Arrow: Chevron 24">
            <a:extLst>
              <a:ext uri="{FF2B5EF4-FFF2-40B4-BE49-F238E27FC236}">
                <a16:creationId xmlns:a16="http://schemas.microsoft.com/office/drawing/2014/main" id="{7706BFDF-3049-FA6B-2382-A1C465C1143E}"/>
              </a:ext>
            </a:extLst>
          </p:cNvPr>
          <p:cNvSpPr/>
          <p:nvPr/>
        </p:nvSpPr>
        <p:spPr>
          <a:xfrm rot="5400000">
            <a:off x="8538210" y="4537710"/>
            <a:ext cx="701040" cy="510540"/>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27" name="Image 0" descr="/home/claude/nttf_logo.png">
            <a:extLst>
              <a:ext uri="{FF2B5EF4-FFF2-40B4-BE49-F238E27FC236}">
                <a16:creationId xmlns:a16="http://schemas.microsoft.com/office/drawing/2014/main" id="{FB8BA2DE-FCFB-6F7A-02B1-AA243119282A}"/>
              </a:ext>
            </a:extLst>
          </p:cNvPr>
          <p:cNvPicPr>
            <a:picLocks noChangeAspect="1"/>
          </p:cNvPicPr>
          <p:nvPr/>
        </p:nvPicPr>
        <p:blipFill>
          <a:blip r:embed="rId3"/>
          <a:stretch>
            <a:fillRect/>
          </a:stretch>
        </p:blipFill>
        <p:spPr>
          <a:xfrm>
            <a:off x="7160400" y="393532"/>
            <a:ext cx="1224000" cy="457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4C"/>
        </a:solidFill>
        <a:effectLst/>
      </p:bgPr>
    </p:bg>
    <p:spTree>
      <p:nvGrpSpPr>
        <p:cNvPr id="1" name=""/>
        <p:cNvGrpSpPr/>
        <p:nvPr/>
      </p:nvGrpSpPr>
      <p:grpSpPr>
        <a:xfrm>
          <a:off x="0" y="0"/>
          <a:ext cx="0" cy="0"/>
          <a:chOff x="0" y="0"/>
          <a:chExt cx="0" cy="0"/>
        </a:xfrm>
      </p:grpSpPr>
      <p:sp>
        <p:nvSpPr>
          <p:cNvPr id="2" name="Shape 0"/>
          <p:cNvSpPr/>
          <p:nvPr/>
        </p:nvSpPr>
        <p:spPr>
          <a:xfrm>
            <a:off x="45720" y="45720"/>
            <a:ext cx="9052560" cy="5052060"/>
          </a:xfrm>
          <a:prstGeom prst="rect">
            <a:avLst/>
          </a:prstGeom>
          <a:ln w="38100">
            <a:solidFill>
              <a:srgbClr val="F5A623"/>
            </a:solidFill>
            <a:prstDash val="solid"/>
          </a:ln>
        </p:spPr>
        <p:txBody>
          <a:bodyPr/>
          <a:lstStyle/>
          <a:p>
            <a:endParaRPr lang="en-IN"/>
          </a:p>
        </p:txBody>
      </p:sp>
      <p:sp>
        <p:nvSpPr>
          <p:cNvPr id="3" name="Shape 1"/>
          <p:cNvSpPr/>
          <p:nvPr/>
        </p:nvSpPr>
        <p:spPr>
          <a:xfrm>
            <a:off x="146304" y="146304"/>
            <a:ext cx="8851392" cy="4850892"/>
          </a:xfrm>
          <a:prstGeom prst="rect">
            <a:avLst/>
          </a:prstGeom>
          <a:ln w="25400">
            <a:solidFill>
              <a:srgbClr val="4FA8DC"/>
            </a:solidFill>
            <a:prstDash val="solid"/>
          </a:ln>
        </p:spPr>
        <p:txBody>
          <a:bodyPr/>
          <a:lstStyle/>
          <a:p>
            <a:endParaRPr lang="en-IN"/>
          </a:p>
        </p:txBody>
      </p:sp>
      <p:sp>
        <p:nvSpPr>
          <p:cNvPr id="6" name="Shape 4"/>
          <p:cNvSpPr/>
          <p:nvPr/>
        </p:nvSpPr>
        <p:spPr>
          <a:xfrm>
            <a:off x="7068960" y="356616"/>
            <a:ext cx="1406880" cy="566928"/>
          </a:xfrm>
          <a:prstGeom prst="roundRect">
            <a:avLst>
              <a:gd name="adj" fmla="val 9677"/>
            </a:avLst>
          </a:prstGeom>
          <a:solidFill>
            <a:srgbClr val="FFFFFF"/>
          </a:solidFill>
          <a:ln/>
        </p:spPr>
        <p:txBody>
          <a:bodyPr/>
          <a:lstStyle/>
          <a:p>
            <a:endParaRPr lang="en-IN"/>
          </a:p>
        </p:txBody>
      </p:sp>
      <p:sp>
        <p:nvSpPr>
          <p:cNvPr id="8" name="Text 5"/>
          <p:cNvSpPr/>
          <p:nvPr/>
        </p:nvSpPr>
        <p:spPr>
          <a:xfrm>
            <a:off x="777240" y="640080"/>
            <a:ext cx="5486400" cy="548640"/>
          </a:xfrm>
          <a:prstGeom prst="rect">
            <a:avLst/>
          </a:prstGeom>
          <a:noFill/>
          <a:ln/>
        </p:spPr>
        <p:txBody>
          <a:bodyPr wrap="square" lIns="0" tIns="0" rIns="0" bIns="0" rtlCol="0" anchor="ctr"/>
          <a:lstStyle/>
          <a:p>
            <a:pPr marL="0" indent="0">
              <a:buNone/>
            </a:pPr>
            <a:r>
              <a:rPr lang="en-US" sz="2800" b="1" dirty="0">
                <a:solidFill>
                  <a:srgbClr val="FFFFFF"/>
                </a:solidFill>
                <a:latin typeface="Bookman Old Style" pitchFamily="34" charset="0"/>
                <a:ea typeface="Bookman Old Style" pitchFamily="34" charset="-122"/>
                <a:cs typeface="Bookman Old Style" pitchFamily="34" charset="-120"/>
              </a:rPr>
              <a:t>Conclusion</a:t>
            </a:r>
            <a:endParaRPr lang="en-US" sz="2800" dirty="0"/>
          </a:p>
        </p:txBody>
      </p:sp>
      <p:sp>
        <p:nvSpPr>
          <p:cNvPr id="9" name="Text 6"/>
          <p:cNvSpPr/>
          <p:nvPr/>
        </p:nvSpPr>
        <p:spPr>
          <a:xfrm>
            <a:off x="777240" y="1417320"/>
            <a:ext cx="7589520" cy="1554480"/>
          </a:xfrm>
          <a:prstGeom prst="rect">
            <a:avLst/>
          </a:prstGeom>
          <a:noFill/>
          <a:ln/>
        </p:spPr>
        <p:txBody>
          <a:bodyPr wrap="square" rtlCol="0" anchor="t"/>
          <a:lstStyle/>
          <a:p>
            <a:pPr marL="342900" indent="-342900">
              <a:spcAft>
                <a:spcPts val="1200"/>
              </a:spcAft>
              <a:buSzPct val="100000"/>
              <a:buChar char="●"/>
            </a:pPr>
            <a:r>
              <a:rPr lang="en-US" sz="1600" dirty="0">
                <a:solidFill>
                  <a:srgbClr val="E4ECF7"/>
                </a:solidFill>
                <a:latin typeface="Calibri" pitchFamily="34" charset="0"/>
                <a:ea typeface="Calibri" pitchFamily="34" charset="-122"/>
                <a:cs typeface="Calibri" pitchFamily="34" charset="-120"/>
              </a:rPr>
              <a:t>UPI changed the face of digital payments in India.</a:t>
            </a:r>
            <a:endParaRPr lang="en-US" sz="1600" dirty="0"/>
          </a:p>
          <a:p>
            <a:pPr marL="342900" indent="-342900">
              <a:spcAft>
                <a:spcPts val="1200"/>
              </a:spcAft>
              <a:buSzPct val="100000"/>
              <a:buChar char="●"/>
            </a:pPr>
            <a:r>
              <a:rPr lang="en-US" sz="1600" dirty="0">
                <a:solidFill>
                  <a:srgbClr val="E4ECF7"/>
                </a:solidFill>
                <a:latin typeface="Calibri" pitchFamily="34" charset="0"/>
                <a:ea typeface="Calibri" pitchFamily="34" charset="-122"/>
                <a:cs typeface="Calibri" pitchFamily="34" charset="-120"/>
              </a:rPr>
              <a:t>Safe, Fast, Reliable — built for everyday use.</a:t>
            </a:r>
            <a:endParaRPr lang="en-US" sz="1600" dirty="0"/>
          </a:p>
          <a:p>
            <a:pPr marL="342900" indent="-342900">
              <a:spcAft>
                <a:spcPts val="1200"/>
              </a:spcAft>
              <a:buSzPct val="100000"/>
              <a:buChar char="●"/>
            </a:pPr>
            <a:r>
              <a:rPr lang="en-US" sz="1600" dirty="0">
                <a:solidFill>
                  <a:srgbClr val="E4ECF7"/>
                </a:solidFill>
                <a:latin typeface="Calibri" pitchFamily="34" charset="0"/>
                <a:ea typeface="Calibri" pitchFamily="34" charset="-122"/>
                <a:cs typeface="Calibri" pitchFamily="34" charset="-120"/>
              </a:rPr>
              <a:t>The foundation of a cashless India, and still evolving.</a:t>
            </a:r>
            <a:endParaRPr lang="en-US" sz="1600" dirty="0"/>
          </a:p>
        </p:txBody>
      </p:sp>
      <p:sp>
        <p:nvSpPr>
          <p:cNvPr id="10" name="Shape 7"/>
          <p:cNvSpPr/>
          <p:nvPr/>
        </p:nvSpPr>
        <p:spPr>
          <a:xfrm>
            <a:off x="2514600" y="3246120"/>
            <a:ext cx="4114800" cy="1051560"/>
          </a:xfrm>
          <a:prstGeom prst="roundRect">
            <a:avLst>
              <a:gd name="adj" fmla="val 43478"/>
            </a:avLst>
          </a:prstGeom>
          <a:solidFill>
            <a:srgbClr val="F5A623"/>
          </a:solidFill>
          <a:ln/>
        </p:spPr>
        <p:txBody>
          <a:bodyPr/>
          <a:lstStyle/>
          <a:p>
            <a:endParaRPr lang="en-IN"/>
          </a:p>
        </p:txBody>
      </p:sp>
      <p:sp>
        <p:nvSpPr>
          <p:cNvPr id="11" name="Text 8"/>
          <p:cNvSpPr/>
          <p:nvPr/>
        </p:nvSpPr>
        <p:spPr>
          <a:xfrm>
            <a:off x="2514600" y="3246120"/>
            <a:ext cx="4114800" cy="68580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Thank You</a:t>
            </a:r>
            <a:endParaRPr lang="en-US" sz="2600" dirty="0"/>
          </a:p>
        </p:txBody>
      </p:sp>
      <p:sp>
        <p:nvSpPr>
          <p:cNvPr id="12" name="Text 9"/>
          <p:cNvSpPr/>
          <p:nvPr/>
        </p:nvSpPr>
        <p:spPr>
          <a:xfrm>
            <a:off x="2514600" y="3886200"/>
            <a:ext cx="4114800" cy="365760"/>
          </a:xfrm>
          <a:prstGeom prst="rect">
            <a:avLst/>
          </a:prstGeom>
          <a:noFill/>
          <a:ln/>
        </p:spPr>
        <p:txBody>
          <a:bodyPr wrap="square" lIns="0" tIns="0" rIns="0" bIns="0" rtlCol="0" anchor="ctr"/>
          <a:lstStyle/>
          <a:p>
            <a:pPr marL="0" indent="0" algn="ctr">
              <a:buNone/>
            </a:pPr>
            <a:r>
              <a:rPr lang="en-US" sz="1300" dirty="0">
                <a:solidFill>
                  <a:srgbClr val="1B1B1B"/>
                </a:solidFill>
                <a:latin typeface="Calibri" pitchFamily="34" charset="0"/>
                <a:ea typeface="Calibri" pitchFamily="34" charset="-122"/>
                <a:cs typeface="Calibri" pitchFamily="34" charset="-120"/>
              </a:rPr>
              <a:t>Questions?</a:t>
            </a:r>
            <a:endParaRPr lang="en-US" sz="1300" dirty="0"/>
          </a:p>
        </p:txBody>
      </p:sp>
      <p:sp>
        <p:nvSpPr>
          <p:cNvPr id="13" name="Text 10"/>
          <p:cNvSpPr/>
          <p:nvPr/>
        </p:nvSpPr>
        <p:spPr>
          <a:xfrm>
            <a:off x="278723" y="4715764"/>
            <a:ext cx="365760" cy="256032"/>
          </a:xfrm>
          <a:prstGeom prst="rect">
            <a:avLst/>
          </a:prstGeom>
          <a:noFill/>
          <a:ln/>
        </p:spPr>
        <p:txBody>
          <a:bodyPr wrap="square" lIns="0" tIns="0" rIns="0" bIns="0" rtlCol="0" anchor="ctr"/>
          <a:lstStyle/>
          <a:p>
            <a:pPr marL="0" indent="0" algn="l">
              <a:buNone/>
            </a:pPr>
            <a:r>
              <a:rPr lang="en-US" sz="1000" dirty="0">
                <a:solidFill>
                  <a:srgbClr val="8DA9D0"/>
                </a:solidFill>
              </a:rPr>
              <a:t>12</a:t>
            </a:r>
            <a:endParaRPr lang="en-US" sz="1000" dirty="0"/>
          </a:p>
        </p:txBody>
      </p:sp>
      <p:sp>
        <p:nvSpPr>
          <p:cNvPr id="15" name="Frame 14">
            <a:extLst>
              <a:ext uri="{FF2B5EF4-FFF2-40B4-BE49-F238E27FC236}">
                <a16:creationId xmlns:a16="http://schemas.microsoft.com/office/drawing/2014/main" id="{0FA39B69-60FB-C866-FED0-DE723A662813}"/>
              </a:ext>
            </a:extLst>
          </p:cNvPr>
          <p:cNvSpPr/>
          <p:nvPr/>
        </p:nvSpPr>
        <p:spPr>
          <a:xfrm>
            <a:off x="0" y="0"/>
            <a:ext cx="9144000" cy="5143500"/>
          </a:xfrm>
          <a:prstGeom prst="frame">
            <a:avLst>
              <a:gd name="adj1" fmla="val 44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7" name="Arrow: Pentagon 16">
            <a:extLst>
              <a:ext uri="{FF2B5EF4-FFF2-40B4-BE49-F238E27FC236}">
                <a16:creationId xmlns:a16="http://schemas.microsoft.com/office/drawing/2014/main" id="{7F1F6B3B-0DC1-9DC0-391D-F7D10CC3EB74}"/>
              </a:ext>
            </a:extLst>
          </p:cNvPr>
          <p:cNvSpPr/>
          <p:nvPr/>
        </p:nvSpPr>
        <p:spPr>
          <a:xfrm rot="5400000">
            <a:off x="-26077" y="53172"/>
            <a:ext cx="609600" cy="528320"/>
          </a:xfrm>
          <a:prstGeom prst="homePlat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Chevron 18">
            <a:extLst>
              <a:ext uri="{FF2B5EF4-FFF2-40B4-BE49-F238E27FC236}">
                <a16:creationId xmlns:a16="http://schemas.microsoft.com/office/drawing/2014/main" id="{79DE95D3-EC4D-2A3A-3979-BF05413A1C65}"/>
              </a:ext>
            </a:extLst>
          </p:cNvPr>
          <p:cNvSpPr/>
          <p:nvPr/>
        </p:nvSpPr>
        <p:spPr>
          <a:xfrm rot="5400000">
            <a:off x="8538210" y="4537710"/>
            <a:ext cx="701040" cy="510540"/>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21" name="Image 0" descr="/home/claude/nttf_logo.png">
            <a:extLst>
              <a:ext uri="{FF2B5EF4-FFF2-40B4-BE49-F238E27FC236}">
                <a16:creationId xmlns:a16="http://schemas.microsoft.com/office/drawing/2014/main" id="{5FD0D14E-E59D-76DE-8F6E-D699450236F6}"/>
              </a:ext>
            </a:extLst>
          </p:cNvPr>
          <p:cNvPicPr>
            <a:picLocks noChangeAspect="1"/>
          </p:cNvPicPr>
          <p:nvPr/>
        </p:nvPicPr>
        <p:blipFill>
          <a:blip r:embed="rId3"/>
          <a:stretch>
            <a:fillRect/>
          </a:stretch>
        </p:blipFill>
        <p:spPr>
          <a:xfrm>
            <a:off x="7160400" y="393532"/>
            <a:ext cx="1224000"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493</TotalTime>
  <Words>1601</Words>
  <Application>Microsoft Office PowerPoint</Application>
  <PresentationFormat>On-screen Show (16:9)</PresentationFormat>
  <Paragraphs>143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Technology Behind UPI Payments</dc:title>
  <dc:subject>PptxGenJS Presentation</dc:subject>
  <dc:creator>Ayush Prasad</dc:creator>
  <cp:lastModifiedBy>Ayush Prasad</cp:lastModifiedBy>
  <cp:revision>3</cp:revision>
  <dcterms:created xsi:type="dcterms:W3CDTF">2026-07-01T05:47:58Z</dcterms:created>
  <dcterms:modified xsi:type="dcterms:W3CDTF">2026-07-21T07:53:25Z</dcterms:modified>
</cp:coreProperties>
</file>