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8B919E-2BA7-4F00-B473-D7F21260C34B}" v="12" dt="2026-08-26T10:00:29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-29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Prasad" userId="2940ba2b3be697d3" providerId="LiveId" clId="{B58F1A37-4B77-404E-8592-60D8D6D1B0ED}"/>
    <pc:docChg chg="modSld">
      <pc:chgData name="Ayush Prasad" userId="2940ba2b3be697d3" providerId="LiveId" clId="{B58F1A37-4B77-404E-8592-60D8D6D1B0ED}" dt="2026-08-26T09:56:24.462" v="0" actId="20577"/>
      <pc:docMkLst>
        <pc:docMk/>
      </pc:docMkLst>
      <pc:sldChg chg="modNotesTx">
        <pc:chgData name="Ayush Prasad" userId="2940ba2b3be697d3" providerId="LiveId" clId="{B58F1A37-4B77-404E-8592-60D8D6D1B0ED}" dt="2026-08-26T09:56:24.462" v="0" actId="20577"/>
        <pc:sldMkLst>
          <pc:docMk/>
          <pc:sldMk cId="2774279063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922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5794-7630-5BD6-3DB0-6E146E95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76028C-C21F-7BF4-F2BC-F00B67647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9263D-7F00-7BF5-5DF9-1B26B1E0F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many of you type a URL and hit enter without ever thinking about what actually happens next? Today I'm going to take one single request — one page load — and walk it through every stage, start to finish. It's eight steps, and the whole thing usually takes somewhere between 100 and 300 milliseconds — faster than you can blink.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41656-7624-59B8-9078-B2329E3C6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70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map for today: eight stages, one request. Parse the URL, DNS resolution, TCP handshake, TLS handshake, HTTP request, server processing, HTTP response, and finally rendering the page. You'll see this strip of icons — URL, DNS, TCP, TLS, REQ, SRV, RES, DOM — at the bottom of every slide from here on. The amber dot shows exactly where we are in the journey, so you never lose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your computer talks to the network at all, the browser has to understand what you typed. It breaks the string apart — scheme, host, port, path, query. For example: `https://shop.example.com/</a:t>
            </a:r>
            <a:r>
              <a:rPr lang="en-US" dirty="0" err="1"/>
              <a:t>cart?id</a:t>
            </a:r>
            <a:r>
              <a:rPr lang="en-US" dirty="0"/>
              <a:t>=42` becomes 'use HTTPS,' 'talk to shop.example.com,' 'go to /cart,' 'with id=42.' At the same time, it checks the HSTS preload list — a built-in list of sites that must always be loaded over HTTPS — and checks its own cache and autocomplete history. And here's a subtlety: if what you typed doesn't look like a valid address, the browser doesn't error out — it just treats it as a search query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browser needs an IP address for that hostname — DNS is basically the internet's phone book. First it checks its own cache, then the OS cache, then the router. If it's a site you've visited recently, this costs nothing — instant. If it's not found anywhere, a recursive resolver — often your ISP, or a public one like 1.1.1.1 or 8.8.8.8 — takes over and walks the hierarchy: root server, then the TLD server (like .com), then the authoritative nameserver for that specific domain. It comes back with an A or AAAA record — that's just the IP address — and the browser caches it for however long the TTL says.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have an IP address, so the browser opens an actual connection — a socket — to the server on port 443, or port 80 for plain HTTP. This is the classic three-way handshake: the browser sends SYN, meaning 'I want to talk,' the server replies SYN-ACK, meaning 'okay, and here's my acknowledgment,' and the browser finishes with ACK. That's it — connection established, reliable and ordered.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TCP connection is just a pipe — it's not secure yet. That's what TLS adds. First, </a:t>
            </a:r>
            <a:r>
              <a:rPr lang="en-US" dirty="0" err="1"/>
              <a:t>ClientHello</a:t>
            </a:r>
            <a:r>
              <a:rPr lang="en-US" dirty="0"/>
              <a:t> and </a:t>
            </a:r>
            <a:r>
              <a:rPr lang="en-US" dirty="0" err="1"/>
              <a:t>ServerHello</a:t>
            </a:r>
            <a:r>
              <a:rPr lang="en-US" dirty="0"/>
              <a:t> negotiate which TLS version and cipher suite to use. Then the server presents its certificate, and the browser validates the whole chain up to a trusted root certificate authority — this is how your browser knows it's really talking to the real server and not an imposter. Finally, a key exchange derives symmetric session keys, and from that point on, everything is encrypted.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is open and encrypted — now the browser actually asks for something. It sends a GET request over that encrypted channel. Along with it go headers: Host — which site on this server you want, User-Agent — what browser/device you're using, Cookies, Accept-Encoding, and more. If the connection supports HTTP/2 or HTTP/3, the browser can multiplex — send many requests over the same connection at once instead of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request has arrived at the server side. First stop is usually a load balancer, which routes it to one of possibly many available application servers. That server runs the actual app logic — checking authentication, querying a database or cache, applying business rules — and then assembles a response body, which could be HTML, JSON, or something else depending on what's being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server sends its answer back: a status code — 200 for success, 301 for redirect, 404 for not found, and so on — plus headers and the response body. That body is often compressed with </a:t>
            </a:r>
            <a:r>
              <a:rPr lang="en-US" dirty="0" err="1"/>
              <a:t>gzip</a:t>
            </a:r>
            <a:r>
              <a:rPr lang="en-US" dirty="0"/>
              <a:t> or </a:t>
            </a:r>
            <a:r>
              <a:rPr lang="en-US" dirty="0" err="1"/>
              <a:t>brotli</a:t>
            </a:r>
            <a:r>
              <a:rPr lang="en-US" dirty="0"/>
              <a:t> to save bandwidth, and it might come straight from a CDN edge cache instead of the origin server, which is much faster. And commonly, the connection stays open — keep-alive — so if you need to make more requests to the same server, you skip repeating the TCP and TLS handshakes.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stage — turning bytes into pixels. The browser parses the HTML into the DOM — the Document Object Model — and parses the CSS into the CSSOM. These two combine into a render tree, which is used to compute layout: the size and position of every element on the page. Then paint happens — pixels actually go on screen — while JavaScript and remaining assets like images and fonts continue loading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let's zoom back out. Parse the URL, DNS resolution, TCP handshake, TLS handshake, HTTP request, server processing, HTTP response, render the page — eight stages, and the whole thing typically takes just 100 to 300 milliseconds. Almost all of it is invisible; you'd never notice a delay unless something goes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the full journey — from the moment you hit enter to pixels on your screen. If you want to see this yourself, open </a:t>
            </a:r>
            <a:r>
              <a:rPr lang="en-US" dirty="0" err="1"/>
              <a:t>DevTools</a:t>
            </a:r>
            <a:r>
              <a:rPr lang="en-US" dirty="0"/>
              <a:t>, go to the Network tab, and reload any page — you'll actually see the DNS lookup, the connection setup, and each request laid out in real time. </a:t>
            </a:r>
            <a:r>
              <a:rPr lang="en-US"/>
              <a:t>Happy to take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30985-CD90-E85B-F65C-16DBB2512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53E180-1CE0-B1FE-1F6B-5A5ABD31E19C}"/>
              </a:ext>
            </a:extLst>
          </p:cNvPr>
          <p:cNvSpPr/>
          <p:nvPr/>
        </p:nvSpPr>
        <p:spPr>
          <a:xfrm>
            <a:off x="822960" y="378702"/>
            <a:ext cx="339535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>SHOPTALK TOPIC</a:t>
            </a:r>
            <a:r>
              <a:rPr lang="en-IN" b="1" kern="0" spc="400" dirty="0">
                <a:solidFill>
                  <a:srgbClr val="2DD4BF"/>
                </a:solidFill>
                <a:latin typeface="Courier New" pitchFamily="34" charset="0"/>
                <a:cs typeface="Courier New" pitchFamily="34" charset="-120"/>
              </a:rPr>
              <a:t>👇</a:t>
            </a:r>
            <a:endParaRPr lang="en-US" sz="1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CF0C98-C55A-1997-A384-151244A4FE59}"/>
              </a:ext>
            </a:extLst>
          </p:cNvPr>
          <p:cNvSpPr/>
          <p:nvPr/>
        </p:nvSpPr>
        <p:spPr>
          <a:xfrm>
            <a:off x="777240" y="1267222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happens when you type a Website URL?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2FF20DF-5F23-0B8A-F660-B30CC73517F5}"/>
              </a:ext>
            </a:extLst>
          </p:cNvPr>
          <p:cNvSpPr/>
          <p:nvPr/>
        </p:nvSpPr>
        <p:spPr>
          <a:xfrm>
            <a:off x="822960" y="313743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from keystroke to pixel — DNS, TCP, TLS, HTTP, and rendering, in under 300 milliseconds.</a:t>
            </a:r>
            <a:endParaRPr lang="en-US" sz="1500" dirty="0"/>
          </a:p>
        </p:txBody>
      </p:sp>
      <p:sp>
        <p:nvSpPr>
          <p:cNvPr id="6" name="pipeline_line">
            <a:extLst>
              <a:ext uri="{FF2B5EF4-FFF2-40B4-BE49-F238E27FC236}">
                <a16:creationId xmlns:a16="http://schemas.microsoft.com/office/drawing/2014/main" id="{B58FA11F-DCFF-55C9-F481-636BC07191BD}"/>
              </a:ext>
            </a:extLst>
          </p:cNvPr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node_0">
            <a:extLst>
              <a:ext uri="{FF2B5EF4-FFF2-40B4-BE49-F238E27FC236}">
                <a16:creationId xmlns:a16="http://schemas.microsoft.com/office/drawing/2014/main" id="{B4A30EC2-9C72-7DFB-F4FB-BB328A163286}"/>
              </a:ext>
            </a:extLst>
          </p:cNvPr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node_label_0">
            <a:extLst>
              <a:ext uri="{FF2B5EF4-FFF2-40B4-BE49-F238E27FC236}">
                <a16:creationId xmlns:a16="http://schemas.microsoft.com/office/drawing/2014/main" id="{443A8988-C1C5-A081-8713-C0A02F2DF99B}"/>
              </a:ext>
            </a:extLst>
          </p:cNvPr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9" name="node_1">
            <a:extLst>
              <a:ext uri="{FF2B5EF4-FFF2-40B4-BE49-F238E27FC236}">
                <a16:creationId xmlns:a16="http://schemas.microsoft.com/office/drawing/2014/main" id="{2C61D9A0-9DCF-CE14-BB60-0FC6AD161786}"/>
              </a:ext>
            </a:extLst>
          </p:cNvPr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ode_label_1">
            <a:extLst>
              <a:ext uri="{FF2B5EF4-FFF2-40B4-BE49-F238E27FC236}">
                <a16:creationId xmlns:a16="http://schemas.microsoft.com/office/drawing/2014/main" id="{C01F8BF7-A0AF-0A65-F75A-32FFFCF6697C}"/>
              </a:ext>
            </a:extLst>
          </p:cNvPr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11" name="node_2">
            <a:extLst>
              <a:ext uri="{FF2B5EF4-FFF2-40B4-BE49-F238E27FC236}">
                <a16:creationId xmlns:a16="http://schemas.microsoft.com/office/drawing/2014/main" id="{1A897A15-6E14-A400-BF6B-58BAA0814CAC}"/>
              </a:ext>
            </a:extLst>
          </p:cNvPr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node_label_2">
            <a:extLst>
              <a:ext uri="{FF2B5EF4-FFF2-40B4-BE49-F238E27FC236}">
                <a16:creationId xmlns:a16="http://schemas.microsoft.com/office/drawing/2014/main" id="{92379ADF-3FCD-0A7F-E120-E49F601A2A1D}"/>
              </a:ext>
            </a:extLst>
          </p:cNvPr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13" name="node_3">
            <a:extLst>
              <a:ext uri="{FF2B5EF4-FFF2-40B4-BE49-F238E27FC236}">
                <a16:creationId xmlns:a16="http://schemas.microsoft.com/office/drawing/2014/main" id="{2C3FCBDF-6C8C-FD6E-2447-C8863CDD396E}"/>
              </a:ext>
            </a:extLst>
          </p:cNvPr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node_label_3">
            <a:extLst>
              <a:ext uri="{FF2B5EF4-FFF2-40B4-BE49-F238E27FC236}">
                <a16:creationId xmlns:a16="http://schemas.microsoft.com/office/drawing/2014/main" id="{6210A9A1-7B41-A437-7B41-50EFF8B6D9C1}"/>
              </a:ext>
            </a:extLst>
          </p:cNvPr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15" name="node_4">
            <a:extLst>
              <a:ext uri="{FF2B5EF4-FFF2-40B4-BE49-F238E27FC236}">
                <a16:creationId xmlns:a16="http://schemas.microsoft.com/office/drawing/2014/main" id="{183ABDE9-E88F-DF98-FA13-1F1B4AF24D22}"/>
              </a:ext>
            </a:extLst>
          </p:cNvPr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ode_label_4">
            <a:extLst>
              <a:ext uri="{FF2B5EF4-FFF2-40B4-BE49-F238E27FC236}">
                <a16:creationId xmlns:a16="http://schemas.microsoft.com/office/drawing/2014/main" id="{AC8D21E9-7244-10A8-50B3-E08A5789DE6C}"/>
              </a:ext>
            </a:extLst>
          </p:cNvPr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17" name="node_5">
            <a:extLst>
              <a:ext uri="{FF2B5EF4-FFF2-40B4-BE49-F238E27FC236}">
                <a16:creationId xmlns:a16="http://schemas.microsoft.com/office/drawing/2014/main" id="{F475BEAC-437E-2C19-DE6C-671516CCC033}"/>
              </a:ext>
            </a:extLst>
          </p:cNvPr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5">
            <a:extLst>
              <a:ext uri="{FF2B5EF4-FFF2-40B4-BE49-F238E27FC236}">
                <a16:creationId xmlns:a16="http://schemas.microsoft.com/office/drawing/2014/main" id="{ABEECE83-72AC-12C4-17E4-67CC98F2B1CB}"/>
              </a:ext>
            </a:extLst>
          </p:cNvPr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19" name="node_6">
            <a:extLst>
              <a:ext uri="{FF2B5EF4-FFF2-40B4-BE49-F238E27FC236}">
                <a16:creationId xmlns:a16="http://schemas.microsoft.com/office/drawing/2014/main" id="{6655EEB1-B26C-B445-0FFF-9433EB7EC163}"/>
              </a:ext>
            </a:extLst>
          </p:cNvPr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6">
            <a:extLst>
              <a:ext uri="{FF2B5EF4-FFF2-40B4-BE49-F238E27FC236}">
                <a16:creationId xmlns:a16="http://schemas.microsoft.com/office/drawing/2014/main" id="{12FAD943-7D7A-396F-0B70-C7360196E9BC}"/>
              </a:ext>
            </a:extLst>
          </p:cNvPr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21" name="node_7">
            <a:extLst>
              <a:ext uri="{FF2B5EF4-FFF2-40B4-BE49-F238E27FC236}">
                <a16:creationId xmlns:a16="http://schemas.microsoft.com/office/drawing/2014/main" id="{456277E3-8E58-B81F-DF4B-A5DB8A508BE5}"/>
              </a:ext>
            </a:extLst>
          </p:cNvPr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7">
            <a:extLst>
              <a:ext uri="{FF2B5EF4-FFF2-40B4-BE49-F238E27FC236}">
                <a16:creationId xmlns:a16="http://schemas.microsoft.com/office/drawing/2014/main" id="{BD76C95B-97FD-4154-4AA7-1043E8A9A412}"/>
              </a:ext>
            </a:extLst>
          </p:cNvPr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6B4BC9-56E6-0AFE-016B-A7E5D9EECA5A}"/>
              </a:ext>
            </a:extLst>
          </p:cNvPr>
          <p:cNvSpPr txBox="1"/>
          <p:nvPr/>
        </p:nvSpPr>
        <p:spPr>
          <a:xfrm>
            <a:off x="941832" y="3891675"/>
            <a:ext cx="91884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: Ayush Prasad</a:t>
            </a:r>
          </a:p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Token no. : RNTC0825030</a:t>
            </a:r>
          </a:p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Section : C2</a:t>
            </a:r>
          </a:p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Course : Computer Engineering &amp; IT Infrastructure</a:t>
            </a:r>
          </a:p>
          <a:p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Centre : RD Tata Technical Education Centre, </a:t>
            </a:r>
            <a:r>
              <a:rPr lang="en-IN" b="1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Golmuri</a:t>
            </a:r>
            <a:r>
              <a:rPr lang="en-IN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Jamshedpur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3377149-264A-9255-D804-AC7B88D9D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1987C4D-FC24-4FC8-DD1F-EE57427C7828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  <p:extLst>
      <p:ext uri="{BB962C8B-B14F-4D97-AF65-F5344CB8AC3E}">
        <p14:creationId xmlns:p14="http://schemas.microsoft.com/office/powerpoint/2010/main" val="2774279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 Stages, One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1965960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URL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2549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82549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8503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368503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00200" y="368503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54456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00200" y="454456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9659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55080" y="19659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32320" y="1965960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2825496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080" y="2825496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32320" y="282549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3685032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55080" y="368503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368503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4544568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55080" y="454456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E6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32320" y="454456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Page</a:t>
            </a:r>
            <a:endParaRPr lang="en-US" sz="1600" dirty="0"/>
          </a:p>
        </p:txBody>
      </p:sp>
      <p:sp>
        <p:nvSpPr>
          <p:cNvPr id="28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31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33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35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37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39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41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43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7DA84236-0ADA-7265-B08A-E8467F64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F92546F-7931-34FA-40E1-3B94C2150067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0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eyebrow_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Parse the URL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splits the string into scheme, host, port, path, and query — https://shop.example.com/cart?id=42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HSTS preload list to force HTTPS, and checks browser cache / autocomplete history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ambiguous input may be treated as a search query instead of an address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malformed URL never leaves the browser — no network call is made at all.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850392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764C271-7E9C-A2CF-6BB2-BF7F02C24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8033B2E-94A2-4632-49FA-08A429143AD9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1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eyebrow_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DNS Resolution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 its own cache, then the OS cache, then the router — a hostname the browser already knows costs nothing here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unresolved, a recursive resolver (often the ISP or 1.1.1.1 / 8.8.8.8) walks root → TLD → authoritative nameserver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an A/AAAA record (an IP address); the result is cached for the record's TTL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 root server addresses are anycast — hundreds of physical machines worldwide.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287306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87AAB2A-A356-6298-0F17-2EBA068747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7BB8A83-8E7F-1B93-4B9D-72D4D0CDC690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2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0000" dirty="0"/>
          </a:p>
        </p:txBody>
      </p:sp>
      <p:sp>
        <p:nvSpPr>
          <p:cNvPr id="3" name="eyebrow_2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TCP Handshake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 socket to the server's IP on port 443 (or 80)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handshake — SYN, then SYN-ACK, then ACK — establishes a reliable, ordered connection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round trip alone can cost 20-150ms depending on physical distance to the server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handshake adds one full round trip before a single byte of data moves.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724221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31540F3-7474-D7D9-49BA-D2E384D1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DBD280D-4CF0-95B0-789E-FE012992B894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3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0000" dirty="0"/>
          </a:p>
        </p:txBody>
      </p:sp>
      <p:sp>
        <p:nvSpPr>
          <p:cNvPr id="3" name="eyebrow_3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TLS Handshake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ClientHello / ServerHello negotiate a TLS version and cipher suite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presents its certificate; the browser validates the chain up to a trusted root CA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exchange derives symmetric session keys — everything from here on is encrypted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cut this to one round trip, down from two in TLS 1.2.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161135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4AE39A1-A299-8D28-5FD0-D90E56BEC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13B3CF2-2E79-0AB6-4308-58A7DC974E2F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4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0000" dirty="0"/>
          </a:p>
        </p:txBody>
      </p:sp>
      <p:sp>
        <p:nvSpPr>
          <p:cNvPr id="3" name="eyebrow_4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HTTP Request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sends a GET request over the now-encrypted channel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travel with it: Host, User-Agent, Cookies, Accept-Encoding, and more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or HTTP/3 can multiplex many requests over the same connection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runs over QUIC, built on UDP instead of TCP, to avoid head-of-line blocking.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598049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CEBD1E8-661F-0A39-3DEF-EA5FB91C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F373883-C8E2-B646-9DAB-A2E904BAA104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5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eyebrow_5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6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Server Processing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balancer routes the request to an available application server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 runs — auth checks, database or cache queries, business rules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assembles a response body: HTML, JSON, or another format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starts right here, at the load balancer.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034963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633E791-F856-FEB7-F311-F1775E1311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8DCCFB3-D143-AAA7-0FE4-CC144DE7370F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6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0000" dirty="0"/>
          </a:p>
        </p:txBody>
      </p:sp>
      <p:sp>
        <p:nvSpPr>
          <p:cNvPr id="3" name="eyebrow_6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7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HTTP Response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 with a status code (200, 301, 404 …), headers, and the body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often compressed (gzip / brotli) and may be served from a CDN edge cache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commonly stays open (keep-alive) so later requests skip the handshake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304 response means ‘your cached copy is still good’ — no body is sent.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471878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05ADDD0-F759-B28B-B59D-DD569C8C5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E81C8ED-CF10-3AA3-FA97-37C17650ABA9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host_7"/>
          <p:cNvSpPr/>
          <p:nvPr/>
        </p:nvSpPr>
        <p:spPr>
          <a:xfrm>
            <a:off x="8595360" y="599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8223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0000" dirty="0"/>
          </a:p>
        </p:txBody>
      </p:sp>
      <p:sp>
        <p:nvSpPr>
          <p:cNvPr id="3" name="eyebrow_7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8 OF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Render the Page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037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209397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parsed into the DOM; CSS is parsed into the CSSOM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+ CSSOM combine into a render tree; layout computes size and position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40080" y="4123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4014216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puts pixels on screen — while JS and remaining assets (images, fonts) load in parallel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686800" y="2148840"/>
            <a:ext cx="2834640" cy="2926080"/>
          </a:xfrm>
          <a:prstGeom prst="roundRect">
            <a:avLst>
              <a:gd name="adj" fmla="val 322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154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2DD4B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TO KNOW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3291840"/>
            <a:ext cx="2606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rendering path is the single biggest target for front-end performance work.</a:t>
            </a:r>
            <a:endParaRPr lang="en-US" sz="1350" dirty="0"/>
          </a:p>
        </p:txBody>
      </p:sp>
      <p:sp>
        <p:nvSpPr>
          <p:cNvPr id="16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19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21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23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25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27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29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31" name="node_7"/>
          <p:cNvSpPr/>
          <p:nvPr/>
        </p:nvSpPr>
        <p:spPr>
          <a:xfrm>
            <a:off x="10908792" y="5788152"/>
            <a:ext cx="402336" cy="402336"/>
          </a:xfrm>
          <a:prstGeom prst="ellipse">
            <a:avLst/>
          </a:prstGeom>
          <a:solidFill>
            <a:srgbClr val="FBBF24"/>
          </a:solidFill>
          <a:ln w="19050">
            <a:solidFill>
              <a:srgbClr val="FBBF24"/>
            </a:solidFill>
            <a:prstDash val="solid"/>
          </a:ln>
          <a:effectLst>
            <a:outerShdw blurRad="127000" dist="50800" dir="16200000" algn="bl" rotWithShape="0">
              <a:srgbClr val="FBBF24">
                <a:alpha val="5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5E475B8-5BBD-1BB8-AE41-E506BBF0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ADB0A03-4B44-F76C-B4CF-DB7DD4F38CE3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CIRCLE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Request, End to 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elapsed time for all eight stages: typically 100–300ms.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URL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66160" y="233172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7706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309360" y="233172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7706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Handshake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0" y="21488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052560" y="233172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5256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52560" y="27706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Handshake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886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0799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3886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566160" y="406908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56616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450799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26480" y="3886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309360" y="406908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50799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869680" y="3886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21A2E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9052560" y="4069080"/>
            <a:ext cx="329184" cy="329184"/>
          </a:xfrm>
          <a:prstGeom prst="ellipse">
            <a:avLst/>
          </a:prstGeom>
          <a:solidFill>
            <a:srgbClr val="1B6E63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05256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52560" y="450799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Page</a:t>
            </a:r>
            <a:endParaRPr lang="en-US" sz="1300" dirty="0"/>
          </a:p>
        </p:txBody>
      </p:sp>
      <p:sp>
        <p:nvSpPr>
          <p:cNvPr id="37" name="pipeline_line"/>
          <p:cNvSpPr/>
          <p:nvPr/>
        </p:nvSpPr>
        <p:spPr>
          <a:xfrm>
            <a:off x="1051560" y="5989320"/>
            <a:ext cx="10058400" cy="0"/>
          </a:xfrm>
          <a:prstGeom prst="line">
            <a:avLst/>
          </a:prstGeom>
          <a:noFill/>
          <a:ln w="1905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node_0"/>
          <p:cNvSpPr/>
          <p:nvPr/>
        </p:nvSpPr>
        <p:spPr>
          <a:xfrm>
            <a:off x="9418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node_label_0"/>
          <p:cNvSpPr/>
          <p:nvPr/>
        </p:nvSpPr>
        <p:spPr>
          <a:xfrm>
            <a:off x="5943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900" dirty="0"/>
          </a:p>
        </p:txBody>
      </p:sp>
      <p:sp>
        <p:nvSpPr>
          <p:cNvPr id="40" name="node_1"/>
          <p:cNvSpPr/>
          <p:nvPr/>
        </p:nvSpPr>
        <p:spPr>
          <a:xfrm>
            <a:off x="2378746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node_label_1"/>
          <p:cNvSpPr/>
          <p:nvPr/>
        </p:nvSpPr>
        <p:spPr>
          <a:xfrm>
            <a:off x="2031274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900" dirty="0"/>
          </a:p>
        </p:txBody>
      </p:sp>
      <p:sp>
        <p:nvSpPr>
          <p:cNvPr id="42" name="node_2"/>
          <p:cNvSpPr/>
          <p:nvPr/>
        </p:nvSpPr>
        <p:spPr>
          <a:xfrm>
            <a:off x="3815661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node_label_2"/>
          <p:cNvSpPr/>
          <p:nvPr/>
        </p:nvSpPr>
        <p:spPr>
          <a:xfrm>
            <a:off x="3468189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900" dirty="0"/>
          </a:p>
        </p:txBody>
      </p:sp>
      <p:sp>
        <p:nvSpPr>
          <p:cNvPr id="44" name="node_3"/>
          <p:cNvSpPr/>
          <p:nvPr/>
        </p:nvSpPr>
        <p:spPr>
          <a:xfrm>
            <a:off x="5252575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node_label_3"/>
          <p:cNvSpPr/>
          <p:nvPr/>
        </p:nvSpPr>
        <p:spPr>
          <a:xfrm>
            <a:off x="4905103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</a:t>
            </a:r>
            <a:endParaRPr lang="en-US" sz="900" dirty="0"/>
          </a:p>
        </p:txBody>
      </p:sp>
      <p:sp>
        <p:nvSpPr>
          <p:cNvPr id="46" name="node_4"/>
          <p:cNvSpPr/>
          <p:nvPr/>
        </p:nvSpPr>
        <p:spPr>
          <a:xfrm>
            <a:off x="6689489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node_label_4"/>
          <p:cNvSpPr/>
          <p:nvPr/>
        </p:nvSpPr>
        <p:spPr>
          <a:xfrm>
            <a:off x="6342017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900" dirty="0"/>
          </a:p>
        </p:txBody>
      </p:sp>
      <p:sp>
        <p:nvSpPr>
          <p:cNvPr id="48" name="node_5"/>
          <p:cNvSpPr/>
          <p:nvPr/>
        </p:nvSpPr>
        <p:spPr>
          <a:xfrm>
            <a:off x="8126403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node_label_5"/>
          <p:cNvSpPr/>
          <p:nvPr/>
        </p:nvSpPr>
        <p:spPr>
          <a:xfrm>
            <a:off x="7778931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SRV</a:t>
            </a:r>
            <a:endParaRPr lang="en-US" sz="900" dirty="0"/>
          </a:p>
        </p:txBody>
      </p:sp>
      <p:sp>
        <p:nvSpPr>
          <p:cNvPr id="50" name="node_6"/>
          <p:cNvSpPr/>
          <p:nvPr/>
        </p:nvSpPr>
        <p:spPr>
          <a:xfrm>
            <a:off x="9563318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node_label_6"/>
          <p:cNvSpPr/>
          <p:nvPr/>
        </p:nvSpPr>
        <p:spPr>
          <a:xfrm>
            <a:off x="9215846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900" dirty="0"/>
          </a:p>
        </p:txBody>
      </p:sp>
      <p:sp>
        <p:nvSpPr>
          <p:cNvPr id="52" name="node_7"/>
          <p:cNvSpPr/>
          <p:nvPr/>
        </p:nvSpPr>
        <p:spPr>
          <a:xfrm>
            <a:off x="11000232" y="5879592"/>
            <a:ext cx="219456" cy="219456"/>
          </a:xfrm>
          <a:prstGeom prst="ellipse">
            <a:avLst/>
          </a:prstGeom>
          <a:solidFill>
            <a:srgbClr val="182238"/>
          </a:solidFill>
          <a:ln w="12700">
            <a:solidFill>
              <a:srgbClr val="2632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node_label_7"/>
          <p:cNvSpPr/>
          <p:nvPr/>
        </p:nvSpPr>
        <p:spPr>
          <a:xfrm>
            <a:off x="10652760" y="6135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</a:t>
            </a:r>
            <a:endParaRPr lang="en-US" sz="9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0980D48F-6AC3-213D-09F0-B0F526D140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288C8CF-7D6B-9477-3078-B382B625E067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4F7F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A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following the request all the way from keystroke to pixel.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6E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 yourself: open DevTools → Network tab → reload any page.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FF6FD0-ECD4-B741-698C-6EF880D466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494"/>
          <a:stretch>
            <a:fillRect/>
          </a:stretch>
        </p:blipFill>
        <p:spPr>
          <a:xfrm>
            <a:off x="10195270" y="77461"/>
            <a:ext cx="2003842" cy="510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85BD26-17EA-E6CD-C97F-34E5A60459BD}"/>
              </a:ext>
            </a:extLst>
          </p:cNvPr>
          <p:cNvSpPr txBox="1"/>
          <p:nvPr/>
        </p:nvSpPr>
        <p:spPr>
          <a:xfrm>
            <a:off x="10154630" y="592048"/>
            <a:ext cx="2003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b="1" dirty="0">
                <a:solidFill>
                  <a:schemeClr val="bg1"/>
                </a:solidFill>
              </a:rPr>
              <a:t>Securing your Future with your own Hands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2024</Words>
  <Application>Microsoft Office PowerPoint</Application>
  <PresentationFormat>Widescreen</PresentationFormat>
  <Paragraphs>244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Prasad</cp:lastModifiedBy>
  <cp:revision>2</cp:revision>
  <dcterms:created xsi:type="dcterms:W3CDTF">2026-08-26T08:41:42Z</dcterms:created>
  <dcterms:modified xsi:type="dcterms:W3CDTF">2026-08-26T10:00:30Z</dcterms:modified>
</cp:coreProperties>
</file>