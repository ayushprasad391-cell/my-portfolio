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Lst>
  <p:sldSz cx="18288000" cy="10287000"/>
  <p:notesSz cx="6858000" cy="9144000"/>
  <p:embeddedFontLst>
    <p:embeddedFont>
      <p:font typeface="Anton" pitchFamily="2" charset="0"/>
      <p:regular r:id="rId15"/>
    </p:embeddedFont>
    <p:embeddedFont>
      <p:font typeface="Bodoni MT" panose="02070603080606020203" pitchFamily="18" charset="0"/>
      <p:regular r:id="rId16"/>
      <p:bold r:id="rId17"/>
      <p:italic r:id="rId18"/>
      <p:boldItalic r:id="rId19"/>
    </p:embeddedFont>
    <p:embeddedFont>
      <p:font typeface="Copperplate Gothic 32 AB Bold" panose="020B0604020202020204" charset="0"/>
      <p:regular r:id="rId20"/>
    </p:embeddedFont>
    <p:embeddedFont>
      <p:font typeface="Norwester" panose="020B0604020202020204" charset="0"/>
      <p:regular r:id="rId21"/>
    </p:embeddedFont>
    <p:embeddedFont>
      <p:font typeface="Playwrite US Modern"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1D23B2-B508-4415-A725-4456A2F15995}" type="datetimeFigureOut">
              <a:rPr lang="en-IN" smtClean="0"/>
              <a:t>21-04-2026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66FEDF-6B0E-4A89-84E6-D2033000F8ED}" type="slidenum">
              <a:rPr lang="en-IN" smtClean="0"/>
              <a:t>‹#›</a:t>
            </a:fld>
            <a:endParaRPr lang="en-IN"/>
          </a:p>
        </p:txBody>
      </p:sp>
    </p:spTree>
    <p:extLst>
      <p:ext uri="{BB962C8B-B14F-4D97-AF65-F5344CB8AC3E}">
        <p14:creationId xmlns:p14="http://schemas.microsoft.com/office/powerpoint/2010/main" val="1391893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afternoon </a:t>
            </a:r>
            <a:r>
              <a:rPr lang="en-US" dirty="0"/>
              <a:t>everyone. My name is Ayush Prasad, and today I'll be presenting on one of the most exciting frontiers in technology — the evolution of wireless communication from 5G to the upcoming 6G. This is a topic that will shape everything from how we browse the internet to how surgeons perform operations from across the world.</a:t>
            </a:r>
            <a:endParaRPr lang="en-IN" dirty="0"/>
          </a:p>
        </p:txBody>
      </p:sp>
      <p:sp>
        <p:nvSpPr>
          <p:cNvPr id="4" name="Slide Number Placeholder 3"/>
          <p:cNvSpPr>
            <a:spLocks noGrp="1"/>
          </p:cNvSpPr>
          <p:nvPr>
            <p:ph type="sldNum" sz="quarter" idx="5"/>
          </p:nvPr>
        </p:nvSpPr>
        <p:spPr/>
        <p:txBody>
          <a:bodyPr/>
          <a:lstStyle/>
          <a:p>
            <a:fld id="{CA66FEDF-6B0E-4A89-84E6-D2033000F8ED}" type="slidenum">
              <a:rPr lang="en-IN" smtClean="0"/>
              <a:t>1</a:t>
            </a:fld>
            <a:endParaRPr lang="en-IN"/>
          </a:p>
        </p:txBody>
      </p:sp>
    </p:spTree>
    <p:extLst>
      <p:ext uri="{BB962C8B-B14F-4D97-AF65-F5344CB8AC3E}">
        <p14:creationId xmlns:p14="http://schemas.microsoft.com/office/powerpoint/2010/main" val="1893304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Wireless communication has come a long way. From the days of simple voice calls, we now have networks that connect billions of devices at lightning speed. Even as 5G is still being rolled out globally, researchers are already designing its successor — 6G. 6G is expected to support applications we can barely imagine today: real-time holograms, remote robotic surgery, and fully immersive digital environments. This presentation will walk you through how we got here and where we're headed.</a:t>
            </a:r>
            <a:endParaRPr lang="en-IN" dirty="0"/>
          </a:p>
        </p:txBody>
      </p:sp>
      <p:sp>
        <p:nvSpPr>
          <p:cNvPr id="4" name="Slide Number Placeholder 3"/>
          <p:cNvSpPr>
            <a:spLocks noGrp="1"/>
          </p:cNvSpPr>
          <p:nvPr>
            <p:ph type="sldNum" sz="quarter" idx="5"/>
          </p:nvPr>
        </p:nvSpPr>
        <p:spPr/>
        <p:txBody>
          <a:bodyPr/>
          <a:lstStyle/>
          <a:p>
            <a:fld id="{CA66FEDF-6B0E-4A89-84E6-D2033000F8ED}" type="slidenum">
              <a:rPr lang="en-IN" smtClean="0"/>
              <a:t>2</a:t>
            </a:fld>
            <a:endParaRPr lang="en-IN"/>
          </a:p>
        </p:txBody>
      </p:sp>
    </p:spTree>
    <p:extLst>
      <p:ext uri="{BB962C8B-B14F-4D97-AF65-F5344CB8AC3E}">
        <p14:creationId xmlns:p14="http://schemas.microsoft.com/office/powerpoint/2010/main" val="1862156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generation of wireless technology brought a fundamental shift in what was possible. This isn't just about speed — each G represents a new era of human communication and interaction. We'll look at this journey briefly before diving deeper.</a:t>
            </a:r>
            <a:endParaRPr lang="en-IN" dirty="0"/>
          </a:p>
        </p:txBody>
      </p:sp>
      <p:sp>
        <p:nvSpPr>
          <p:cNvPr id="4" name="Slide Number Placeholder 3"/>
          <p:cNvSpPr>
            <a:spLocks noGrp="1"/>
          </p:cNvSpPr>
          <p:nvPr>
            <p:ph type="sldNum" sz="quarter" idx="5"/>
          </p:nvPr>
        </p:nvSpPr>
        <p:spPr/>
        <p:txBody>
          <a:bodyPr/>
          <a:lstStyle/>
          <a:p>
            <a:fld id="{CA66FEDF-6B0E-4A89-84E6-D2033000F8ED}" type="slidenum">
              <a:rPr lang="en-IN" smtClean="0"/>
              <a:t>3</a:t>
            </a:fld>
            <a:endParaRPr lang="en-IN"/>
          </a:p>
        </p:txBody>
      </p:sp>
    </p:spTree>
    <p:extLst>
      <p:ext uri="{BB962C8B-B14F-4D97-AF65-F5344CB8AC3E}">
        <p14:creationId xmlns:p14="http://schemas.microsoft.com/office/powerpoint/2010/main" val="3322710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1G gave us analog voice. 2G brought digital voice and SMS. 3G opened the door to the mobile internet. 4G made streaming, apps, and always-on connectivity mainstream. 5G, which is being deployed right now, pushes speeds up to 20 Gbps with near-zero latency. And 6G, expected around 2030, aims to be 100 times faster than 5G — creating what researchers call the 'Internet of Everything.</a:t>
            </a:r>
            <a:endParaRPr lang="en-IN" dirty="0"/>
          </a:p>
        </p:txBody>
      </p:sp>
      <p:sp>
        <p:nvSpPr>
          <p:cNvPr id="4" name="Slide Number Placeholder 3"/>
          <p:cNvSpPr>
            <a:spLocks noGrp="1"/>
          </p:cNvSpPr>
          <p:nvPr>
            <p:ph type="sldNum" sz="quarter" idx="5"/>
          </p:nvPr>
        </p:nvSpPr>
        <p:spPr/>
        <p:txBody>
          <a:bodyPr/>
          <a:lstStyle/>
          <a:p>
            <a:fld id="{CA66FEDF-6B0E-4A89-84E6-D2033000F8ED}" type="slidenum">
              <a:rPr lang="en-IN" smtClean="0"/>
              <a:t>4</a:t>
            </a:fld>
            <a:endParaRPr lang="en-IN"/>
          </a:p>
        </p:txBody>
      </p:sp>
    </p:spTree>
    <p:extLst>
      <p:ext uri="{BB962C8B-B14F-4D97-AF65-F5344CB8AC3E}">
        <p14:creationId xmlns:p14="http://schemas.microsoft.com/office/powerpoint/2010/main" val="724101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5G is powered by three key technologies. First, Massive MIMO — using large arrays of antennas to serve many users simultaneously, dramatically improving capacity. Second, millimeter wave spectrum — very high-frequency bands that deliver incredible speeds, though they struggle to penetrate walls and have limited range. Third, network slicing — which allows a single physical network to be divided into multiple virtual networks, each tuned for a specific application like healthcare, gaming, or industrial IoT.</a:t>
            </a:r>
            <a:endParaRPr lang="en-IN" dirty="0"/>
          </a:p>
        </p:txBody>
      </p:sp>
      <p:sp>
        <p:nvSpPr>
          <p:cNvPr id="4" name="Slide Number Placeholder 3"/>
          <p:cNvSpPr>
            <a:spLocks noGrp="1"/>
          </p:cNvSpPr>
          <p:nvPr>
            <p:ph type="sldNum" sz="quarter" idx="5"/>
          </p:nvPr>
        </p:nvSpPr>
        <p:spPr/>
        <p:txBody>
          <a:bodyPr/>
          <a:lstStyle/>
          <a:p>
            <a:fld id="{CA66FEDF-6B0E-4A89-84E6-D2033000F8ED}" type="slidenum">
              <a:rPr lang="en-IN" smtClean="0"/>
              <a:t>5</a:t>
            </a:fld>
            <a:endParaRPr lang="en-IN"/>
          </a:p>
        </p:txBody>
      </p:sp>
    </p:spTree>
    <p:extLst>
      <p:ext uri="{BB962C8B-B14F-4D97-AF65-F5344CB8AC3E}">
        <p14:creationId xmlns:p14="http://schemas.microsoft.com/office/powerpoint/2010/main" val="995639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real-world impact of 5G is already visible. It connects billions of smart devices — from wearables and smart home systems to industrial sensors on factory floors. The ~1 millisecond latency is a game changer for AR and VR, making experiences smooth and immersive enough for professional use cases like surgical training, military simulations, and remote collaboration.</a:t>
            </a:r>
            <a:endParaRPr lang="en-IN" dirty="0"/>
          </a:p>
        </p:txBody>
      </p:sp>
      <p:sp>
        <p:nvSpPr>
          <p:cNvPr id="4" name="Slide Number Placeholder 3"/>
          <p:cNvSpPr>
            <a:spLocks noGrp="1"/>
          </p:cNvSpPr>
          <p:nvPr>
            <p:ph type="sldNum" sz="quarter" idx="5"/>
          </p:nvPr>
        </p:nvSpPr>
        <p:spPr/>
        <p:txBody>
          <a:bodyPr/>
          <a:lstStyle/>
          <a:p>
            <a:fld id="{CA66FEDF-6B0E-4A89-84E6-D2033000F8ED}" type="slidenum">
              <a:rPr lang="en-IN" smtClean="0"/>
              <a:t>6</a:t>
            </a:fld>
            <a:endParaRPr lang="en-IN"/>
          </a:p>
        </p:txBody>
      </p:sp>
    </p:spTree>
    <p:extLst>
      <p:ext uri="{BB962C8B-B14F-4D97-AF65-F5344CB8AC3E}">
        <p14:creationId xmlns:p14="http://schemas.microsoft.com/office/powerpoint/2010/main" val="550092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5G is this powerful, why are we already talking about 6G? Three main reasons. First, data explosion — the number of connected devices is growing exponentially and 5G will eventually hit its capacity ceiling. Second, new requirements — applications like extended reality, holographic calls, and remote surgery demand speeds and latency that even 5G cannot guarantee consistently. Third, sustainability — 6G is being designed from the ground up to be energy efficient, which is critical as global data consumption skyrockets.</a:t>
            </a:r>
            <a:endParaRPr lang="en-IN" dirty="0"/>
          </a:p>
        </p:txBody>
      </p:sp>
      <p:sp>
        <p:nvSpPr>
          <p:cNvPr id="4" name="Slide Number Placeholder 3"/>
          <p:cNvSpPr>
            <a:spLocks noGrp="1"/>
          </p:cNvSpPr>
          <p:nvPr>
            <p:ph type="sldNum" sz="quarter" idx="5"/>
          </p:nvPr>
        </p:nvSpPr>
        <p:spPr/>
        <p:txBody>
          <a:bodyPr/>
          <a:lstStyle/>
          <a:p>
            <a:fld id="{CA66FEDF-6B0E-4A89-84E6-D2033000F8ED}" type="slidenum">
              <a:rPr lang="en-IN" smtClean="0"/>
              <a:t>7</a:t>
            </a:fld>
            <a:endParaRPr lang="en-IN"/>
          </a:p>
        </p:txBody>
      </p:sp>
    </p:spTree>
    <p:extLst>
      <p:ext uri="{BB962C8B-B14F-4D97-AF65-F5344CB8AC3E}">
        <p14:creationId xmlns:p14="http://schemas.microsoft.com/office/powerpoint/2010/main" val="3626876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the performance leap from 5G to 6G. Notice the jump in peak data rate, latency, and connection density. These aren't just incremental improvements — they represent entirely new capabilities that will unlock applications that are simply not viable on today's networks.</a:t>
            </a:r>
            <a:endParaRPr lang="en-IN" dirty="0"/>
          </a:p>
        </p:txBody>
      </p:sp>
      <p:sp>
        <p:nvSpPr>
          <p:cNvPr id="4" name="Slide Number Placeholder 3"/>
          <p:cNvSpPr>
            <a:spLocks noGrp="1"/>
          </p:cNvSpPr>
          <p:nvPr>
            <p:ph type="sldNum" sz="quarter" idx="5"/>
          </p:nvPr>
        </p:nvSpPr>
        <p:spPr/>
        <p:txBody>
          <a:bodyPr/>
          <a:lstStyle/>
          <a:p>
            <a:fld id="{CA66FEDF-6B0E-4A89-84E6-D2033000F8ED}" type="slidenum">
              <a:rPr lang="en-IN" smtClean="0"/>
              <a:t>8</a:t>
            </a:fld>
            <a:endParaRPr lang="en-IN"/>
          </a:p>
        </p:txBody>
      </p:sp>
    </p:spTree>
    <p:extLst>
      <p:ext uri="{BB962C8B-B14F-4D97-AF65-F5344CB8AC3E}">
        <p14:creationId xmlns:p14="http://schemas.microsoft.com/office/powerpoint/2010/main" val="22103063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technologies will define 6G. Terahertz waves operate between 95 GHz and 3 THz — delivering speeds up to 1 terabit per second, ideal for holograms and XR, though the short range is a challenge being actively researched. AI-native architecture means artificial intelligence won't just be a tool on top of the network — it will be baked into the network itself, enabling self-optimization and real-time decision making. Finally, Reconfigurable Intelligent Surfaces — smart panels that reflect and redirect signals to eliminate dead zones and improve coverage, especially in dense urban environments.</a:t>
            </a:r>
            <a:endParaRPr lang="en-IN" dirty="0"/>
          </a:p>
        </p:txBody>
      </p:sp>
      <p:sp>
        <p:nvSpPr>
          <p:cNvPr id="4" name="Slide Number Placeholder 3"/>
          <p:cNvSpPr>
            <a:spLocks noGrp="1"/>
          </p:cNvSpPr>
          <p:nvPr>
            <p:ph type="sldNum" sz="quarter" idx="5"/>
          </p:nvPr>
        </p:nvSpPr>
        <p:spPr/>
        <p:txBody>
          <a:bodyPr/>
          <a:lstStyle/>
          <a:p>
            <a:fld id="{CA66FEDF-6B0E-4A89-84E6-D2033000F8ED}" type="slidenum">
              <a:rPr lang="en-IN" smtClean="0"/>
              <a:t>9</a:t>
            </a:fld>
            <a:endParaRPr lang="en-IN"/>
          </a:p>
        </p:txBody>
      </p:sp>
    </p:spTree>
    <p:extLst>
      <p:ext uri="{BB962C8B-B14F-4D97-AF65-F5344CB8AC3E}">
        <p14:creationId xmlns:p14="http://schemas.microsoft.com/office/powerpoint/2010/main" val="4010229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6G won't arrive without obstacles. The infrastructure cost is enormous — dense small-cell networks are expensive to build and maintain. THz signals are easily absorbed by walls, humidity, and even rain, which limits range. And as AI becomes embedded in networks, the security surface area expands significantly — new zero-trust security frameworks will be essential to protect against increasingly sophisticated cyber threats.</a:t>
            </a:r>
            <a:endParaRPr lang="en-IN" dirty="0"/>
          </a:p>
        </p:txBody>
      </p:sp>
      <p:sp>
        <p:nvSpPr>
          <p:cNvPr id="4" name="Slide Number Placeholder 3"/>
          <p:cNvSpPr>
            <a:spLocks noGrp="1"/>
          </p:cNvSpPr>
          <p:nvPr>
            <p:ph type="sldNum" sz="quarter" idx="5"/>
          </p:nvPr>
        </p:nvSpPr>
        <p:spPr/>
        <p:txBody>
          <a:bodyPr/>
          <a:lstStyle/>
          <a:p>
            <a:fld id="{CA66FEDF-6B0E-4A89-84E6-D2033000F8ED}" type="slidenum">
              <a:rPr lang="en-IN" smtClean="0"/>
              <a:t>10</a:t>
            </a:fld>
            <a:endParaRPr lang="en-IN"/>
          </a:p>
        </p:txBody>
      </p:sp>
    </p:spTree>
    <p:extLst>
      <p:ext uri="{BB962C8B-B14F-4D97-AF65-F5344CB8AC3E}">
        <p14:creationId xmlns:p14="http://schemas.microsoft.com/office/powerpoint/2010/main" val="3386798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 6G is not simply a faster version of 5G. It represents a complete reimagining of connectivity: intelligent, sensor-driven, and deeply integrated into every aspect of our digital lives. Nations like China, South Korea, the US, and the EU are already investing heavily to lead in 6G development. The decisions made in the next decade will determine who leads the global technology landscape in 2030 and beyond. Thank you.</a:t>
            </a:r>
            <a:endParaRPr lang="en-IN" dirty="0"/>
          </a:p>
        </p:txBody>
      </p:sp>
      <p:sp>
        <p:nvSpPr>
          <p:cNvPr id="4" name="Slide Number Placeholder 3"/>
          <p:cNvSpPr>
            <a:spLocks noGrp="1"/>
          </p:cNvSpPr>
          <p:nvPr>
            <p:ph type="sldNum" sz="quarter" idx="5"/>
          </p:nvPr>
        </p:nvSpPr>
        <p:spPr/>
        <p:txBody>
          <a:bodyPr/>
          <a:lstStyle/>
          <a:p>
            <a:fld id="{CA66FEDF-6B0E-4A89-84E6-D2033000F8ED}" type="slidenum">
              <a:rPr lang="en-IN" smtClean="0"/>
              <a:t>11</a:t>
            </a:fld>
            <a:endParaRPr lang="en-IN"/>
          </a:p>
        </p:txBody>
      </p:sp>
    </p:spTree>
    <p:extLst>
      <p:ext uri="{BB962C8B-B14F-4D97-AF65-F5344CB8AC3E}">
        <p14:creationId xmlns:p14="http://schemas.microsoft.com/office/powerpoint/2010/main" val="963438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DF4C45AA-68AC-E534-61F3-6529DCED92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49177" y="6754124"/>
            <a:ext cx="5086162" cy="2519165"/>
          </a:xfrm>
          <a:prstGeom prst="rect">
            <a:avLst/>
          </a:prstGeom>
        </p:spPr>
      </p:pic>
      <p:sp>
        <p:nvSpPr>
          <p:cNvPr id="2" name="AutoShape 2"/>
          <p:cNvSpPr/>
          <p:nvPr/>
        </p:nvSpPr>
        <p:spPr>
          <a:xfrm>
            <a:off x="0" y="120548"/>
            <a:ext cx="18287613" cy="40502"/>
          </a:xfrm>
          <a:prstGeom prst="line">
            <a:avLst/>
          </a:prstGeom>
          <a:ln w="428625" cap="flat">
            <a:solidFill>
              <a:srgbClr val="5CA3FF"/>
            </a:solidFill>
            <a:prstDash val="solid"/>
            <a:headEnd type="none" w="sm" len="sm"/>
            <a:tailEnd type="none" w="sm" len="sm"/>
          </a:ln>
        </p:spPr>
      </p:sp>
      <p:sp>
        <p:nvSpPr>
          <p:cNvPr id="3" name="AutoShape 3"/>
          <p:cNvSpPr/>
          <p:nvPr/>
        </p:nvSpPr>
        <p:spPr>
          <a:xfrm flipH="1">
            <a:off x="161371" y="-40344"/>
            <a:ext cx="53305" cy="10327344"/>
          </a:xfrm>
          <a:prstGeom prst="line">
            <a:avLst/>
          </a:prstGeom>
          <a:ln w="428625" cap="flat">
            <a:solidFill>
              <a:srgbClr val="5CA3FF"/>
            </a:solidFill>
            <a:prstDash val="solid"/>
            <a:headEnd type="none" w="sm" len="sm"/>
            <a:tailEnd type="none" w="sm" len="sm"/>
          </a:ln>
        </p:spPr>
      </p:sp>
      <p:sp>
        <p:nvSpPr>
          <p:cNvPr id="4" name="AutoShape 4"/>
          <p:cNvSpPr/>
          <p:nvPr/>
        </p:nvSpPr>
        <p:spPr>
          <a:xfrm flipV="1">
            <a:off x="376072" y="10072688"/>
            <a:ext cx="17750558" cy="0"/>
          </a:xfrm>
          <a:prstGeom prst="line">
            <a:avLst/>
          </a:prstGeom>
          <a:ln w="428625" cap="flat">
            <a:solidFill>
              <a:srgbClr val="FFA51F"/>
            </a:solidFill>
            <a:prstDash val="solid"/>
            <a:headEnd type="none" w="sm" len="sm"/>
            <a:tailEnd type="none" w="sm" len="sm"/>
          </a:ln>
        </p:spPr>
      </p:sp>
      <p:sp>
        <p:nvSpPr>
          <p:cNvPr id="5" name="AutoShape 5"/>
          <p:cNvSpPr/>
          <p:nvPr/>
        </p:nvSpPr>
        <p:spPr>
          <a:xfrm>
            <a:off x="18073300" y="-59394"/>
            <a:ext cx="38830" cy="10365287"/>
          </a:xfrm>
          <a:prstGeom prst="line">
            <a:avLst/>
          </a:prstGeom>
          <a:ln w="428625" cap="flat">
            <a:solidFill>
              <a:srgbClr val="FFA51F"/>
            </a:solidFill>
            <a:prstDash val="solid"/>
            <a:headEnd type="none" w="sm" len="sm"/>
            <a:tailEnd type="none" w="sm" len="sm"/>
          </a:ln>
        </p:spPr>
      </p:sp>
      <p:grpSp>
        <p:nvGrpSpPr>
          <p:cNvPr id="6" name="Group 6"/>
          <p:cNvGrpSpPr/>
          <p:nvPr/>
        </p:nvGrpSpPr>
        <p:grpSpPr>
          <a:xfrm>
            <a:off x="38806" y="0"/>
            <a:ext cx="989894" cy="1267064"/>
            <a:chOff x="0" y="0"/>
            <a:chExt cx="635000" cy="812800"/>
          </a:xfrm>
        </p:grpSpPr>
        <p:sp>
          <p:nvSpPr>
            <p:cNvPr id="7" name="Freeform 7"/>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FFDE59">
                    <a:alpha val="100000"/>
                  </a:srgbClr>
                </a:gs>
                <a:gs pos="100000">
                  <a:srgbClr val="FF914D">
                    <a:alpha val="100000"/>
                  </a:srgbClr>
                </a:gs>
              </a:gsLst>
              <a:lin ang="0"/>
            </a:gradFill>
          </p:spPr>
        </p:sp>
        <p:sp>
          <p:nvSpPr>
            <p:cNvPr id="8" name="TextBox 8"/>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7298106" y="9019936"/>
            <a:ext cx="989894" cy="1267064"/>
            <a:chOff x="0" y="0"/>
            <a:chExt cx="635000" cy="812800"/>
          </a:xfrm>
        </p:grpSpPr>
        <p:sp>
          <p:nvSpPr>
            <p:cNvPr id="10" name="Freeform 10"/>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5DE0E6">
                    <a:alpha val="100000"/>
                  </a:srgbClr>
                </a:gs>
                <a:gs pos="100000">
                  <a:srgbClr val="004AAD">
                    <a:alpha val="100000"/>
                  </a:srgbClr>
                </a:gs>
              </a:gsLst>
              <a:lin ang="0"/>
            </a:gradFill>
          </p:spPr>
        </p:sp>
        <p:sp>
          <p:nvSpPr>
            <p:cNvPr id="11" name="TextBox 11"/>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3515604" y="495986"/>
            <a:ext cx="4277449" cy="1258472"/>
            <a:chOff x="0" y="0"/>
            <a:chExt cx="5703265" cy="1677962"/>
          </a:xfrm>
        </p:grpSpPr>
        <p:sp>
          <p:nvSpPr>
            <p:cNvPr id="13" name="Freeform 13" descr="F:\F\abdesktop\Logo_NTTF_2019\NTTF Logo_png.png"/>
            <p:cNvSpPr/>
            <p:nvPr/>
          </p:nvSpPr>
          <p:spPr>
            <a:xfrm>
              <a:off x="0" y="0"/>
              <a:ext cx="5703316" cy="1677924"/>
            </a:xfrm>
            <a:custGeom>
              <a:avLst/>
              <a:gdLst/>
              <a:ahLst/>
              <a:cxnLst/>
              <a:rect l="l" t="t" r="r" b="b"/>
              <a:pathLst>
                <a:path w="5703316" h="1677924">
                  <a:moveTo>
                    <a:pt x="0" y="0"/>
                  </a:moveTo>
                  <a:lnTo>
                    <a:pt x="5703316" y="0"/>
                  </a:lnTo>
                  <a:lnTo>
                    <a:pt x="5703316" y="1677924"/>
                  </a:lnTo>
                  <a:lnTo>
                    <a:pt x="0" y="1677924"/>
                  </a:lnTo>
                  <a:lnTo>
                    <a:pt x="0" y="0"/>
                  </a:lnTo>
                  <a:close/>
                </a:path>
              </a:pathLst>
            </a:custGeom>
            <a:blipFill>
              <a:blip r:embed="rId4"/>
              <a:stretch>
                <a:fillRect b="-27371"/>
              </a:stretch>
            </a:blipFill>
          </p:spPr>
        </p:sp>
      </p:grpSp>
      <p:grpSp>
        <p:nvGrpSpPr>
          <p:cNvPr id="14" name="Group 14"/>
          <p:cNvGrpSpPr/>
          <p:nvPr/>
        </p:nvGrpSpPr>
        <p:grpSpPr>
          <a:xfrm>
            <a:off x="2216086" y="6215062"/>
            <a:ext cx="8649043" cy="3538538"/>
            <a:chOff x="0" y="0"/>
            <a:chExt cx="11532058" cy="4718050"/>
          </a:xfrm>
        </p:grpSpPr>
        <p:grpSp>
          <p:nvGrpSpPr>
            <p:cNvPr id="15" name="Group 15"/>
            <p:cNvGrpSpPr/>
            <p:nvPr/>
          </p:nvGrpSpPr>
          <p:grpSpPr>
            <a:xfrm>
              <a:off x="0" y="0"/>
              <a:ext cx="11532058" cy="1066724"/>
              <a:chOff x="0" y="0"/>
              <a:chExt cx="11532058" cy="1066724"/>
            </a:xfrm>
          </p:grpSpPr>
          <p:sp>
            <p:nvSpPr>
              <p:cNvPr id="16" name="Freeform 16"/>
              <p:cNvSpPr/>
              <p:nvPr/>
            </p:nvSpPr>
            <p:spPr>
              <a:xfrm>
                <a:off x="0" y="0"/>
                <a:ext cx="11532058" cy="1066680"/>
              </a:xfrm>
              <a:custGeom>
                <a:avLst/>
                <a:gdLst/>
                <a:ahLst/>
                <a:cxnLst/>
                <a:rect l="l" t="t" r="r" b="b"/>
                <a:pathLst>
                  <a:path w="11532058" h="1066680">
                    <a:moveTo>
                      <a:pt x="0" y="0"/>
                    </a:moveTo>
                    <a:lnTo>
                      <a:pt x="11532058" y="0"/>
                    </a:lnTo>
                    <a:lnTo>
                      <a:pt x="11532058" y="1066680"/>
                    </a:lnTo>
                    <a:lnTo>
                      <a:pt x="0" y="1066680"/>
                    </a:lnTo>
                    <a:close/>
                  </a:path>
                </a:pathLst>
              </a:custGeom>
              <a:solidFill>
                <a:srgbClr val="002060"/>
              </a:solidFill>
              <a:ln w="38100" cap="sq">
                <a:solidFill>
                  <a:srgbClr val="000000"/>
                </a:solidFill>
                <a:prstDash val="solid"/>
                <a:miter/>
              </a:ln>
            </p:spPr>
          </p:sp>
          <p:sp>
            <p:nvSpPr>
              <p:cNvPr id="17" name="TextBox 17"/>
              <p:cNvSpPr txBox="1"/>
              <p:nvPr/>
            </p:nvSpPr>
            <p:spPr>
              <a:xfrm>
                <a:off x="0" y="0"/>
                <a:ext cx="11532058" cy="1066724"/>
              </a:xfrm>
              <a:prstGeom prst="rect">
                <a:avLst/>
              </a:prstGeom>
            </p:spPr>
            <p:txBody>
              <a:bodyPr lIns="50800" tIns="50800" rIns="50800" bIns="50800" rtlCol="0" anchor="t"/>
              <a:lstStyle/>
              <a:p>
                <a:pPr algn="l">
                  <a:lnSpc>
                    <a:spcPts val="4320"/>
                  </a:lnSpc>
                </a:pPr>
                <a:r>
                  <a:rPr lang="en-US" sz="3600">
                    <a:solidFill>
                      <a:srgbClr val="FFFFFF"/>
                    </a:solidFill>
                    <a:latin typeface="Norwester"/>
                    <a:ea typeface="Norwester"/>
                    <a:cs typeface="Norwester"/>
                    <a:sym typeface="Norwester"/>
                  </a:rPr>
                  <a:t>Name:-AYUSH PRASAD</a:t>
                </a:r>
              </a:p>
            </p:txBody>
          </p:sp>
        </p:grpSp>
        <p:grpSp>
          <p:nvGrpSpPr>
            <p:cNvPr id="18" name="Group 18"/>
            <p:cNvGrpSpPr/>
            <p:nvPr/>
          </p:nvGrpSpPr>
          <p:grpSpPr>
            <a:xfrm>
              <a:off x="0" y="1081841"/>
              <a:ext cx="11532058" cy="1066724"/>
              <a:chOff x="0" y="0"/>
              <a:chExt cx="11532058" cy="1066724"/>
            </a:xfrm>
          </p:grpSpPr>
          <p:sp>
            <p:nvSpPr>
              <p:cNvPr id="19" name="Freeform 19"/>
              <p:cNvSpPr/>
              <p:nvPr/>
            </p:nvSpPr>
            <p:spPr>
              <a:xfrm>
                <a:off x="0" y="0"/>
                <a:ext cx="11532058" cy="1066680"/>
              </a:xfrm>
              <a:custGeom>
                <a:avLst/>
                <a:gdLst/>
                <a:ahLst/>
                <a:cxnLst/>
                <a:rect l="l" t="t" r="r" b="b"/>
                <a:pathLst>
                  <a:path w="11532058" h="1066680">
                    <a:moveTo>
                      <a:pt x="0" y="0"/>
                    </a:moveTo>
                    <a:lnTo>
                      <a:pt x="11532058" y="0"/>
                    </a:lnTo>
                    <a:lnTo>
                      <a:pt x="11532058" y="1066680"/>
                    </a:lnTo>
                    <a:lnTo>
                      <a:pt x="0" y="1066680"/>
                    </a:lnTo>
                    <a:close/>
                  </a:path>
                </a:pathLst>
              </a:custGeom>
              <a:solidFill>
                <a:srgbClr val="0070C0"/>
              </a:solidFill>
              <a:ln w="38100" cap="sq">
                <a:solidFill>
                  <a:srgbClr val="000000"/>
                </a:solidFill>
                <a:prstDash val="solid"/>
                <a:miter/>
              </a:ln>
            </p:spPr>
          </p:sp>
          <p:sp>
            <p:nvSpPr>
              <p:cNvPr id="20" name="TextBox 20"/>
              <p:cNvSpPr txBox="1"/>
              <p:nvPr/>
            </p:nvSpPr>
            <p:spPr>
              <a:xfrm>
                <a:off x="0" y="0"/>
                <a:ext cx="11532058" cy="1066724"/>
              </a:xfrm>
              <a:prstGeom prst="rect">
                <a:avLst/>
              </a:prstGeom>
            </p:spPr>
            <p:txBody>
              <a:bodyPr lIns="50800" tIns="50800" rIns="50800" bIns="50800" rtlCol="0" anchor="t"/>
              <a:lstStyle/>
              <a:p>
                <a:pPr algn="l">
                  <a:lnSpc>
                    <a:spcPts val="4320"/>
                  </a:lnSpc>
                </a:pPr>
                <a:r>
                  <a:rPr lang="en-US" sz="3600">
                    <a:solidFill>
                      <a:srgbClr val="FFFFFF"/>
                    </a:solidFill>
                    <a:latin typeface="Norwester"/>
                    <a:ea typeface="Norwester"/>
                    <a:cs typeface="Norwester"/>
                    <a:sym typeface="Norwester"/>
                  </a:rPr>
                  <a:t>Course:- COMPUTER SCIENCE</a:t>
                </a:r>
              </a:p>
            </p:txBody>
          </p:sp>
        </p:grpSp>
        <p:grpSp>
          <p:nvGrpSpPr>
            <p:cNvPr id="21" name="Group 21"/>
            <p:cNvGrpSpPr/>
            <p:nvPr/>
          </p:nvGrpSpPr>
          <p:grpSpPr>
            <a:xfrm>
              <a:off x="0" y="2043659"/>
              <a:ext cx="11532058" cy="1062137"/>
              <a:chOff x="0" y="0"/>
              <a:chExt cx="11532058" cy="1062137"/>
            </a:xfrm>
          </p:grpSpPr>
          <p:sp>
            <p:nvSpPr>
              <p:cNvPr id="22" name="Freeform 22"/>
              <p:cNvSpPr/>
              <p:nvPr/>
            </p:nvSpPr>
            <p:spPr>
              <a:xfrm>
                <a:off x="0" y="0"/>
                <a:ext cx="11532058" cy="1062093"/>
              </a:xfrm>
              <a:custGeom>
                <a:avLst/>
                <a:gdLst/>
                <a:ahLst/>
                <a:cxnLst/>
                <a:rect l="l" t="t" r="r" b="b"/>
                <a:pathLst>
                  <a:path w="11532058" h="1062093">
                    <a:moveTo>
                      <a:pt x="0" y="0"/>
                    </a:moveTo>
                    <a:lnTo>
                      <a:pt x="11532058" y="0"/>
                    </a:lnTo>
                    <a:lnTo>
                      <a:pt x="11532058" y="1062093"/>
                    </a:lnTo>
                    <a:lnTo>
                      <a:pt x="0" y="1062093"/>
                    </a:lnTo>
                    <a:close/>
                  </a:path>
                </a:pathLst>
              </a:custGeom>
              <a:solidFill>
                <a:srgbClr val="00B0F0"/>
              </a:solidFill>
              <a:ln w="38100" cap="sq">
                <a:solidFill>
                  <a:srgbClr val="000000"/>
                </a:solidFill>
                <a:prstDash val="solid"/>
                <a:miter/>
              </a:ln>
            </p:spPr>
          </p:sp>
          <p:sp>
            <p:nvSpPr>
              <p:cNvPr id="23" name="TextBox 23"/>
              <p:cNvSpPr txBox="1"/>
              <p:nvPr/>
            </p:nvSpPr>
            <p:spPr>
              <a:xfrm>
                <a:off x="0" y="0"/>
                <a:ext cx="11532058" cy="1062137"/>
              </a:xfrm>
              <a:prstGeom prst="rect">
                <a:avLst/>
              </a:prstGeom>
            </p:spPr>
            <p:txBody>
              <a:bodyPr lIns="50800" tIns="50800" rIns="50800" bIns="50800" rtlCol="0" anchor="t"/>
              <a:lstStyle/>
              <a:p>
                <a:pPr algn="l">
                  <a:lnSpc>
                    <a:spcPts val="4320"/>
                  </a:lnSpc>
                </a:pPr>
                <a:r>
                  <a:rPr lang="en-US" sz="3600">
                    <a:solidFill>
                      <a:srgbClr val="FFFFFF"/>
                    </a:solidFill>
                    <a:latin typeface="Norwester"/>
                    <a:ea typeface="Norwester"/>
                    <a:cs typeface="Norwester"/>
                    <a:sym typeface="Norwester"/>
                  </a:rPr>
                  <a:t>Section:- C1</a:t>
                </a:r>
              </a:p>
            </p:txBody>
          </p:sp>
        </p:grpSp>
        <p:grpSp>
          <p:nvGrpSpPr>
            <p:cNvPr id="24" name="Group 24"/>
            <p:cNvGrpSpPr/>
            <p:nvPr/>
          </p:nvGrpSpPr>
          <p:grpSpPr>
            <a:xfrm>
              <a:off x="0" y="3103764"/>
              <a:ext cx="11532058" cy="1614286"/>
              <a:chOff x="0" y="0"/>
              <a:chExt cx="11532058" cy="1614286"/>
            </a:xfrm>
          </p:grpSpPr>
          <p:sp>
            <p:nvSpPr>
              <p:cNvPr id="25" name="Freeform 25"/>
              <p:cNvSpPr/>
              <p:nvPr/>
            </p:nvSpPr>
            <p:spPr>
              <a:xfrm>
                <a:off x="0" y="0"/>
                <a:ext cx="11532058" cy="1614219"/>
              </a:xfrm>
              <a:custGeom>
                <a:avLst/>
                <a:gdLst/>
                <a:ahLst/>
                <a:cxnLst/>
                <a:rect l="l" t="t" r="r" b="b"/>
                <a:pathLst>
                  <a:path w="11532058" h="1614219">
                    <a:moveTo>
                      <a:pt x="0" y="0"/>
                    </a:moveTo>
                    <a:lnTo>
                      <a:pt x="11532058" y="0"/>
                    </a:lnTo>
                    <a:lnTo>
                      <a:pt x="11532058" y="1614219"/>
                    </a:lnTo>
                    <a:lnTo>
                      <a:pt x="0" y="1614219"/>
                    </a:lnTo>
                    <a:close/>
                  </a:path>
                </a:pathLst>
              </a:custGeom>
              <a:solidFill>
                <a:srgbClr val="8FAADC"/>
              </a:solidFill>
              <a:ln w="38100" cap="sq">
                <a:solidFill>
                  <a:srgbClr val="000000"/>
                </a:solidFill>
                <a:prstDash val="solid"/>
                <a:miter/>
              </a:ln>
            </p:spPr>
          </p:sp>
          <p:sp>
            <p:nvSpPr>
              <p:cNvPr id="26" name="TextBox 26"/>
              <p:cNvSpPr txBox="1"/>
              <p:nvPr/>
            </p:nvSpPr>
            <p:spPr>
              <a:xfrm>
                <a:off x="0" y="0"/>
                <a:ext cx="11532058" cy="1614286"/>
              </a:xfrm>
              <a:prstGeom prst="rect">
                <a:avLst/>
              </a:prstGeom>
            </p:spPr>
            <p:txBody>
              <a:bodyPr lIns="50800" tIns="50800" rIns="50800" bIns="50800" rtlCol="0" anchor="t"/>
              <a:lstStyle/>
              <a:p>
                <a:pPr algn="l">
                  <a:lnSpc>
                    <a:spcPts val="3840"/>
                  </a:lnSpc>
                </a:pPr>
                <a:r>
                  <a:rPr lang="en-US" sz="3200">
                    <a:solidFill>
                      <a:srgbClr val="FFFFFF"/>
                    </a:solidFill>
                    <a:latin typeface="Norwester"/>
                    <a:ea typeface="Norwester"/>
                    <a:cs typeface="Norwester"/>
                    <a:sym typeface="Norwester"/>
                  </a:rPr>
                  <a:t>Centre:- RD TATA TECHNICAL EDUCATION CENTRE,NTTF </a:t>
                </a:r>
              </a:p>
            </p:txBody>
          </p:sp>
        </p:grpSp>
      </p:grpSp>
      <p:grpSp>
        <p:nvGrpSpPr>
          <p:cNvPr id="27" name="Group 27"/>
          <p:cNvGrpSpPr/>
          <p:nvPr/>
        </p:nvGrpSpPr>
        <p:grpSpPr>
          <a:xfrm>
            <a:off x="2729981" y="2333314"/>
            <a:ext cx="7301878" cy="2998805"/>
            <a:chOff x="0" y="0"/>
            <a:chExt cx="1147364" cy="471210"/>
          </a:xfrm>
        </p:grpSpPr>
        <p:sp>
          <p:nvSpPr>
            <p:cNvPr id="28" name="Freeform 28"/>
            <p:cNvSpPr/>
            <p:nvPr/>
          </p:nvSpPr>
          <p:spPr>
            <a:xfrm>
              <a:off x="0" y="0"/>
              <a:ext cx="1147364" cy="471210"/>
            </a:xfrm>
            <a:custGeom>
              <a:avLst/>
              <a:gdLst/>
              <a:ahLst/>
              <a:cxnLst/>
              <a:rect l="l" t="t" r="r" b="b"/>
              <a:pathLst>
                <a:path w="1147364" h="471210">
                  <a:moveTo>
                    <a:pt x="944164" y="0"/>
                  </a:moveTo>
                  <a:cubicBezTo>
                    <a:pt x="1056388" y="0"/>
                    <a:pt x="1147364" y="105484"/>
                    <a:pt x="1147364" y="235605"/>
                  </a:cubicBezTo>
                  <a:cubicBezTo>
                    <a:pt x="1147364" y="365726"/>
                    <a:pt x="1056388" y="471210"/>
                    <a:pt x="944164" y="471210"/>
                  </a:cubicBezTo>
                  <a:lnTo>
                    <a:pt x="203200" y="471210"/>
                  </a:lnTo>
                  <a:cubicBezTo>
                    <a:pt x="90976" y="471210"/>
                    <a:pt x="0" y="365726"/>
                    <a:pt x="0" y="235605"/>
                  </a:cubicBezTo>
                  <a:cubicBezTo>
                    <a:pt x="0" y="105484"/>
                    <a:pt x="90976" y="0"/>
                    <a:pt x="203200" y="0"/>
                  </a:cubicBezTo>
                  <a:close/>
                </a:path>
              </a:pathLst>
            </a:custGeom>
            <a:solidFill>
              <a:srgbClr val="000000"/>
            </a:solidFill>
          </p:spPr>
        </p:sp>
        <p:sp>
          <p:nvSpPr>
            <p:cNvPr id="29" name="TextBox 29"/>
            <p:cNvSpPr txBox="1"/>
            <p:nvPr/>
          </p:nvSpPr>
          <p:spPr>
            <a:xfrm>
              <a:off x="0" y="-76200"/>
              <a:ext cx="1147364" cy="547410"/>
            </a:xfrm>
            <a:prstGeom prst="rect">
              <a:avLst/>
            </a:prstGeom>
          </p:spPr>
          <p:txBody>
            <a:bodyPr lIns="50800" tIns="50800" rIns="50800" bIns="50800" rtlCol="0" anchor="ctr"/>
            <a:lstStyle/>
            <a:p>
              <a:pPr algn="ctr">
                <a:lnSpc>
                  <a:spcPts val="5179"/>
                </a:lnSpc>
              </a:pPr>
              <a:r>
                <a:rPr lang="en-US" sz="3699" dirty="0">
                  <a:solidFill>
                    <a:srgbClr val="FFFFFF"/>
                  </a:solidFill>
                  <a:latin typeface="Norwester"/>
                  <a:ea typeface="Norwester"/>
                  <a:cs typeface="Norwester"/>
                  <a:sym typeface="Norwester"/>
                </a:rPr>
                <a:t>The Evolution of Wireless Communication: From 5G to 6G</a:t>
              </a:r>
            </a:p>
          </p:txBody>
        </p:sp>
      </p:grpSp>
      <p:grpSp>
        <p:nvGrpSpPr>
          <p:cNvPr id="30" name="Group 30"/>
          <p:cNvGrpSpPr/>
          <p:nvPr/>
        </p:nvGrpSpPr>
        <p:grpSpPr>
          <a:xfrm>
            <a:off x="13515604" y="3061191"/>
            <a:ext cx="3681774" cy="1320090"/>
            <a:chOff x="0" y="0"/>
            <a:chExt cx="969685" cy="347678"/>
          </a:xfrm>
        </p:grpSpPr>
        <p:sp>
          <p:nvSpPr>
            <p:cNvPr id="31" name="Freeform 31"/>
            <p:cNvSpPr/>
            <p:nvPr/>
          </p:nvSpPr>
          <p:spPr>
            <a:xfrm>
              <a:off x="0" y="0"/>
              <a:ext cx="969685" cy="347678"/>
            </a:xfrm>
            <a:custGeom>
              <a:avLst/>
              <a:gdLst/>
              <a:ahLst/>
              <a:cxnLst/>
              <a:rect l="l" t="t" r="r" b="b"/>
              <a:pathLst>
                <a:path w="969685" h="347678">
                  <a:moveTo>
                    <a:pt x="766485" y="0"/>
                  </a:moveTo>
                  <a:cubicBezTo>
                    <a:pt x="878710" y="0"/>
                    <a:pt x="969685" y="77830"/>
                    <a:pt x="969685" y="173839"/>
                  </a:cubicBezTo>
                  <a:cubicBezTo>
                    <a:pt x="969685" y="269848"/>
                    <a:pt x="878710" y="347678"/>
                    <a:pt x="766485" y="347678"/>
                  </a:cubicBezTo>
                  <a:lnTo>
                    <a:pt x="203200" y="347678"/>
                  </a:lnTo>
                  <a:cubicBezTo>
                    <a:pt x="90976" y="347678"/>
                    <a:pt x="0" y="269848"/>
                    <a:pt x="0" y="173839"/>
                  </a:cubicBezTo>
                  <a:cubicBezTo>
                    <a:pt x="0" y="77830"/>
                    <a:pt x="90976" y="0"/>
                    <a:pt x="203200" y="0"/>
                  </a:cubicBezTo>
                  <a:close/>
                </a:path>
              </a:pathLst>
            </a:custGeom>
            <a:gradFill rotWithShape="1">
              <a:gsLst>
                <a:gs pos="0">
                  <a:srgbClr val="5DE0E6">
                    <a:alpha val="100000"/>
                  </a:srgbClr>
                </a:gs>
                <a:gs pos="100000">
                  <a:srgbClr val="004AAD">
                    <a:alpha val="100000"/>
                  </a:srgbClr>
                </a:gs>
              </a:gsLst>
              <a:lin ang="0"/>
            </a:gradFill>
          </p:spPr>
        </p:sp>
        <p:sp>
          <p:nvSpPr>
            <p:cNvPr id="32" name="TextBox 32"/>
            <p:cNvSpPr txBox="1"/>
            <p:nvPr/>
          </p:nvSpPr>
          <p:spPr>
            <a:xfrm>
              <a:off x="0" y="-85725"/>
              <a:ext cx="969685" cy="433403"/>
            </a:xfrm>
            <a:prstGeom prst="rect">
              <a:avLst/>
            </a:prstGeom>
          </p:spPr>
          <p:txBody>
            <a:bodyPr lIns="50800" tIns="50800" rIns="50800" bIns="50800" rtlCol="0" anchor="ctr"/>
            <a:lstStyle/>
            <a:p>
              <a:pPr algn="ctr">
                <a:lnSpc>
                  <a:spcPts val="5879"/>
                </a:lnSpc>
              </a:pPr>
              <a:r>
                <a:rPr lang="en-US" sz="4199">
                  <a:solidFill>
                    <a:srgbClr val="FFFFFF"/>
                  </a:solidFill>
                  <a:latin typeface="Anton"/>
                  <a:ea typeface="Anton"/>
                  <a:cs typeface="Anton"/>
                  <a:sym typeface="Anton"/>
                </a:rPr>
                <a:t>APRIL</a:t>
              </a:r>
            </a:p>
          </p:txBody>
        </p:sp>
      </p:grpSp>
      <p:sp>
        <p:nvSpPr>
          <p:cNvPr id="33" name="TextBox 33"/>
          <p:cNvSpPr txBox="1"/>
          <p:nvPr/>
        </p:nvSpPr>
        <p:spPr>
          <a:xfrm>
            <a:off x="1216941" y="889844"/>
            <a:ext cx="10327958" cy="819150"/>
          </a:xfrm>
          <a:prstGeom prst="rect">
            <a:avLst/>
          </a:prstGeom>
        </p:spPr>
        <p:txBody>
          <a:bodyPr lIns="0" tIns="0" rIns="0" bIns="0" rtlCol="0" anchor="t">
            <a:spAutoFit/>
          </a:bodyPr>
          <a:lstStyle/>
          <a:p>
            <a:pPr algn="l">
              <a:lnSpc>
                <a:spcPts val="5759"/>
              </a:lnSpc>
            </a:pPr>
            <a:r>
              <a:rPr lang="en-US" sz="4800" dirty="0">
                <a:solidFill>
                  <a:srgbClr val="FF0000"/>
                </a:solidFill>
                <a:latin typeface="Copperplate Gothic 32 AB Bold"/>
                <a:ea typeface="Copperplate Gothic 32 AB Bold"/>
                <a:cs typeface="Copperplate Gothic 32 AB Bold"/>
                <a:sym typeface="Copperplate Gothic 32 AB Bold"/>
              </a:rPr>
              <a:t>SHOPTALK</a:t>
            </a:r>
            <a:r>
              <a:rPr lang="en-US" sz="4800" dirty="0">
                <a:solidFill>
                  <a:srgbClr val="000000"/>
                </a:solidFill>
                <a:latin typeface="Copperplate Gothic 32 AB Bold"/>
                <a:ea typeface="Copperplate Gothic 32 AB Bold"/>
                <a:cs typeface="Copperplate Gothic 32 AB Bold"/>
                <a:sym typeface="Copperplate Gothic 32 AB Bold"/>
              </a:rPr>
              <a:t> OF THE MONTH</a:t>
            </a:r>
          </a:p>
        </p:txBody>
      </p:sp>
      <p:grpSp>
        <p:nvGrpSpPr>
          <p:cNvPr id="34" name="Group 34"/>
          <p:cNvGrpSpPr/>
          <p:nvPr/>
        </p:nvGrpSpPr>
        <p:grpSpPr>
          <a:xfrm>
            <a:off x="13515604" y="4381282"/>
            <a:ext cx="3681774" cy="1320090"/>
            <a:chOff x="0" y="0"/>
            <a:chExt cx="969685" cy="347678"/>
          </a:xfrm>
        </p:grpSpPr>
        <p:sp>
          <p:nvSpPr>
            <p:cNvPr id="35" name="Freeform 35"/>
            <p:cNvSpPr/>
            <p:nvPr/>
          </p:nvSpPr>
          <p:spPr>
            <a:xfrm>
              <a:off x="0" y="0"/>
              <a:ext cx="969685" cy="347678"/>
            </a:xfrm>
            <a:custGeom>
              <a:avLst/>
              <a:gdLst/>
              <a:ahLst/>
              <a:cxnLst/>
              <a:rect l="l" t="t" r="r" b="b"/>
              <a:pathLst>
                <a:path w="969685" h="347678">
                  <a:moveTo>
                    <a:pt x="766485" y="0"/>
                  </a:moveTo>
                  <a:cubicBezTo>
                    <a:pt x="878710" y="0"/>
                    <a:pt x="969685" y="77830"/>
                    <a:pt x="969685" y="173839"/>
                  </a:cubicBezTo>
                  <a:cubicBezTo>
                    <a:pt x="969685" y="269848"/>
                    <a:pt x="878710" y="347678"/>
                    <a:pt x="766485" y="347678"/>
                  </a:cubicBezTo>
                  <a:lnTo>
                    <a:pt x="203200" y="347678"/>
                  </a:lnTo>
                  <a:cubicBezTo>
                    <a:pt x="90976" y="347678"/>
                    <a:pt x="0" y="269848"/>
                    <a:pt x="0" y="173839"/>
                  </a:cubicBezTo>
                  <a:cubicBezTo>
                    <a:pt x="0" y="77830"/>
                    <a:pt x="90976" y="0"/>
                    <a:pt x="203200" y="0"/>
                  </a:cubicBezTo>
                  <a:close/>
                </a:path>
              </a:pathLst>
            </a:custGeom>
            <a:gradFill rotWithShape="1">
              <a:gsLst>
                <a:gs pos="0">
                  <a:srgbClr val="FFDE59">
                    <a:alpha val="100000"/>
                  </a:srgbClr>
                </a:gs>
                <a:gs pos="100000">
                  <a:srgbClr val="FF914D">
                    <a:alpha val="100000"/>
                  </a:srgbClr>
                </a:gs>
              </a:gsLst>
              <a:lin ang="0"/>
            </a:gradFill>
          </p:spPr>
        </p:sp>
        <p:sp>
          <p:nvSpPr>
            <p:cNvPr id="36" name="TextBox 36"/>
            <p:cNvSpPr txBox="1"/>
            <p:nvPr/>
          </p:nvSpPr>
          <p:spPr>
            <a:xfrm>
              <a:off x="0" y="-85725"/>
              <a:ext cx="969685" cy="433403"/>
            </a:xfrm>
            <a:prstGeom prst="rect">
              <a:avLst/>
            </a:prstGeom>
          </p:spPr>
          <p:txBody>
            <a:bodyPr lIns="50800" tIns="50800" rIns="50800" bIns="50800" rtlCol="0" anchor="ctr"/>
            <a:lstStyle/>
            <a:p>
              <a:pPr algn="ctr">
                <a:lnSpc>
                  <a:spcPts val="5879"/>
                </a:lnSpc>
              </a:pPr>
              <a:r>
                <a:rPr lang="en-US" sz="4199">
                  <a:solidFill>
                    <a:srgbClr val="FFFFFF"/>
                  </a:solidFill>
                  <a:latin typeface="Anton"/>
                  <a:ea typeface="Anton"/>
                  <a:cs typeface="Anton"/>
                  <a:sym typeface="Anton"/>
                </a:rPr>
                <a:t>2026</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7" y="161049"/>
            <a:ext cx="18288000" cy="1"/>
          </a:xfrm>
          <a:prstGeom prst="line">
            <a:avLst/>
          </a:prstGeom>
          <a:ln w="428625" cap="flat">
            <a:solidFill>
              <a:srgbClr val="5CA3FF"/>
            </a:solidFill>
            <a:prstDash val="solid"/>
            <a:headEnd type="none" w="sm" len="sm"/>
            <a:tailEnd type="none" w="sm" len="sm"/>
          </a:ln>
        </p:spPr>
      </p:sp>
      <p:sp>
        <p:nvSpPr>
          <p:cNvPr id="3" name="AutoShape 3"/>
          <p:cNvSpPr/>
          <p:nvPr/>
        </p:nvSpPr>
        <p:spPr>
          <a:xfrm>
            <a:off x="161372" y="-59394"/>
            <a:ext cx="13165" cy="10327344"/>
          </a:xfrm>
          <a:prstGeom prst="line">
            <a:avLst/>
          </a:prstGeom>
          <a:ln w="428625" cap="flat">
            <a:solidFill>
              <a:srgbClr val="5CA3FF"/>
            </a:solidFill>
            <a:prstDash val="solid"/>
            <a:headEnd type="none" w="sm" len="sm"/>
            <a:tailEnd type="none" w="sm" len="sm"/>
          </a:ln>
        </p:spPr>
      </p:sp>
      <p:sp>
        <p:nvSpPr>
          <p:cNvPr id="4" name="AutoShape 4"/>
          <p:cNvSpPr/>
          <p:nvPr/>
        </p:nvSpPr>
        <p:spPr>
          <a:xfrm>
            <a:off x="1" y="10125950"/>
            <a:ext cx="18288000" cy="0"/>
          </a:xfrm>
          <a:prstGeom prst="line">
            <a:avLst/>
          </a:prstGeom>
          <a:ln w="428625" cap="flat">
            <a:solidFill>
              <a:srgbClr val="FFA51F"/>
            </a:solidFill>
            <a:prstDash val="solid"/>
            <a:headEnd type="none" w="sm" len="sm"/>
            <a:tailEnd type="none" w="sm" len="sm"/>
          </a:ln>
        </p:spPr>
      </p:sp>
      <p:sp>
        <p:nvSpPr>
          <p:cNvPr id="5" name="AutoShape 5"/>
          <p:cNvSpPr/>
          <p:nvPr/>
        </p:nvSpPr>
        <p:spPr>
          <a:xfrm flipH="1">
            <a:off x="18113461" y="-59394"/>
            <a:ext cx="13166" cy="10346393"/>
          </a:xfrm>
          <a:prstGeom prst="line">
            <a:avLst/>
          </a:prstGeom>
          <a:ln w="428625" cap="flat">
            <a:solidFill>
              <a:srgbClr val="FFA51F"/>
            </a:solidFill>
            <a:prstDash val="solid"/>
            <a:headEnd type="none" w="sm" len="sm"/>
            <a:tailEnd type="none" w="sm" len="sm"/>
          </a:ln>
        </p:spPr>
      </p:sp>
      <p:grpSp>
        <p:nvGrpSpPr>
          <p:cNvPr id="6" name="Group 6"/>
          <p:cNvGrpSpPr/>
          <p:nvPr/>
        </p:nvGrpSpPr>
        <p:grpSpPr>
          <a:xfrm>
            <a:off x="38806" y="0"/>
            <a:ext cx="989894" cy="1267064"/>
            <a:chOff x="0" y="0"/>
            <a:chExt cx="635000" cy="812800"/>
          </a:xfrm>
        </p:grpSpPr>
        <p:sp>
          <p:nvSpPr>
            <p:cNvPr id="7" name="Freeform 7"/>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FFDE59">
                    <a:alpha val="100000"/>
                  </a:srgbClr>
                </a:gs>
                <a:gs pos="100000">
                  <a:srgbClr val="FF914D">
                    <a:alpha val="100000"/>
                  </a:srgbClr>
                </a:gs>
              </a:gsLst>
              <a:lin ang="0"/>
            </a:gradFill>
          </p:spPr>
        </p:sp>
        <p:sp>
          <p:nvSpPr>
            <p:cNvPr id="8" name="TextBox 8"/>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7298106" y="9019936"/>
            <a:ext cx="989894" cy="1267064"/>
            <a:chOff x="0" y="0"/>
            <a:chExt cx="635000" cy="812800"/>
          </a:xfrm>
        </p:grpSpPr>
        <p:sp>
          <p:nvSpPr>
            <p:cNvPr id="10" name="Freeform 10"/>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5DE0E6">
                    <a:alpha val="100000"/>
                  </a:srgbClr>
                </a:gs>
                <a:gs pos="100000">
                  <a:srgbClr val="004AAD">
                    <a:alpha val="100000"/>
                  </a:srgbClr>
                </a:gs>
              </a:gsLst>
              <a:lin ang="0"/>
            </a:gradFill>
          </p:spPr>
        </p:sp>
        <p:sp>
          <p:nvSpPr>
            <p:cNvPr id="11" name="TextBox 11"/>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3515604" y="495986"/>
            <a:ext cx="4277449" cy="1258472"/>
            <a:chOff x="0" y="0"/>
            <a:chExt cx="5703265" cy="1677962"/>
          </a:xfrm>
        </p:grpSpPr>
        <p:sp>
          <p:nvSpPr>
            <p:cNvPr id="13" name="Freeform 13" descr="F:\F\abdesktop\Logo_NTTF_2019\NTTF Logo_png.png"/>
            <p:cNvSpPr/>
            <p:nvPr/>
          </p:nvSpPr>
          <p:spPr>
            <a:xfrm>
              <a:off x="0" y="0"/>
              <a:ext cx="5703316" cy="1677924"/>
            </a:xfrm>
            <a:custGeom>
              <a:avLst/>
              <a:gdLst/>
              <a:ahLst/>
              <a:cxnLst/>
              <a:rect l="l" t="t" r="r" b="b"/>
              <a:pathLst>
                <a:path w="5703316" h="1677924">
                  <a:moveTo>
                    <a:pt x="0" y="0"/>
                  </a:moveTo>
                  <a:lnTo>
                    <a:pt x="5703316" y="0"/>
                  </a:lnTo>
                  <a:lnTo>
                    <a:pt x="5703316" y="1677924"/>
                  </a:lnTo>
                  <a:lnTo>
                    <a:pt x="0" y="1677924"/>
                  </a:lnTo>
                  <a:lnTo>
                    <a:pt x="0" y="0"/>
                  </a:lnTo>
                  <a:close/>
                </a:path>
              </a:pathLst>
            </a:custGeom>
            <a:blipFill>
              <a:blip r:embed="rId3"/>
              <a:stretch>
                <a:fillRect b="-27371"/>
              </a:stretch>
            </a:blipFill>
          </p:spPr>
        </p:sp>
      </p:grpSp>
      <p:sp>
        <p:nvSpPr>
          <p:cNvPr id="14" name="TextBox 14"/>
          <p:cNvSpPr txBox="1"/>
          <p:nvPr/>
        </p:nvSpPr>
        <p:spPr>
          <a:xfrm>
            <a:off x="1028700" y="857250"/>
            <a:ext cx="6644640" cy="1566544"/>
          </a:xfrm>
          <a:prstGeom prst="rect">
            <a:avLst/>
          </a:prstGeom>
        </p:spPr>
        <p:txBody>
          <a:bodyPr lIns="0" tIns="0" rIns="0" bIns="0" rtlCol="0" anchor="t">
            <a:spAutoFit/>
          </a:bodyPr>
          <a:lstStyle/>
          <a:p>
            <a:pPr algn="ctr">
              <a:lnSpc>
                <a:spcPts val="12880"/>
              </a:lnSpc>
            </a:pPr>
            <a:r>
              <a:rPr lang="en-US" sz="9200">
                <a:solidFill>
                  <a:srgbClr val="000000"/>
                </a:solidFill>
                <a:latin typeface="Norwester"/>
                <a:ea typeface="Norwester"/>
                <a:cs typeface="Norwester"/>
                <a:sym typeface="Norwester"/>
              </a:rPr>
              <a:t>Introduction </a:t>
            </a:r>
          </a:p>
        </p:txBody>
      </p:sp>
      <p:sp>
        <p:nvSpPr>
          <p:cNvPr id="15" name="TextBox 15"/>
          <p:cNvSpPr txBox="1"/>
          <p:nvPr/>
        </p:nvSpPr>
        <p:spPr>
          <a:xfrm>
            <a:off x="1118219" y="3470553"/>
            <a:ext cx="16011400" cy="4595527"/>
          </a:xfrm>
          <a:prstGeom prst="rect">
            <a:avLst/>
          </a:prstGeom>
        </p:spPr>
        <p:txBody>
          <a:bodyPr lIns="0" tIns="0" rIns="0" bIns="0" rtlCol="0" anchor="t">
            <a:spAutoFit/>
          </a:bodyPr>
          <a:lstStyle/>
          <a:p>
            <a:pPr marL="676544" lvl="1" indent="-338272" algn="l">
              <a:lnSpc>
                <a:spcPts val="4387"/>
              </a:lnSpc>
              <a:buFont typeface="Arial"/>
              <a:buChar char="•"/>
            </a:pPr>
            <a:r>
              <a:rPr lang="en-US" sz="3133">
                <a:solidFill>
                  <a:srgbClr val="000000"/>
                </a:solidFill>
                <a:latin typeface="Playwrite US Modern"/>
                <a:ea typeface="Playwrite US Modern"/>
                <a:cs typeface="Playwrite US Modern"/>
                <a:sym typeface="Playwrite US Modern"/>
              </a:rPr>
              <a:t>Wireless communication has evolved rapidly from basic voice calls to ultra-fast internet and smart connectivity.</a:t>
            </a:r>
          </a:p>
          <a:p>
            <a:pPr marL="676544" lvl="1" indent="-338272" algn="l">
              <a:lnSpc>
                <a:spcPts val="4387"/>
              </a:lnSpc>
              <a:buFont typeface="Arial"/>
              <a:buChar char="•"/>
            </a:pPr>
            <a:r>
              <a:rPr lang="en-US" sz="3133">
                <a:solidFill>
                  <a:srgbClr val="000000"/>
                </a:solidFill>
                <a:latin typeface="Playwrite US Modern"/>
                <a:ea typeface="Playwrite US Modern"/>
                <a:cs typeface="Playwrite US Modern"/>
                <a:sym typeface="Playwrite US Modern"/>
              </a:rPr>
              <a:t>While 5G is still being deployed worldwide, researchers are already working on 6G technology.</a:t>
            </a:r>
          </a:p>
          <a:p>
            <a:pPr marL="676544" lvl="1" indent="-338272" algn="l">
              <a:lnSpc>
                <a:spcPts val="4387"/>
              </a:lnSpc>
              <a:buFont typeface="Arial"/>
              <a:buChar char="•"/>
            </a:pPr>
            <a:r>
              <a:rPr lang="en-US" sz="3133">
                <a:solidFill>
                  <a:srgbClr val="000000"/>
                </a:solidFill>
                <a:latin typeface="Playwrite US Modern"/>
                <a:ea typeface="Playwrite US Modern"/>
                <a:cs typeface="Playwrite US Modern"/>
                <a:sym typeface="Playwrite US Modern"/>
              </a:rPr>
              <a:t>6G aims to enable futuristic applications such as holographic communication, remote surgery, and fully immersive virtual environments.</a:t>
            </a:r>
          </a:p>
          <a:p>
            <a:pPr marL="676544" lvl="1" indent="-338272" algn="l">
              <a:lnSpc>
                <a:spcPts val="4387"/>
              </a:lnSpc>
              <a:buFont typeface="Arial"/>
              <a:buChar char="•"/>
            </a:pPr>
            <a:r>
              <a:rPr lang="en-US" sz="3133">
                <a:solidFill>
                  <a:srgbClr val="000000"/>
                </a:solidFill>
                <a:latin typeface="Playwrite US Modern"/>
                <a:ea typeface="Playwrite US Modern"/>
                <a:cs typeface="Playwrite US Modern"/>
                <a:sym typeface="Playwrite US Modern"/>
              </a:rPr>
              <a:t>This presentation explores how we are moving from 5G to the next generation of wireless technology.</a:t>
            </a:r>
          </a:p>
          <a:p>
            <a:pPr algn="l">
              <a:lnSpc>
                <a:spcPts val="1419"/>
              </a:lnSpc>
            </a:pPr>
            <a:endParaRPr lang="en-US" sz="3133">
              <a:solidFill>
                <a:srgbClr val="000000"/>
              </a:solidFill>
              <a:latin typeface="Playwrite US Modern"/>
              <a:ea typeface="Playwrite US Modern"/>
              <a:cs typeface="Playwrite US Modern"/>
              <a:sym typeface="Playwrite US Moder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0" y="161050"/>
            <a:ext cx="18287613" cy="19050"/>
          </a:xfrm>
          <a:prstGeom prst="line">
            <a:avLst/>
          </a:prstGeom>
          <a:ln w="428625" cap="flat">
            <a:solidFill>
              <a:srgbClr val="5CA3FF"/>
            </a:solidFill>
            <a:prstDash val="solid"/>
            <a:headEnd type="none" w="sm" len="sm"/>
            <a:tailEnd type="none" w="sm" len="sm"/>
          </a:ln>
        </p:spPr>
      </p:sp>
      <p:sp>
        <p:nvSpPr>
          <p:cNvPr id="3" name="AutoShape 3"/>
          <p:cNvSpPr/>
          <p:nvPr/>
        </p:nvSpPr>
        <p:spPr>
          <a:xfrm flipH="1">
            <a:off x="173557" y="-40344"/>
            <a:ext cx="41090" cy="10277971"/>
          </a:xfrm>
          <a:prstGeom prst="line">
            <a:avLst/>
          </a:prstGeom>
          <a:ln w="428625" cap="flat">
            <a:solidFill>
              <a:srgbClr val="5CA3FF"/>
            </a:solidFill>
            <a:prstDash val="solid"/>
            <a:headEnd type="none" w="sm" len="sm"/>
            <a:tailEnd type="none" w="sm" len="sm"/>
          </a:ln>
        </p:spPr>
      </p:sp>
      <p:sp>
        <p:nvSpPr>
          <p:cNvPr id="4" name="AutoShape 4"/>
          <p:cNvSpPr/>
          <p:nvPr/>
        </p:nvSpPr>
        <p:spPr>
          <a:xfrm>
            <a:off x="376071" y="10072688"/>
            <a:ext cx="17911929" cy="34212"/>
          </a:xfrm>
          <a:prstGeom prst="line">
            <a:avLst/>
          </a:prstGeom>
          <a:ln w="428625" cap="flat">
            <a:solidFill>
              <a:srgbClr val="FFA51F"/>
            </a:solidFill>
            <a:prstDash val="solid"/>
            <a:headEnd type="none" w="sm" len="sm"/>
            <a:tailEnd type="none" w="sm" len="sm"/>
          </a:ln>
        </p:spPr>
      </p:sp>
      <p:sp>
        <p:nvSpPr>
          <p:cNvPr id="5" name="AutoShape 5"/>
          <p:cNvSpPr/>
          <p:nvPr/>
        </p:nvSpPr>
        <p:spPr>
          <a:xfrm>
            <a:off x="18071070" y="0"/>
            <a:ext cx="41089" cy="10346395"/>
          </a:xfrm>
          <a:prstGeom prst="line">
            <a:avLst/>
          </a:prstGeom>
          <a:ln w="428625" cap="flat">
            <a:solidFill>
              <a:srgbClr val="FFA51F"/>
            </a:solidFill>
            <a:prstDash val="solid"/>
            <a:headEnd type="none" w="sm" len="sm"/>
            <a:tailEnd type="none" w="sm" len="sm"/>
          </a:ln>
        </p:spPr>
      </p:sp>
      <p:grpSp>
        <p:nvGrpSpPr>
          <p:cNvPr id="6" name="Group 6"/>
          <p:cNvGrpSpPr/>
          <p:nvPr/>
        </p:nvGrpSpPr>
        <p:grpSpPr>
          <a:xfrm>
            <a:off x="38806" y="0"/>
            <a:ext cx="989894" cy="1267064"/>
            <a:chOff x="0" y="0"/>
            <a:chExt cx="635000" cy="812800"/>
          </a:xfrm>
        </p:grpSpPr>
        <p:sp>
          <p:nvSpPr>
            <p:cNvPr id="7" name="Freeform 7"/>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FFDE59">
                    <a:alpha val="100000"/>
                  </a:srgbClr>
                </a:gs>
                <a:gs pos="100000">
                  <a:srgbClr val="FF914D">
                    <a:alpha val="100000"/>
                  </a:srgbClr>
                </a:gs>
              </a:gsLst>
              <a:lin ang="0"/>
            </a:gradFill>
          </p:spPr>
        </p:sp>
        <p:sp>
          <p:nvSpPr>
            <p:cNvPr id="8" name="TextBox 8"/>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7298106" y="9019936"/>
            <a:ext cx="989894" cy="1267064"/>
            <a:chOff x="0" y="0"/>
            <a:chExt cx="635000" cy="812800"/>
          </a:xfrm>
        </p:grpSpPr>
        <p:sp>
          <p:nvSpPr>
            <p:cNvPr id="10" name="Freeform 10"/>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5DE0E6">
                    <a:alpha val="100000"/>
                  </a:srgbClr>
                </a:gs>
                <a:gs pos="100000">
                  <a:srgbClr val="004AAD">
                    <a:alpha val="100000"/>
                  </a:srgbClr>
                </a:gs>
              </a:gsLst>
              <a:lin ang="0"/>
            </a:gradFill>
          </p:spPr>
        </p:sp>
        <p:sp>
          <p:nvSpPr>
            <p:cNvPr id="11" name="TextBox 11"/>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3515604" y="495986"/>
            <a:ext cx="4277449" cy="1258472"/>
            <a:chOff x="0" y="0"/>
            <a:chExt cx="5703265" cy="1677962"/>
          </a:xfrm>
        </p:grpSpPr>
        <p:sp>
          <p:nvSpPr>
            <p:cNvPr id="13" name="Freeform 13" descr="F:\F\abdesktop\Logo_NTTF_2019\NTTF Logo_png.png"/>
            <p:cNvSpPr/>
            <p:nvPr/>
          </p:nvSpPr>
          <p:spPr>
            <a:xfrm>
              <a:off x="0" y="0"/>
              <a:ext cx="5703316" cy="1677924"/>
            </a:xfrm>
            <a:custGeom>
              <a:avLst/>
              <a:gdLst/>
              <a:ahLst/>
              <a:cxnLst/>
              <a:rect l="l" t="t" r="r" b="b"/>
              <a:pathLst>
                <a:path w="5703316" h="1677924">
                  <a:moveTo>
                    <a:pt x="0" y="0"/>
                  </a:moveTo>
                  <a:lnTo>
                    <a:pt x="5703316" y="0"/>
                  </a:lnTo>
                  <a:lnTo>
                    <a:pt x="5703316" y="1677924"/>
                  </a:lnTo>
                  <a:lnTo>
                    <a:pt x="0" y="1677924"/>
                  </a:lnTo>
                  <a:lnTo>
                    <a:pt x="0" y="0"/>
                  </a:lnTo>
                  <a:close/>
                </a:path>
              </a:pathLst>
            </a:custGeom>
            <a:blipFill>
              <a:blip r:embed="rId3"/>
              <a:stretch>
                <a:fillRect b="-27371"/>
              </a:stretch>
            </a:blipFill>
          </p:spPr>
        </p:sp>
      </p:grpSp>
      <p:sp>
        <p:nvSpPr>
          <p:cNvPr id="14" name="Freeform 14"/>
          <p:cNvSpPr/>
          <p:nvPr/>
        </p:nvSpPr>
        <p:spPr>
          <a:xfrm>
            <a:off x="2452782" y="2918895"/>
            <a:ext cx="12781393" cy="6425329"/>
          </a:xfrm>
          <a:custGeom>
            <a:avLst/>
            <a:gdLst/>
            <a:ahLst/>
            <a:cxnLst/>
            <a:rect l="l" t="t" r="r" b="b"/>
            <a:pathLst>
              <a:path w="12781393" h="6425329">
                <a:moveTo>
                  <a:pt x="0" y="0"/>
                </a:moveTo>
                <a:lnTo>
                  <a:pt x="12781392" y="0"/>
                </a:lnTo>
                <a:lnTo>
                  <a:pt x="12781392" y="6425329"/>
                </a:lnTo>
                <a:lnTo>
                  <a:pt x="0" y="6425329"/>
                </a:lnTo>
                <a:lnTo>
                  <a:pt x="0" y="0"/>
                </a:lnTo>
                <a:close/>
              </a:path>
            </a:pathLst>
          </a:custGeom>
          <a:blipFill>
            <a:blip r:embed="rId4"/>
            <a:stretch>
              <a:fillRect t="-3518" b="-3518"/>
            </a:stretch>
          </a:blipFill>
        </p:spPr>
      </p:sp>
      <p:sp>
        <p:nvSpPr>
          <p:cNvPr id="15" name="TextBox 15"/>
          <p:cNvSpPr txBox="1"/>
          <p:nvPr/>
        </p:nvSpPr>
        <p:spPr>
          <a:xfrm>
            <a:off x="731364" y="944789"/>
            <a:ext cx="11632729" cy="1476686"/>
          </a:xfrm>
          <a:prstGeom prst="rect">
            <a:avLst/>
          </a:prstGeom>
        </p:spPr>
        <p:txBody>
          <a:bodyPr wrap="square" lIns="0" tIns="0" rIns="0" bIns="0" rtlCol="0" anchor="t">
            <a:spAutoFit/>
          </a:bodyPr>
          <a:lstStyle/>
          <a:p>
            <a:pPr algn="ctr">
              <a:lnSpc>
                <a:spcPts val="12880"/>
              </a:lnSpc>
            </a:pPr>
            <a:r>
              <a:rPr lang="en-US" sz="9200" dirty="0">
                <a:solidFill>
                  <a:srgbClr val="000000"/>
                </a:solidFill>
                <a:latin typeface="Norwester"/>
                <a:ea typeface="Norwester"/>
                <a:cs typeface="Norwester"/>
                <a:sym typeface="Norwester"/>
              </a:rPr>
              <a:t>Evolution  (1G to 6G)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22581"/>
            <a:ext cx="18287613" cy="38469"/>
          </a:xfrm>
          <a:prstGeom prst="line">
            <a:avLst/>
          </a:prstGeom>
          <a:ln w="428625" cap="flat">
            <a:solidFill>
              <a:srgbClr val="5CA3FF"/>
            </a:solidFill>
            <a:prstDash val="solid"/>
            <a:headEnd type="none" w="sm" len="sm"/>
            <a:tailEnd type="none" w="sm" len="sm"/>
          </a:ln>
        </p:spPr>
      </p:sp>
      <p:sp>
        <p:nvSpPr>
          <p:cNvPr id="3" name="AutoShape 3"/>
          <p:cNvSpPr/>
          <p:nvPr/>
        </p:nvSpPr>
        <p:spPr>
          <a:xfrm>
            <a:off x="135739" y="-59394"/>
            <a:ext cx="44662" cy="10346394"/>
          </a:xfrm>
          <a:prstGeom prst="line">
            <a:avLst/>
          </a:prstGeom>
          <a:ln w="428625" cap="flat">
            <a:solidFill>
              <a:srgbClr val="5CA3FF"/>
            </a:solidFill>
            <a:prstDash val="solid"/>
            <a:headEnd type="none" w="sm" len="sm"/>
            <a:tailEnd type="none" w="sm" len="sm"/>
          </a:ln>
        </p:spPr>
      </p:sp>
      <p:sp>
        <p:nvSpPr>
          <p:cNvPr id="4" name="AutoShape 4"/>
          <p:cNvSpPr/>
          <p:nvPr/>
        </p:nvSpPr>
        <p:spPr>
          <a:xfrm flipV="1">
            <a:off x="376072" y="10053638"/>
            <a:ext cx="17911542" cy="19050"/>
          </a:xfrm>
          <a:prstGeom prst="line">
            <a:avLst/>
          </a:prstGeom>
          <a:ln w="428625" cap="flat">
            <a:solidFill>
              <a:srgbClr val="FFA51F"/>
            </a:solidFill>
            <a:prstDash val="solid"/>
            <a:headEnd type="none" w="sm" len="sm"/>
            <a:tailEnd type="none" w="sm" len="sm"/>
          </a:ln>
        </p:spPr>
      </p:sp>
      <p:sp>
        <p:nvSpPr>
          <p:cNvPr id="5" name="AutoShape 5"/>
          <p:cNvSpPr/>
          <p:nvPr/>
        </p:nvSpPr>
        <p:spPr>
          <a:xfrm>
            <a:off x="18073298" y="-59393"/>
            <a:ext cx="78963" cy="10251143"/>
          </a:xfrm>
          <a:prstGeom prst="line">
            <a:avLst/>
          </a:prstGeom>
          <a:ln w="428625" cap="flat">
            <a:solidFill>
              <a:srgbClr val="FFA51F"/>
            </a:solidFill>
            <a:prstDash val="solid"/>
            <a:headEnd type="none" w="sm" len="sm"/>
            <a:tailEnd type="none" w="sm" len="sm"/>
          </a:ln>
        </p:spPr>
      </p:sp>
      <p:grpSp>
        <p:nvGrpSpPr>
          <p:cNvPr id="6" name="Group 6"/>
          <p:cNvGrpSpPr/>
          <p:nvPr/>
        </p:nvGrpSpPr>
        <p:grpSpPr>
          <a:xfrm>
            <a:off x="38806" y="0"/>
            <a:ext cx="989894" cy="1267064"/>
            <a:chOff x="0" y="0"/>
            <a:chExt cx="635000" cy="812800"/>
          </a:xfrm>
        </p:grpSpPr>
        <p:sp>
          <p:nvSpPr>
            <p:cNvPr id="7" name="Freeform 7"/>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FFDE59">
                    <a:alpha val="100000"/>
                  </a:srgbClr>
                </a:gs>
                <a:gs pos="100000">
                  <a:srgbClr val="FF914D">
                    <a:alpha val="100000"/>
                  </a:srgbClr>
                </a:gs>
              </a:gsLst>
              <a:lin ang="0"/>
            </a:gradFill>
          </p:spPr>
        </p:sp>
        <p:sp>
          <p:nvSpPr>
            <p:cNvPr id="8" name="TextBox 8"/>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7298106" y="9019936"/>
            <a:ext cx="989894" cy="1267064"/>
            <a:chOff x="0" y="0"/>
            <a:chExt cx="635000" cy="812800"/>
          </a:xfrm>
        </p:grpSpPr>
        <p:sp>
          <p:nvSpPr>
            <p:cNvPr id="10" name="Freeform 10"/>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5DE0E6">
                    <a:alpha val="100000"/>
                  </a:srgbClr>
                </a:gs>
                <a:gs pos="100000">
                  <a:srgbClr val="004AAD">
                    <a:alpha val="100000"/>
                  </a:srgbClr>
                </a:gs>
              </a:gsLst>
              <a:lin ang="0"/>
            </a:gradFill>
          </p:spPr>
        </p:sp>
        <p:sp>
          <p:nvSpPr>
            <p:cNvPr id="11" name="TextBox 11"/>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3515604" y="495986"/>
            <a:ext cx="4277449" cy="1258472"/>
            <a:chOff x="0" y="0"/>
            <a:chExt cx="5703265" cy="1677962"/>
          </a:xfrm>
        </p:grpSpPr>
        <p:sp>
          <p:nvSpPr>
            <p:cNvPr id="13" name="Freeform 13" descr="F:\F\abdesktop\Logo_NTTF_2019\NTTF Logo_png.png"/>
            <p:cNvSpPr/>
            <p:nvPr/>
          </p:nvSpPr>
          <p:spPr>
            <a:xfrm>
              <a:off x="0" y="0"/>
              <a:ext cx="5703316" cy="1677924"/>
            </a:xfrm>
            <a:custGeom>
              <a:avLst/>
              <a:gdLst/>
              <a:ahLst/>
              <a:cxnLst/>
              <a:rect l="l" t="t" r="r" b="b"/>
              <a:pathLst>
                <a:path w="5703316" h="1677924">
                  <a:moveTo>
                    <a:pt x="0" y="0"/>
                  </a:moveTo>
                  <a:lnTo>
                    <a:pt x="5703316" y="0"/>
                  </a:lnTo>
                  <a:lnTo>
                    <a:pt x="5703316" y="1677924"/>
                  </a:lnTo>
                  <a:lnTo>
                    <a:pt x="0" y="1677924"/>
                  </a:lnTo>
                  <a:lnTo>
                    <a:pt x="0" y="0"/>
                  </a:lnTo>
                  <a:close/>
                </a:path>
              </a:pathLst>
            </a:custGeom>
            <a:blipFill>
              <a:blip r:embed="rId3"/>
              <a:stretch>
                <a:fillRect b="-27371"/>
              </a:stretch>
            </a:blipFill>
          </p:spPr>
        </p:sp>
      </p:grpSp>
      <p:sp>
        <p:nvSpPr>
          <p:cNvPr id="14" name="TextBox 14"/>
          <p:cNvSpPr txBox="1"/>
          <p:nvPr/>
        </p:nvSpPr>
        <p:spPr>
          <a:xfrm>
            <a:off x="1224371" y="555966"/>
            <a:ext cx="2610756" cy="1027412"/>
          </a:xfrm>
          <a:prstGeom prst="rect">
            <a:avLst/>
          </a:prstGeom>
        </p:spPr>
        <p:txBody>
          <a:bodyPr lIns="0" tIns="0" rIns="0" bIns="0" rtlCol="0" anchor="t">
            <a:spAutoFit/>
          </a:bodyPr>
          <a:lstStyle/>
          <a:p>
            <a:pPr algn="ctr">
              <a:lnSpc>
                <a:spcPts val="8430"/>
              </a:lnSpc>
            </a:pPr>
            <a:r>
              <a:rPr lang="en-US" sz="6021">
                <a:solidFill>
                  <a:srgbClr val="000000"/>
                </a:solidFill>
                <a:latin typeface="Norwester"/>
                <a:ea typeface="Norwester"/>
                <a:cs typeface="Norwester"/>
                <a:sym typeface="Norwester"/>
              </a:rPr>
              <a:t>1G to 4G</a:t>
            </a:r>
          </a:p>
        </p:txBody>
      </p:sp>
      <p:sp>
        <p:nvSpPr>
          <p:cNvPr id="15" name="TextBox 15"/>
          <p:cNvSpPr txBox="1"/>
          <p:nvPr/>
        </p:nvSpPr>
        <p:spPr>
          <a:xfrm>
            <a:off x="1224371" y="1811607"/>
            <a:ext cx="13059332" cy="2354760"/>
          </a:xfrm>
          <a:prstGeom prst="rect">
            <a:avLst/>
          </a:prstGeom>
        </p:spPr>
        <p:txBody>
          <a:bodyPr lIns="0" tIns="0" rIns="0" bIns="0" rtlCol="0" anchor="t">
            <a:spAutoFit/>
          </a:bodyPr>
          <a:lstStyle/>
          <a:p>
            <a:pPr marL="481938" lvl="1" indent="-240969" algn="just">
              <a:lnSpc>
                <a:spcPts val="3125"/>
              </a:lnSpc>
              <a:buFont typeface="Arial"/>
              <a:buChar char="•"/>
            </a:pPr>
            <a:r>
              <a:rPr lang="en-US" sz="2232">
                <a:solidFill>
                  <a:srgbClr val="000000"/>
                </a:solidFill>
                <a:latin typeface="Playwrite US Modern"/>
                <a:ea typeface="Playwrite US Modern"/>
                <a:cs typeface="Playwrite US Modern"/>
                <a:sym typeface="Playwrite US Modern"/>
              </a:rPr>
              <a:t>1G: Analog voice communication</a:t>
            </a:r>
          </a:p>
          <a:p>
            <a:pPr marL="481938" lvl="1" indent="-240969" algn="just">
              <a:lnSpc>
                <a:spcPts val="3125"/>
              </a:lnSpc>
              <a:buFont typeface="Arial"/>
              <a:buChar char="•"/>
            </a:pPr>
            <a:r>
              <a:rPr lang="en-US" sz="2232">
                <a:solidFill>
                  <a:srgbClr val="000000"/>
                </a:solidFill>
                <a:latin typeface="Playwrite US Modern"/>
                <a:ea typeface="Playwrite US Modern"/>
                <a:cs typeface="Playwrite US Modern"/>
                <a:sym typeface="Playwrite US Modern"/>
              </a:rPr>
              <a:t>2G: Digital voice + SMS</a:t>
            </a:r>
          </a:p>
          <a:p>
            <a:pPr marL="481938" lvl="1" indent="-240969" algn="just">
              <a:lnSpc>
                <a:spcPts val="3125"/>
              </a:lnSpc>
              <a:buFont typeface="Arial"/>
              <a:buChar char="•"/>
            </a:pPr>
            <a:r>
              <a:rPr lang="en-US" sz="2232">
                <a:solidFill>
                  <a:srgbClr val="000000"/>
                </a:solidFill>
                <a:latin typeface="Playwrite US Modern"/>
                <a:ea typeface="Playwrite US Modern"/>
                <a:cs typeface="Playwrite US Modern"/>
                <a:sym typeface="Playwrite US Modern"/>
              </a:rPr>
              <a:t>3G: Mobile internet &amp; multimedia</a:t>
            </a:r>
          </a:p>
          <a:p>
            <a:pPr marL="481938" lvl="1" indent="-240969" algn="just">
              <a:lnSpc>
                <a:spcPts val="3125"/>
              </a:lnSpc>
              <a:buFont typeface="Arial"/>
              <a:buChar char="•"/>
            </a:pPr>
            <a:r>
              <a:rPr lang="en-US" sz="2232">
                <a:solidFill>
                  <a:srgbClr val="000000"/>
                </a:solidFill>
                <a:latin typeface="Playwrite US Modern"/>
                <a:ea typeface="Playwrite US Modern"/>
                <a:cs typeface="Playwrite US Modern"/>
                <a:sym typeface="Playwrite US Modern"/>
              </a:rPr>
              <a:t>4G: High-speed internet, streaming, and apps</a:t>
            </a:r>
          </a:p>
          <a:p>
            <a:pPr marL="481938" lvl="1" indent="-240969" algn="just">
              <a:lnSpc>
                <a:spcPts val="3125"/>
              </a:lnSpc>
              <a:buFont typeface="Arial"/>
              <a:buChar char="•"/>
            </a:pPr>
            <a:r>
              <a:rPr lang="en-US" sz="2232">
                <a:solidFill>
                  <a:srgbClr val="000000"/>
                </a:solidFill>
                <a:latin typeface="Playwrite US Modern"/>
                <a:ea typeface="Playwrite US Modern"/>
                <a:cs typeface="Playwrite US Modern"/>
                <a:sym typeface="Playwrite US Modern"/>
              </a:rPr>
              <a:t> ➤ Overall shift: From basic voice calls to high-speed mobile internet</a:t>
            </a:r>
          </a:p>
          <a:p>
            <a:pPr algn="just">
              <a:lnSpc>
                <a:spcPts val="3125"/>
              </a:lnSpc>
            </a:pPr>
            <a:endParaRPr lang="en-US" sz="2232">
              <a:solidFill>
                <a:srgbClr val="000000"/>
              </a:solidFill>
              <a:latin typeface="Playwrite US Modern"/>
              <a:ea typeface="Playwrite US Modern"/>
              <a:cs typeface="Playwrite US Modern"/>
              <a:sym typeface="Playwrite US Modern"/>
            </a:endParaRPr>
          </a:p>
        </p:txBody>
      </p:sp>
      <p:sp>
        <p:nvSpPr>
          <p:cNvPr id="16" name="TextBox 16"/>
          <p:cNvSpPr txBox="1"/>
          <p:nvPr/>
        </p:nvSpPr>
        <p:spPr>
          <a:xfrm>
            <a:off x="1224371" y="3860472"/>
            <a:ext cx="4080272" cy="1028192"/>
          </a:xfrm>
          <a:prstGeom prst="rect">
            <a:avLst/>
          </a:prstGeom>
        </p:spPr>
        <p:txBody>
          <a:bodyPr lIns="0" tIns="0" rIns="0" bIns="0" rtlCol="0" anchor="t">
            <a:spAutoFit/>
          </a:bodyPr>
          <a:lstStyle/>
          <a:p>
            <a:pPr algn="ctr">
              <a:lnSpc>
                <a:spcPts val="8428"/>
              </a:lnSpc>
            </a:pPr>
            <a:r>
              <a:rPr lang="en-US" sz="6020">
                <a:solidFill>
                  <a:srgbClr val="000000"/>
                </a:solidFill>
                <a:latin typeface="Norwester"/>
                <a:ea typeface="Norwester"/>
                <a:cs typeface="Norwester"/>
                <a:sym typeface="Norwester"/>
              </a:rPr>
              <a:t>5G (Present)</a:t>
            </a:r>
          </a:p>
        </p:txBody>
      </p:sp>
      <p:sp>
        <p:nvSpPr>
          <p:cNvPr id="17" name="TextBox 17"/>
          <p:cNvSpPr txBox="1"/>
          <p:nvPr/>
        </p:nvSpPr>
        <p:spPr>
          <a:xfrm>
            <a:off x="1224371" y="5260139"/>
            <a:ext cx="10260092" cy="1553083"/>
          </a:xfrm>
          <a:prstGeom prst="rect">
            <a:avLst/>
          </a:prstGeom>
        </p:spPr>
        <p:txBody>
          <a:bodyPr lIns="0" tIns="0" rIns="0" bIns="0" rtlCol="0" anchor="t">
            <a:spAutoFit/>
          </a:bodyPr>
          <a:lstStyle/>
          <a:p>
            <a:pPr marL="481456" lvl="1" indent="-240728" algn="l">
              <a:lnSpc>
                <a:spcPts val="3121"/>
              </a:lnSpc>
              <a:buFont typeface="Arial"/>
              <a:buChar char="•"/>
            </a:pPr>
            <a:r>
              <a:rPr lang="en-US" sz="2229">
                <a:solidFill>
                  <a:srgbClr val="000000"/>
                </a:solidFill>
                <a:latin typeface="Playwrite US Modern"/>
                <a:ea typeface="Playwrite US Modern"/>
                <a:cs typeface="Playwrite US Modern"/>
                <a:sym typeface="Playwrite US Modern"/>
              </a:rPr>
              <a:t>Ultra-high speed up to 20 Gbps</a:t>
            </a:r>
          </a:p>
          <a:p>
            <a:pPr marL="481456" lvl="1" indent="-240728" algn="l">
              <a:lnSpc>
                <a:spcPts val="3121"/>
              </a:lnSpc>
              <a:buFont typeface="Arial"/>
              <a:buChar char="•"/>
            </a:pPr>
            <a:r>
              <a:rPr lang="en-US" sz="2229">
                <a:solidFill>
                  <a:srgbClr val="000000"/>
                </a:solidFill>
                <a:latin typeface="Playwrite US Modern"/>
                <a:ea typeface="Playwrite US Modern"/>
                <a:cs typeface="Playwrite US Modern"/>
                <a:sym typeface="Playwrite US Modern"/>
              </a:rPr>
              <a:t>Extremely low latency (~1 ms)</a:t>
            </a:r>
          </a:p>
          <a:p>
            <a:pPr marL="481456" lvl="1" indent="-240728" algn="l">
              <a:lnSpc>
                <a:spcPts val="3121"/>
              </a:lnSpc>
              <a:buFont typeface="Arial"/>
              <a:buChar char="•"/>
            </a:pPr>
            <a:r>
              <a:rPr lang="en-US" sz="2229">
                <a:solidFill>
                  <a:srgbClr val="000000"/>
                </a:solidFill>
                <a:latin typeface="Playwrite US Modern"/>
                <a:ea typeface="Playwrite US Modern"/>
                <a:cs typeface="Playwrite US Modern"/>
                <a:sym typeface="Playwrite US Modern"/>
              </a:rPr>
              <a:t>Supports technologies like IoT, smart cities, and autonomous vehicles</a:t>
            </a:r>
          </a:p>
          <a:p>
            <a:pPr algn="l">
              <a:lnSpc>
                <a:spcPts val="3121"/>
              </a:lnSpc>
            </a:pPr>
            <a:endParaRPr lang="en-US" sz="2229">
              <a:solidFill>
                <a:srgbClr val="000000"/>
              </a:solidFill>
              <a:latin typeface="Playwrite US Modern"/>
              <a:ea typeface="Playwrite US Modern"/>
              <a:cs typeface="Playwrite US Modern"/>
              <a:sym typeface="Playwrite US Modern"/>
            </a:endParaRPr>
          </a:p>
        </p:txBody>
      </p:sp>
      <p:sp>
        <p:nvSpPr>
          <p:cNvPr id="18" name="TextBox 18"/>
          <p:cNvSpPr txBox="1"/>
          <p:nvPr/>
        </p:nvSpPr>
        <p:spPr>
          <a:xfrm>
            <a:off x="1224371" y="6817985"/>
            <a:ext cx="7112967" cy="962315"/>
          </a:xfrm>
          <a:prstGeom prst="rect">
            <a:avLst/>
          </a:prstGeom>
        </p:spPr>
        <p:txBody>
          <a:bodyPr wrap="square" lIns="0" tIns="0" rIns="0" bIns="0" rtlCol="0" anchor="t">
            <a:spAutoFit/>
          </a:bodyPr>
          <a:lstStyle/>
          <a:p>
            <a:pPr algn="ctr">
              <a:lnSpc>
                <a:spcPts val="8428"/>
              </a:lnSpc>
            </a:pPr>
            <a:r>
              <a:rPr lang="en-US" sz="6020" dirty="0">
                <a:solidFill>
                  <a:srgbClr val="000000"/>
                </a:solidFill>
                <a:latin typeface="Norwester"/>
                <a:ea typeface="Norwester"/>
                <a:cs typeface="Norwester"/>
                <a:sym typeface="Norwester"/>
              </a:rPr>
              <a:t>6G (Future – 2030+)</a:t>
            </a:r>
          </a:p>
        </p:txBody>
      </p:sp>
      <p:sp>
        <p:nvSpPr>
          <p:cNvPr id="19" name="TextBox 19"/>
          <p:cNvSpPr txBox="1"/>
          <p:nvPr/>
        </p:nvSpPr>
        <p:spPr>
          <a:xfrm>
            <a:off x="1224371" y="8219582"/>
            <a:ext cx="15238214" cy="1553083"/>
          </a:xfrm>
          <a:prstGeom prst="rect">
            <a:avLst/>
          </a:prstGeom>
        </p:spPr>
        <p:txBody>
          <a:bodyPr lIns="0" tIns="0" rIns="0" bIns="0" rtlCol="0" anchor="t">
            <a:spAutoFit/>
          </a:bodyPr>
          <a:lstStyle/>
          <a:p>
            <a:pPr marL="481456" lvl="1" indent="-240728" algn="l">
              <a:lnSpc>
                <a:spcPts val="3121"/>
              </a:lnSpc>
              <a:buFont typeface="Arial"/>
              <a:buChar char="•"/>
            </a:pPr>
            <a:r>
              <a:rPr lang="en-US" sz="2229">
                <a:solidFill>
                  <a:srgbClr val="000000"/>
                </a:solidFill>
                <a:latin typeface="Playwrite US Modern"/>
                <a:ea typeface="Playwrite US Modern"/>
                <a:cs typeface="Playwrite US Modern"/>
                <a:sym typeface="Playwrite US Modern"/>
              </a:rPr>
              <a:t>Expected speeds up to 100x faster than 5G</a:t>
            </a:r>
          </a:p>
          <a:p>
            <a:pPr marL="481456" lvl="1" indent="-240728" algn="l">
              <a:lnSpc>
                <a:spcPts val="3121"/>
              </a:lnSpc>
              <a:buFont typeface="Arial"/>
              <a:buChar char="•"/>
            </a:pPr>
            <a:r>
              <a:rPr lang="en-US" sz="2229">
                <a:solidFill>
                  <a:srgbClr val="000000"/>
                </a:solidFill>
                <a:latin typeface="Playwrite US Modern"/>
                <a:ea typeface="Playwrite US Modern"/>
                <a:cs typeface="Playwrite US Modern"/>
                <a:sym typeface="Playwrite US Modern"/>
              </a:rPr>
              <a:t>Concept of “Internet of Everything” (everything connected intelligently)</a:t>
            </a:r>
          </a:p>
          <a:p>
            <a:pPr marL="481456" lvl="1" indent="-240728" algn="l">
              <a:lnSpc>
                <a:spcPts val="3121"/>
              </a:lnSpc>
              <a:buFont typeface="Arial"/>
              <a:buChar char="•"/>
            </a:pPr>
            <a:r>
              <a:rPr lang="en-US" sz="2229">
                <a:solidFill>
                  <a:srgbClr val="000000"/>
                </a:solidFill>
                <a:latin typeface="Playwrite US Modern"/>
                <a:ea typeface="Playwrite US Modern"/>
                <a:cs typeface="Playwrite US Modern"/>
                <a:sym typeface="Playwrite US Modern"/>
              </a:rPr>
              <a:t>Will enable advanced applications like AI-driven networks, holograms, and real-time remote operations</a:t>
            </a:r>
          </a:p>
          <a:p>
            <a:pPr algn="l">
              <a:lnSpc>
                <a:spcPts val="3121"/>
              </a:lnSpc>
            </a:pPr>
            <a:endParaRPr lang="en-US" sz="2229">
              <a:solidFill>
                <a:srgbClr val="000000"/>
              </a:solidFill>
              <a:latin typeface="Playwrite US Modern"/>
              <a:ea typeface="Playwrite US Modern"/>
              <a:cs typeface="Playwrite US Modern"/>
              <a:sym typeface="Playwrite US Modern"/>
            </a:endParaRPr>
          </a:p>
        </p:txBody>
      </p:sp>
      <p:pic>
        <p:nvPicPr>
          <p:cNvPr id="21" name="Picture 20">
            <a:extLst>
              <a:ext uri="{FF2B5EF4-FFF2-40B4-BE49-F238E27FC236}">
                <a16:creationId xmlns:a16="http://schemas.microsoft.com/office/drawing/2014/main" id="{C4339BBF-15E3-EBB5-C2DB-AD80846B8F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34199" y="3919725"/>
            <a:ext cx="5489362" cy="31130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0" y="161050"/>
            <a:ext cx="18287613" cy="58084"/>
          </a:xfrm>
          <a:prstGeom prst="line">
            <a:avLst/>
          </a:prstGeom>
          <a:ln w="428625" cap="flat">
            <a:solidFill>
              <a:srgbClr val="5CA3FF"/>
            </a:solidFill>
            <a:prstDash val="solid"/>
            <a:headEnd type="none" w="sm" len="sm"/>
            <a:tailEnd type="none" w="sm" len="sm"/>
          </a:ln>
        </p:spPr>
      </p:sp>
      <p:sp>
        <p:nvSpPr>
          <p:cNvPr id="3" name="AutoShape 3"/>
          <p:cNvSpPr/>
          <p:nvPr/>
        </p:nvSpPr>
        <p:spPr>
          <a:xfrm flipH="1">
            <a:off x="182862" y="-59394"/>
            <a:ext cx="31793" cy="10405789"/>
          </a:xfrm>
          <a:prstGeom prst="line">
            <a:avLst/>
          </a:prstGeom>
          <a:ln w="428625" cap="flat">
            <a:solidFill>
              <a:srgbClr val="5CA3FF"/>
            </a:solidFill>
            <a:prstDash val="solid"/>
            <a:headEnd type="none" w="sm" len="sm"/>
            <a:tailEnd type="none" w="sm" len="sm"/>
          </a:ln>
        </p:spPr>
      </p:sp>
      <p:sp>
        <p:nvSpPr>
          <p:cNvPr id="4" name="AutoShape 4"/>
          <p:cNvSpPr/>
          <p:nvPr/>
        </p:nvSpPr>
        <p:spPr>
          <a:xfrm>
            <a:off x="376072" y="10072688"/>
            <a:ext cx="17737392" cy="34212"/>
          </a:xfrm>
          <a:prstGeom prst="line">
            <a:avLst/>
          </a:prstGeom>
          <a:ln w="428625" cap="flat">
            <a:solidFill>
              <a:srgbClr val="FFA51F"/>
            </a:solidFill>
            <a:prstDash val="solid"/>
            <a:headEnd type="none" w="sm" len="sm"/>
            <a:tailEnd type="none" w="sm" len="sm"/>
          </a:ln>
        </p:spPr>
      </p:sp>
      <p:sp>
        <p:nvSpPr>
          <p:cNvPr id="5" name="AutoShape 5"/>
          <p:cNvSpPr/>
          <p:nvPr/>
        </p:nvSpPr>
        <p:spPr>
          <a:xfrm>
            <a:off x="18073300" y="-59394"/>
            <a:ext cx="0" cy="10386739"/>
          </a:xfrm>
          <a:prstGeom prst="line">
            <a:avLst/>
          </a:prstGeom>
          <a:ln w="428625" cap="flat">
            <a:solidFill>
              <a:srgbClr val="FFA51F"/>
            </a:solidFill>
            <a:prstDash val="solid"/>
            <a:headEnd type="none" w="sm" len="sm"/>
            <a:tailEnd type="none" w="sm" len="sm"/>
          </a:ln>
        </p:spPr>
      </p:sp>
      <p:grpSp>
        <p:nvGrpSpPr>
          <p:cNvPr id="6" name="Group 6"/>
          <p:cNvGrpSpPr/>
          <p:nvPr/>
        </p:nvGrpSpPr>
        <p:grpSpPr>
          <a:xfrm>
            <a:off x="38806" y="0"/>
            <a:ext cx="989894" cy="1267064"/>
            <a:chOff x="0" y="0"/>
            <a:chExt cx="635000" cy="812800"/>
          </a:xfrm>
        </p:grpSpPr>
        <p:sp>
          <p:nvSpPr>
            <p:cNvPr id="7" name="Freeform 7"/>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FFDE59">
                    <a:alpha val="100000"/>
                  </a:srgbClr>
                </a:gs>
                <a:gs pos="100000">
                  <a:srgbClr val="FF914D">
                    <a:alpha val="100000"/>
                  </a:srgbClr>
                </a:gs>
              </a:gsLst>
              <a:lin ang="0"/>
            </a:gradFill>
          </p:spPr>
        </p:sp>
        <p:sp>
          <p:nvSpPr>
            <p:cNvPr id="8" name="TextBox 8"/>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7298106" y="9019936"/>
            <a:ext cx="989894" cy="1267064"/>
            <a:chOff x="0" y="0"/>
            <a:chExt cx="635000" cy="812800"/>
          </a:xfrm>
        </p:grpSpPr>
        <p:sp>
          <p:nvSpPr>
            <p:cNvPr id="10" name="Freeform 10"/>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5DE0E6">
                    <a:alpha val="100000"/>
                  </a:srgbClr>
                </a:gs>
                <a:gs pos="100000">
                  <a:srgbClr val="004AAD">
                    <a:alpha val="100000"/>
                  </a:srgbClr>
                </a:gs>
              </a:gsLst>
              <a:lin ang="0"/>
            </a:gradFill>
          </p:spPr>
        </p:sp>
        <p:sp>
          <p:nvSpPr>
            <p:cNvPr id="11" name="TextBox 11"/>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3515604" y="495986"/>
            <a:ext cx="4277449" cy="1258472"/>
            <a:chOff x="0" y="0"/>
            <a:chExt cx="5703265" cy="1677962"/>
          </a:xfrm>
        </p:grpSpPr>
        <p:sp>
          <p:nvSpPr>
            <p:cNvPr id="13" name="Freeform 13" descr="F:\F\abdesktop\Logo_NTTF_2019\NTTF Logo_png.png"/>
            <p:cNvSpPr/>
            <p:nvPr/>
          </p:nvSpPr>
          <p:spPr>
            <a:xfrm>
              <a:off x="0" y="0"/>
              <a:ext cx="5703316" cy="1677924"/>
            </a:xfrm>
            <a:custGeom>
              <a:avLst/>
              <a:gdLst/>
              <a:ahLst/>
              <a:cxnLst/>
              <a:rect l="l" t="t" r="r" b="b"/>
              <a:pathLst>
                <a:path w="5703316" h="1677924">
                  <a:moveTo>
                    <a:pt x="0" y="0"/>
                  </a:moveTo>
                  <a:lnTo>
                    <a:pt x="5703316" y="0"/>
                  </a:lnTo>
                  <a:lnTo>
                    <a:pt x="5703316" y="1677924"/>
                  </a:lnTo>
                  <a:lnTo>
                    <a:pt x="0" y="1677924"/>
                  </a:lnTo>
                  <a:lnTo>
                    <a:pt x="0" y="0"/>
                  </a:lnTo>
                  <a:close/>
                </a:path>
              </a:pathLst>
            </a:custGeom>
            <a:blipFill>
              <a:blip r:embed="rId3"/>
              <a:stretch>
                <a:fillRect b="-27371"/>
              </a:stretch>
            </a:blipFill>
          </p:spPr>
        </p:sp>
      </p:grpSp>
      <p:sp>
        <p:nvSpPr>
          <p:cNvPr id="14" name="TextBox 14"/>
          <p:cNvSpPr txBox="1"/>
          <p:nvPr/>
        </p:nvSpPr>
        <p:spPr>
          <a:xfrm>
            <a:off x="1028700" y="809684"/>
            <a:ext cx="14625629" cy="1584196"/>
          </a:xfrm>
          <a:prstGeom prst="rect">
            <a:avLst/>
          </a:prstGeom>
        </p:spPr>
        <p:txBody>
          <a:bodyPr lIns="0" tIns="0" rIns="0" bIns="0" rtlCol="0" anchor="t">
            <a:spAutoFit/>
          </a:bodyPr>
          <a:lstStyle/>
          <a:p>
            <a:pPr algn="ctr">
              <a:lnSpc>
                <a:spcPts val="12957"/>
              </a:lnSpc>
            </a:pPr>
            <a:r>
              <a:rPr lang="en-US" sz="9255">
                <a:solidFill>
                  <a:srgbClr val="000000"/>
                </a:solidFill>
                <a:latin typeface="Norwester"/>
                <a:ea typeface="Norwester"/>
                <a:cs typeface="Norwester"/>
                <a:sym typeface="Norwester"/>
              </a:rPr>
              <a:t>5G – The Current Foundation</a:t>
            </a:r>
          </a:p>
        </p:txBody>
      </p:sp>
      <p:sp>
        <p:nvSpPr>
          <p:cNvPr id="15" name="TextBox 15"/>
          <p:cNvSpPr txBox="1"/>
          <p:nvPr/>
        </p:nvSpPr>
        <p:spPr>
          <a:xfrm>
            <a:off x="619485" y="4372522"/>
            <a:ext cx="17008868" cy="4727382"/>
          </a:xfrm>
          <a:prstGeom prst="rect">
            <a:avLst/>
          </a:prstGeom>
        </p:spPr>
        <p:txBody>
          <a:bodyPr lIns="0" tIns="0" rIns="0" bIns="0" rtlCol="0" anchor="t">
            <a:spAutoFit/>
          </a:bodyPr>
          <a:lstStyle/>
          <a:p>
            <a:pPr marL="519514" lvl="1" indent="-259757" algn="l">
              <a:lnSpc>
                <a:spcPts val="3368"/>
              </a:lnSpc>
              <a:buFont typeface="Arial"/>
              <a:buChar char="•"/>
            </a:pPr>
            <a:r>
              <a:rPr lang="en-US" sz="2406" u="sng">
                <a:solidFill>
                  <a:srgbClr val="000000"/>
                </a:solidFill>
                <a:latin typeface="Playwrite US Modern"/>
                <a:ea typeface="Playwrite US Modern"/>
                <a:cs typeface="Playwrite US Modern"/>
                <a:sym typeface="Playwrite US Modern"/>
              </a:rPr>
              <a:t>Massive MIMO (Multiple Input Multiple Output):</a:t>
            </a:r>
          </a:p>
          <a:p>
            <a:pPr algn="ctr">
              <a:lnSpc>
                <a:spcPts val="3368"/>
              </a:lnSpc>
            </a:pPr>
            <a:r>
              <a:rPr lang="en-US" sz="2406">
                <a:solidFill>
                  <a:srgbClr val="000000"/>
                </a:solidFill>
                <a:latin typeface="Playwrite US Modern"/>
                <a:ea typeface="Playwrite US Modern"/>
                <a:cs typeface="Playwrite US Modern"/>
                <a:sym typeface="Playwrite US Modern"/>
              </a:rPr>
              <a:t>       Uses a large number of antennas at base stations to send and receive multiple data signals simultaneously→ improves speed, capacity, and efficiency.</a:t>
            </a:r>
          </a:p>
          <a:p>
            <a:pPr algn="ctr">
              <a:lnSpc>
                <a:spcPts val="3368"/>
              </a:lnSpc>
            </a:pPr>
            <a:endParaRPr lang="en-US" sz="2406">
              <a:solidFill>
                <a:srgbClr val="000000"/>
              </a:solidFill>
              <a:latin typeface="Playwrite US Modern"/>
              <a:ea typeface="Playwrite US Modern"/>
              <a:cs typeface="Playwrite US Modern"/>
              <a:sym typeface="Playwrite US Modern"/>
            </a:endParaRPr>
          </a:p>
          <a:p>
            <a:pPr marL="519514" lvl="1" indent="-259757" algn="l">
              <a:lnSpc>
                <a:spcPts val="3368"/>
              </a:lnSpc>
              <a:buFont typeface="Arial"/>
              <a:buChar char="•"/>
            </a:pPr>
            <a:r>
              <a:rPr lang="en-US" sz="2406" u="sng">
                <a:solidFill>
                  <a:srgbClr val="000000"/>
                </a:solidFill>
                <a:latin typeface="Playwrite US Modern"/>
                <a:ea typeface="Playwrite US Modern"/>
                <a:cs typeface="Playwrite US Modern"/>
                <a:sym typeface="Playwrite US Modern"/>
              </a:rPr>
              <a:t>Millimeter Wave (mmWave):</a:t>
            </a:r>
          </a:p>
          <a:p>
            <a:pPr marL="1039028" lvl="2" indent="-346343" algn="ctr">
              <a:lnSpc>
                <a:spcPts val="3368"/>
              </a:lnSpc>
              <a:buFont typeface="Arial"/>
              <a:buChar char="⚬"/>
            </a:pPr>
            <a:r>
              <a:rPr lang="en-US" sz="2406">
                <a:solidFill>
                  <a:srgbClr val="000000"/>
                </a:solidFill>
                <a:latin typeface="Playwrite US Modern"/>
                <a:ea typeface="Playwrite US Modern"/>
                <a:cs typeface="Playwrite US Modern"/>
                <a:sym typeface="Playwrite US Modern"/>
              </a:rPr>
              <a:t>         Uses very high-frequency bands (30–300 GHz) → enables ultra-fast data speeds, but has short range and limited penetration (e.g., walls).</a:t>
            </a:r>
          </a:p>
          <a:p>
            <a:pPr marL="1039028" lvl="2" indent="-346343" algn="just">
              <a:lnSpc>
                <a:spcPts val="3368"/>
              </a:lnSpc>
              <a:buFont typeface="Arial"/>
              <a:buChar char="⚬"/>
            </a:pPr>
            <a:endParaRPr lang="en-US" sz="2406">
              <a:solidFill>
                <a:srgbClr val="000000"/>
              </a:solidFill>
              <a:latin typeface="Playwrite US Modern"/>
              <a:ea typeface="Playwrite US Modern"/>
              <a:cs typeface="Playwrite US Modern"/>
              <a:sym typeface="Playwrite US Modern"/>
            </a:endParaRPr>
          </a:p>
          <a:p>
            <a:pPr marL="519514" lvl="1" indent="-259757" algn="l">
              <a:lnSpc>
                <a:spcPts val="3368"/>
              </a:lnSpc>
              <a:buFont typeface="Arial"/>
              <a:buChar char="•"/>
            </a:pPr>
            <a:r>
              <a:rPr lang="en-US" sz="2406">
                <a:solidFill>
                  <a:srgbClr val="000000"/>
                </a:solidFill>
                <a:latin typeface="Playwrite US Modern"/>
                <a:ea typeface="Playwrite US Modern"/>
                <a:cs typeface="Playwrite US Modern"/>
                <a:sym typeface="Playwrite US Modern"/>
              </a:rPr>
              <a:t> </a:t>
            </a:r>
            <a:r>
              <a:rPr lang="en-US" sz="2406" u="sng">
                <a:solidFill>
                  <a:srgbClr val="000000"/>
                </a:solidFill>
                <a:latin typeface="Playwrite US Modern"/>
                <a:ea typeface="Playwrite US Modern"/>
                <a:cs typeface="Playwrite US Modern"/>
                <a:sym typeface="Playwrite US Modern"/>
              </a:rPr>
              <a:t>Network Slicing:</a:t>
            </a:r>
          </a:p>
          <a:p>
            <a:pPr marL="1039028" lvl="2" indent="-346343" algn="ctr">
              <a:lnSpc>
                <a:spcPts val="3368"/>
              </a:lnSpc>
              <a:buFont typeface="Arial"/>
              <a:buChar char="⚬"/>
            </a:pPr>
            <a:r>
              <a:rPr lang="en-US" sz="2406">
                <a:solidFill>
                  <a:srgbClr val="000000"/>
                </a:solidFill>
                <a:latin typeface="Playwrite US Modern"/>
                <a:ea typeface="Playwrite US Modern"/>
                <a:cs typeface="Playwrite US Modern"/>
                <a:sym typeface="Playwrite US Modern"/>
              </a:rPr>
              <a:t>          Divides a single network into multiple virtual networks → each optimized for specific uses (e.g., gaming, healthcare, IoT) → ensures better performance and reliability.</a:t>
            </a:r>
          </a:p>
          <a:p>
            <a:pPr marL="15289" lvl="1" indent="-7645" algn="l">
              <a:lnSpc>
                <a:spcPts val="99"/>
              </a:lnSpc>
              <a:buFont typeface="Arial"/>
              <a:buChar char="•"/>
            </a:pPr>
            <a:endParaRPr lang="en-US" sz="2406">
              <a:solidFill>
                <a:srgbClr val="000000"/>
              </a:solidFill>
              <a:latin typeface="Playwrite US Modern"/>
              <a:ea typeface="Playwrite US Modern"/>
              <a:cs typeface="Playwrite US Modern"/>
              <a:sym typeface="Playwrite US Modern"/>
            </a:endParaRPr>
          </a:p>
        </p:txBody>
      </p:sp>
      <p:sp>
        <p:nvSpPr>
          <p:cNvPr id="16" name="TextBox 16"/>
          <p:cNvSpPr txBox="1"/>
          <p:nvPr/>
        </p:nvSpPr>
        <p:spPr>
          <a:xfrm>
            <a:off x="1028700" y="2885352"/>
            <a:ext cx="6057900" cy="835485"/>
          </a:xfrm>
          <a:prstGeom prst="rect">
            <a:avLst/>
          </a:prstGeom>
        </p:spPr>
        <p:txBody>
          <a:bodyPr wrap="square" lIns="0" tIns="0" rIns="0" bIns="0" rtlCol="0" anchor="t">
            <a:spAutoFit/>
          </a:bodyPr>
          <a:lstStyle/>
          <a:p>
            <a:pPr algn="ctr">
              <a:lnSpc>
                <a:spcPts val="7279"/>
              </a:lnSpc>
            </a:pPr>
            <a:r>
              <a:rPr lang="en-US" sz="5199" dirty="0">
                <a:solidFill>
                  <a:srgbClr val="000000"/>
                </a:solidFill>
                <a:latin typeface="Norwester"/>
                <a:ea typeface="Norwester"/>
                <a:cs typeface="Norwester"/>
                <a:sym typeface="Norwester"/>
              </a:rPr>
              <a:t>Core Technologies: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0" y="161050"/>
            <a:ext cx="18287613" cy="0"/>
          </a:xfrm>
          <a:prstGeom prst="line">
            <a:avLst/>
          </a:prstGeom>
          <a:ln w="428625" cap="flat">
            <a:solidFill>
              <a:srgbClr val="5CA3FF"/>
            </a:solidFill>
            <a:prstDash val="solid"/>
            <a:headEnd type="none" w="sm" len="sm"/>
            <a:tailEnd type="none" w="sm" len="sm"/>
          </a:ln>
        </p:spPr>
      </p:sp>
      <p:sp>
        <p:nvSpPr>
          <p:cNvPr id="3" name="AutoShape 3"/>
          <p:cNvSpPr/>
          <p:nvPr/>
        </p:nvSpPr>
        <p:spPr>
          <a:xfrm>
            <a:off x="95864" y="-59395"/>
            <a:ext cx="118795" cy="10346395"/>
          </a:xfrm>
          <a:prstGeom prst="line">
            <a:avLst/>
          </a:prstGeom>
          <a:ln w="428625" cap="flat">
            <a:solidFill>
              <a:srgbClr val="5CA3FF"/>
            </a:solidFill>
            <a:prstDash val="solid"/>
            <a:headEnd type="none" w="sm" len="sm"/>
            <a:tailEnd type="none" w="sm" len="sm"/>
          </a:ln>
        </p:spPr>
      </p:sp>
      <p:sp>
        <p:nvSpPr>
          <p:cNvPr id="4" name="AutoShape 4"/>
          <p:cNvSpPr/>
          <p:nvPr/>
        </p:nvSpPr>
        <p:spPr>
          <a:xfrm>
            <a:off x="376071" y="10072688"/>
            <a:ext cx="17911929" cy="53262"/>
          </a:xfrm>
          <a:prstGeom prst="line">
            <a:avLst/>
          </a:prstGeom>
          <a:ln w="428625" cap="flat">
            <a:solidFill>
              <a:srgbClr val="FFA51F"/>
            </a:solidFill>
            <a:prstDash val="solid"/>
            <a:headEnd type="none" w="sm" len="sm"/>
            <a:tailEnd type="none" w="sm" len="sm"/>
          </a:ln>
        </p:spPr>
      </p:sp>
      <p:sp>
        <p:nvSpPr>
          <p:cNvPr id="5" name="AutoShape 5"/>
          <p:cNvSpPr/>
          <p:nvPr/>
        </p:nvSpPr>
        <p:spPr>
          <a:xfrm flipH="1">
            <a:off x="18073298" y="0"/>
            <a:ext cx="1" cy="10346395"/>
          </a:xfrm>
          <a:prstGeom prst="line">
            <a:avLst/>
          </a:prstGeom>
          <a:ln w="428625" cap="flat">
            <a:solidFill>
              <a:srgbClr val="FFA51F"/>
            </a:solidFill>
            <a:prstDash val="solid"/>
            <a:headEnd type="none" w="sm" len="sm"/>
            <a:tailEnd type="none" w="sm" len="sm"/>
          </a:ln>
        </p:spPr>
      </p:sp>
      <p:grpSp>
        <p:nvGrpSpPr>
          <p:cNvPr id="6" name="Group 6"/>
          <p:cNvGrpSpPr/>
          <p:nvPr/>
        </p:nvGrpSpPr>
        <p:grpSpPr>
          <a:xfrm>
            <a:off x="38806" y="0"/>
            <a:ext cx="989894" cy="1267064"/>
            <a:chOff x="0" y="0"/>
            <a:chExt cx="635000" cy="812800"/>
          </a:xfrm>
        </p:grpSpPr>
        <p:sp>
          <p:nvSpPr>
            <p:cNvPr id="7" name="Freeform 7"/>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FFDE59">
                    <a:alpha val="100000"/>
                  </a:srgbClr>
                </a:gs>
                <a:gs pos="100000">
                  <a:srgbClr val="FF914D">
                    <a:alpha val="100000"/>
                  </a:srgbClr>
                </a:gs>
              </a:gsLst>
              <a:lin ang="0"/>
            </a:gradFill>
          </p:spPr>
        </p:sp>
        <p:sp>
          <p:nvSpPr>
            <p:cNvPr id="8" name="TextBox 8"/>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7298106" y="9019936"/>
            <a:ext cx="989894" cy="1267064"/>
            <a:chOff x="0" y="0"/>
            <a:chExt cx="635000" cy="812800"/>
          </a:xfrm>
        </p:grpSpPr>
        <p:sp>
          <p:nvSpPr>
            <p:cNvPr id="10" name="Freeform 10"/>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5DE0E6">
                    <a:alpha val="100000"/>
                  </a:srgbClr>
                </a:gs>
                <a:gs pos="100000">
                  <a:srgbClr val="004AAD">
                    <a:alpha val="100000"/>
                  </a:srgbClr>
                </a:gs>
              </a:gsLst>
              <a:lin ang="0"/>
            </a:gradFill>
          </p:spPr>
        </p:sp>
        <p:sp>
          <p:nvSpPr>
            <p:cNvPr id="11" name="TextBox 11"/>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3515604" y="495986"/>
            <a:ext cx="4277449" cy="1258472"/>
            <a:chOff x="0" y="0"/>
            <a:chExt cx="5703265" cy="1677962"/>
          </a:xfrm>
        </p:grpSpPr>
        <p:sp>
          <p:nvSpPr>
            <p:cNvPr id="13" name="Freeform 13" descr="F:\F\abdesktop\Logo_NTTF_2019\NTTF Logo_png.png"/>
            <p:cNvSpPr/>
            <p:nvPr/>
          </p:nvSpPr>
          <p:spPr>
            <a:xfrm>
              <a:off x="0" y="0"/>
              <a:ext cx="5703316" cy="1677924"/>
            </a:xfrm>
            <a:custGeom>
              <a:avLst/>
              <a:gdLst/>
              <a:ahLst/>
              <a:cxnLst/>
              <a:rect l="l" t="t" r="r" b="b"/>
              <a:pathLst>
                <a:path w="5703316" h="1677924">
                  <a:moveTo>
                    <a:pt x="0" y="0"/>
                  </a:moveTo>
                  <a:lnTo>
                    <a:pt x="5703316" y="0"/>
                  </a:lnTo>
                  <a:lnTo>
                    <a:pt x="5703316" y="1677924"/>
                  </a:lnTo>
                  <a:lnTo>
                    <a:pt x="0" y="1677924"/>
                  </a:lnTo>
                  <a:lnTo>
                    <a:pt x="0" y="0"/>
                  </a:lnTo>
                  <a:close/>
                </a:path>
              </a:pathLst>
            </a:custGeom>
            <a:blipFill>
              <a:blip r:embed="rId3"/>
              <a:stretch>
                <a:fillRect b="-27371"/>
              </a:stretch>
            </a:blipFill>
          </p:spPr>
        </p:sp>
      </p:grpSp>
      <p:sp>
        <p:nvSpPr>
          <p:cNvPr id="14" name="TextBox 14"/>
          <p:cNvSpPr txBox="1"/>
          <p:nvPr/>
        </p:nvSpPr>
        <p:spPr>
          <a:xfrm>
            <a:off x="1028699" y="857250"/>
            <a:ext cx="6819899" cy="1476686"/>
          </a:xfrm>
          <a:prstGeom prst="rect">
            <a:avLst/>
          </a:prstGeom>
        </p:spPr>
        <p:txBody>
          <a:bodyPr wrap="square" lIns="0" tIns="0" rIns="0" bIns="0" rtlCol="0" anchor="t">
            <a:spAutoFit/>
          </a:bodyPr>
          <a:lstStyle/>
          <a:p>
            <a:pPr algn="ctr">
              <a:lnSpc>
                <a:spcPts val="12880"/>
              </a:lnSpc>
            </a:pPr>
            <a:r>
              <a:rPr lang="en-US" sz="9200" dirty="0">
                <a:solidFill>
                  <a:srgbClr val="000000"/>
                </a:solidFill>
                <a:latin typeface="Norwester"/>
                <a:ea typeface="Norwester"/>
                <a:cs typeface="Norwester"/>
                <a:sym typeface="Norwester"/>
              </a:rPr>
              <a:t>Impact of 5G:</a:t>
            </a:r>
          </a:p>
        </p:txBody>
      </p:sp>
      <p:sp>
        <p:nvSpPr>
          <p:cNvPr id="15" name="TextBox 15"/>
          <p:cNvSpPr txBox="1"/>
          <p:nvPr/>
        </p:nvSpPr>
        <p:spPr>
          <a:xfrm>
            <a:off x="660975" y="3733315"/>
            <a:ext cx="16966049" cy="2390140"/>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000000"/>
                </a:solidFill>
                <a:latin typeface="Playwrite US Modern"/>
                <a:ea typeface="Playwrite US Modern"/>
                <a:cs typeface="Playwrite US Modern"/>
                <a:sym typeface="Playwrite US Modern"/>
              </a:rPr>
              <a:t>Connects billions of smart devices (smart homes, wearables, industrial sensors)</a:t>
            </a:r>
          </a:p>
          <a:p>
            <a:pPr marL="734059" lvl="1" indent="-367030" algn="l">
              <a:lnSpc>
                <a:spcPts val="4759"/>
              </a:lnSpc>
              <a:buFont typeface="Arial"/>
              <a:buChar char="•"/>
            </a:pPr>
            <a:r>
              <a:rPr lang="en-US" sz="3399">
                <a:solidFill>
                  <a:srgbClr val="000000"/>
                </a:solidFill>
                <a:latin typeface="Playwrite US Modern"/>
                <a:ea typeface="Playwrite US Modern"/>
                <a:cs typeface="Playwrite US Modern"/>
                <a:sym typeface="Playwrite US Modern"/>
              </a:rPr>
              <a:t>Enables real-time data communication</a:t>
            </a:r>
          </a:p>
          <a:p>
            <a:pPr algn="l">
              <a:lnSpc>
                <a:spcPts val="4759"/>
              </a:lnSpc>
            </a:pPr>
            <a:endParaRPr lang="en-US" sz="3399">
              <a:solidFill>
                <a:srgbClr val="000000"/>
              </a:solidFill>
              <a:latin typeface="Playwrite US Modern"/>
              <a:ea typeface="Playwrite US Modern"/>
              <a:cs typeface="Playwrite US Modern"/>
              <a:sym typeface="Playwrite US Modern"/>
            </a:endParaRPr>
          </a:p>
        </p:txBody>
      </p:sp>
      <p:sp>
        <p:nvSpPr>
          <p:cNvPr id="16" name="TextBox 16"/>
          <p:cNvSpPr txBox="1"/>
          <p:nvPr/>
        </p:nvSpPr>
        <p:spPr>
          <a:xfrm>
            <a:off x="1028700" y="2664218"/>
            <a:ext cx="9837301" cy="896620"/>
          </a:xfrm>
          <a:prstGeom prst="rect">
            <a:avLst/>
          </a:prstGeom>
        </p:spPr>
        <p:txBody>
          <a:bodyPr lIns="0" tIns="0" rIns="0" bIns="0" rtlCol="0" anchor="t">
            <a:spAutoFit/>
          </a:bodyPr>
          <a:lstStyle/>
          <a:p>
            <a:pPr algn="ctr">
              <a:lnSpc>
                <a:spcPts val="7279"/>
              </a:lnSpc>
            </a:pPr>
            <a:r>
              <a:rPr lang="en-US" sz="5199">
                <a:solidFill>
                  <a:srgbClr val="000000"/>
                </a:solidFill>
                <a:latin typeface="Norwester"/>
                <a:ea typeface="Norwester"/>
                <a:cs typeface="Norwester"/>
                <a:sym typeface="Norwester"/>
              </a:rPr>
              <a:t>Growth of IoT (Internet of Things):</a:t>
            </a:r>
          </a:p>
        </p:txBody>
      </p:sp>
      <p:sp>
        <p:nvSpPr>
          <p:cNvPr id="17" name="TextBox 17"/>
          <p:cNvSpPr txBox="1"/>
          <p:nvPr/>
        </p:nvSpPr>
        <p:spPr>
          <a:xfrm>
            <a:off x="1028700" y="6018680"/>
            <a:ext cx="7353297" cy="835485"/>
          </a:xfrm>
          <a:prstGeom prst="rect">
            <a:avLst/>
          </a:prstGeom>
        </p:spPr>
        <p:txBody>
          <a:bodyPr wrap="square" lIns="0" tIns="0" rIns="0" bIns="0" rtlCol="0" anchor="t">
            <a:spAutoFit/>
          </a:bodyPr>
          <a:lstStyle/>
          <a:p>
            <a:pPr algn="ctr">
              <a:lnSpc>
                <a:spcPts val="7279"/>
              </a:lnSpc>
            </a:pPr>
            <a:r>
              <a:rPr lang="en-US" sz="5199" dirty="0">
                <a:solidFill>
                  <a:srgbClr val="000000"/>
                </a:solidFill>
                <a:latin typeface="Norwester"/>
                <a:ea typeface="Norwester"/>
                <a:cs typeface="Norwester"/>
                <a:sym typeface="Norwester"/>
              </a:rPr>
              <a:t>Stable AR/VR Streaming:</a:t>
            </a:r>
          </a:p>
        </p:txBody>
      </p:sp>
      <p:sp>
        <p:nvSpPr>
          <p:cNvPr id="18" name="TextBox 18"/>
          <p:cNvSpPr txBox="1"/>
          <p:nvPr/>
        </p:nvSpPr>
        <p:spPr>
          <a:xfrm>
            <a:off x="660975" y="7144143"/>
            <a:ext cx="17627025" cy="2390140"/>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000000"/>
                </a:solidFill>
                <a:latin typeface="Playwrite US Modern"/>
                <a:ea typeface="Playwrite US Modern"/>
                <a:cs typeface="Playwrite US Modern"/>
                <a:sym typeface="Playwrite US Modern"/>
              </a:rPr>
              <a:t>Low latency (~1 ms) allows smooth and immersive experiences</a:t>
            </a:r>
          </a:p>
          <a:p>
            <a:pPr marL="734059" lvl="1" indent="-367030" algn="l">
              <a:lnSpc>
                <a:spcPts val="4759"/>
              </a:lnSpc>
              <a:buFont typeface="Arial"/>
              <a:buChar char="•"/>
            </a:pPr>
            <a:r>
              <a:rPr lang="en-US" sz="3399">
                <a:solidFill>
                  <a:srgbClr val="000000"/>
                </a:solidFill>
                <a:latin typeface="Playwrite US Modern"/>
                <a:ea typeface="Playwrite US Modern"/>
                <a:cs typeface="Playwrite US Modern"/>
                <a:sym typeface="Playwrite US Modern"/>
              </a:rPr>
              <a:t>Supports applications like virtual gaming, training simulations, and remote collaboration</a:t>
            </a:r>
          </a:p>
          <a:p>
            <a:pPr algn="l">
              <a:lnSpc>
                <a:spcPts val="4759"/>
              </a:lnSpc>
            </a:pPr>
            <a:endParaRPr lang="en-US" sz="3399">
              <a:solidFill>
                <a:srgbClr val="000000"/>
              </a:solidFill>
              <a:latin typeface="Playwrite US Modern"/>
              <a:ea typeface="Playwrite US Modern"/>
              <a:cs typeface="Playwrite US Modern"/>
              <a:sym typeface="Playwrite US Moder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0" y="161049"/>
            <a:ext cx="18287613" cy="52335"/>
          </a:xfrm>
          <a:prstGeom prst="line">
            <a:avLst/>
          </a:prstGeom>
          <a:ln w="428625" cap="flat">
            <a:solidFill>
              <a:srgbClr val="5CA3FF"/>
            </a:solidFill>
            <a:prstDash val="solid"/>
            <a:headEnd type="none" w="sm" len="sm"/>
            <a:tailEnd type="none" w="sm" len="sm"/>
          </a:ln>
        </p:spPr>
      </p:sp>
      <p:sp>
        <p:nvSpPr>
          <p:cNvPr id="3" name="AutoShape 3"/>
          <p:cNvSpPr/>
          <p:nvPr/>
        </p:nvSpPr>
        <p:spPr>
          <a:xfrm flipH="1">
            <a:off x="119668" y="-25182"/>
            <a:ext cx="81857" cy="10371577"/>
          </a:xfrm>
          <a:prstGeom prst="line">
            <a:avLst/>
          </a:prstGeom>
          <a:ln w="428625" cap="flat">
            <a:solidFill>
              <a:srgbClr val="5CA3FF"/>
            </a:solidFill>
            <a:prstDash val="solid"/>
            <a:headEnd type="none" w="sm" len="sm"/>
            <a:tailEnd type="none" w="sm" len="sm"/>
          </a:ln>
        </p:spPr>
      </p:sp>
      <p:sp>
        <p:nvSpPr>
          <p:cNvPr id="4" name="AutoShape 4"/>
          <p:cNvSpPr/>
          <p:nvPr/>
        </p:nvSpPr>
        <p:spPr>
          <a:xfrm>
            <a:off x="376071" y="10072688"/>
            <a:ext cx="17911929" cy="34212"/>
          </a:xfrm>
          <a:prstGeom prst="line">
            <a:avLst/>
          </a:prstGeom>
          <a:ln w="428625" cap="flat">
            <a:solidFill>
              <a:srgbClr val="FFA51F"/>
            </a:solidFill>
            <a:prstDash val="solid"/>
            <a:headEnd type="none" w="sm" len="sm"/>
            <a:tailEnd type="none" w="sm" len="sm"/>
          </a:ln>
        </p:spPr>
      </p:sp>
      <p:sp>
        <p:nvSpPr>
          <p:cNvPr id="5" name="AutoShape 5"/>
          <p:cNvSpPr/>
          <p:nvPr/>
        </p:nvSpPr>
        <p:spPr>
          <a:xfrm>
            <a:off x="18049503" y="19050"/>
            <a:ext cx="63951" cy="10327345"/>
          </a:xfrm>
          <a:prstGeom prst="line">
            <a:avLst/>
          </a:prstGeom>
          <a:ln w="428625" cap="flat">
            <a:solidFill>
              <a:srgbClr val="FFA51F"/>
            </a:solidFill>
            <a:prstDash val="solid"/>
            <a:headEnd type="none" w="sm" len="sm"/>
            <a:tailEnd type="none" w="sm" len="sm"/>
          </a:ln>
        </p:spPr>
      </p:sp>
      <p:grpSp>
        <p:nvGrpSpPr>
          <p:cNvPr id="6" name="Group 6"/>
          <p:cNvGrpSpPr/>
          <p:nvPr/>
        </p:nvGrpSpPr>
        <p:grpSpPr>
          <a:xfrm>
            <a:off x="38806" y="0"/>
            <a:ext cx="989894" cy="1267064"/>
            <a:chOff x="0" y="0"/>
            <a:chExt cx="635000" cy="812800"/>
          </a:xfrm>
        </p:grpSpPr>
        <p:sp>
          <p:nvSpPr>
            <p:cNvPr id="7" name="Freeform 7"/>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FFDE59">
                    <a:alpha val="100000"/>
                  </a:srgbClr>
                </a:gs>
                <a:gs pos="100000">
                  <a:srgbClr val="FF914D">
                    <a:alpha val="100000"/>
                  </a:srgbClr>
                </a:gs>
              </a:gsLst>
              <a:lin ang="0"/>
            </a:gradFill>
          </p:spPr>
        </p:sp>
        <p:sp>
          <p:nvSpPr>
            <p:cNvPr id="8" name="TextBox 8"/>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7298106" y="9019936"/>
            <a:ext cx="989894" cy="1267064"/>
            <a:chOff x="0" y="0"/>
            <a:chExt cx="635000" cy="812800"/>
          </a:xfrm>
        </p:grpSpPr>
        <p:sp>
          <p:nvSpPr>
            <p:cNvPr id="10" name="Freeform 10"/>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5DE0E6">
                    <a:alpha val="100000"/>
                  </a:srgbClr>
                </a:gs>
                <a:gs pos="100000">
                  <a:srgbClr val="004AAD">
                    <a:alpha val="100000"/>
                  </a:srgbClr>
                </a:gs>
              </a:gsLst>
              <a:lin ang="0"/>
            </a:gradFill>
          </p:spPr>
        </p:sp>
        <p:sp>
          <p:nvSpPr>
            <p:cNvPr id="11" name="TextBox 11"/>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3515604" y="495986"/>
            <a:ext cx="4277449" cy="1258472"/>
            <a:chOff x="0" y="0"/>
            <a:chExt cx="5703265" cy="1677962"/>
          </a:xfrm>
        </p:grpSpPr>
        <p:sp>
          <p:nvSpPr>
            <p:cNvPr id="13" name="Freeform 13" descr="F:\F\abdesktop\Logo_NTTF_2019\NTTF Logo_png.png"/>
            <p:cNvSpPr/>
            <p:nvPr/>
          </p:nvSpPr>
          <p:spPr>
            <a:xfrm>
              <a:off x="0" y="0"/>
              <a:ext cx="5703316" cy="1677924"/>
            </a:xfrm>
            <a:custGeom>
              <a:avLst/>
              <a:gdLst/>
              <a:ahLst/>
              <a:cxnLst/>
              <a:rect l="l" t="t" r="r" b="b"/>
              <a:pathLst>
                <a:path w="5703316" h="1677924">
                  <a:moveTo>
                    <a:pt x="0" y="0"/>
                  </a:moveTo>
                  <a:lnTo>
                    <a:pt x="5703316" y="0"/>
                  </a:lnTo>
                  <a:lnTo>
                    <a:pt x="5703316" y="1677924"/>
                  </a:lnTo>
                  <a:lnTo>
                    <a:pt x="0" y="1677924"/>
                  </a:lnTo>
                  <a:lnTo>
                    <a:pt x="0" y="0"/>
                  </a:lnTo>
                  <a:close/>
                </a:path>
              </a:pathLst>
            </a:custGeom>
            <a:blipFill>
              <a:blip r:embed="rId3"/>
              <a:stretch>
                <a:fillRect b="-27371"/>
              </a:stretch>
            </a:blipFill>
          </p:spPr>
        </p:sp>
      </p:grpSp>
      <p:sp>
        <p:nvSpPr>
          <p:cNvPr id="14" name="TextBox 14"/>
          <p:cNvSpPr txBox="1"/>
          <p:nvPr/>
        </p:nvSpPr>
        <p:spPr>
          <a:xfrm>
            <a:off x="1028700" y="847725"/>
            <a:ext cx="10116722" cy="1584196"/>
          </a:xfrm>
          <a:prstGeom prst="rect">
            <a:avLst/>
          </a:prstGeom>
        </p:spPr>
        <p:txBody>
          <a:bodyPr lIns="0" tIns="0" rIns="0" bIns="0" rtlCol="0" anchor="t">
            <a:spAutoFit/>
          </a:bodyPr>
          <a:lstStyle/>
          <a:p>
            <a:pPr algn="ctr">
              <a:lnSpc>
                <a:spcPts val="12957"/>
              </a:lnSpc>
            </a:pPr>
            <a:r>
              <a:rPr lang="en-US" sz="9255" dirty="0">
                <a:solidFill>
                  <a:srgbClr val="000000"/>
                </a:solidFill>
                <a:latin typeface="Norwester"/>
                <a:ea typeface="Norwester"/>
                <a:cs typeface="Norwester"/>
                <a:sym typeface="Norwester"/>
              </a:rPr>
              <a:t>Why Do We Need 6G?</a:t>
            </a:r>
          </a:p>
        </p:txBody>
      </p:sp>
      <p:grpSp>
        <p:nvGrpSpPr>
          <p:cNvPr id="15" name="Group 15"/>
          <p:cNvGrpSpPr/>
          <p:nvPr/>
        </p:nvGrpSpPr>
        <p:grpSpPr>
          <a:xfrm>
            <a:off x="690392" y="2648496"/>
            <a:ext cx="15306681" cy="6917104"/>
            <a:chOff x="0" y="-76200"/>
            <a:chExt cx="20408908" cy="9222805"/>
          </a:xfrm>
        </p:grpSpPr>
        <p:sp>
          <p:nvSpPr>
            <p:cNvPr id="16" name="TextBox 16"/>
            <p:cNvSpPr txBox="1"/>
            <p:nvPr/>
          </p:nvSpPr>
          <p:spPr>
            <a:xfrm>
              <a:off x="330511" y="1498023"/>
              <a:ext cx="17488416" cy="1474630"/>
            </a:xfrm>
            <a:prstGeom prst="rect">
              <a:avLst/>
            </a:prstGeom>
          </p:spPr>
          <p:txBody>
            <a:bodyPr lIns="0" tIns="0" rIns="0" bIns="0" rtlCol="0" anchor="t">
              <a:spAutoFit/>
            </a:bodyPr>
            <a:lstStyle/>
            <a:p>
              <a:pPr marL="440531" lvl="1" indent="-220266" algn="l">
                <a:lnSpc>
                  <a:spcPts val="2856"/>
                </a:lnSpc>
                <a:buFont typeface="Arial"/>
                <a:buChar char="•"/>
              </a:pPr>
              <a:r>
                <a:rPr lang="en-US" sz="2040">
                  <a:solidFill>
                    <a:srgbClr val="000000"/>
                  </a:solidFill>
                  <a:latin typeface="Playwrite US Modern"/>
                  <a:ea typeface="Playwrite US Modern"/>
                  <a:cs typeface="Playwrite US Modern"/>
                  <a:sym typeface="Playwrite US Modern"/>
                </a:rPr>
                <a:t>Rapid growth of connected devices</a:t>
              </a:r>
            </a:p>
            <a:p>
              <a:pPr marL="440531" lvl="1" indent="-220266" algn="l">
                <a:lnSpc>
                  <a:spcPts val="2856"/>
                </a:lnSpc>
                <a:buFont typeface="Arial"/>
                <a:buChar char="•"/>
              </a:pPr>
              <a:r>
                <a:rPr lang="en-US" sz="2040">
                  <a:solidFill>
                    <a:srgbClr val="000000"/>
                  </a:solidFill>
                  <a:latin typeface="Playwrite US Modern"/>
                  <a:ea typeface="Playwrite US Modern"/>
                  <a:cs typeface="Playwrite US Modern"/>
                  <a:sym typeface="Playwrite US Modern"/>
                </a:rPr>
                <a:t>5G may reach capacity limits</a:t>
              </a:r>
            </a:p>
            <a:p>
              <a:pPr marL="440531" lvl="1" indent="-220266" algn="l">
                <a:lnSpc>
                  <a:spcPts val="2856"/>
                </a:lnSpc>
                <a:buFont typeface="Arial"/>
                <a:buChar char="•"/>
              </a:pPr>
              <a:r>
                <a:rPr lang="en-US" sz="2040">
                  <a:solidFill>
                    <a:srgbClr val="000000"/>
                  </a:solidFill>
                  <a:latin typeface="Playwrite US Modern"/>
                  <a:ea typeface="Playwrite US Modern"/>
                  <a:cs typeface="Playwrite US Modern"/>
                  <a:sym typeface="Playwrite US Modern"/>
                </a:rPr>
                <a:t>Need for faster, real-time communication</a:t>
              </a:r>
            </a:p>
            <a:p>
              <a:pPr marL="12965" lvl="1" indent="-6482" algn="l">
                <a:lnSpc>
                  <a:spcPts val="84"/>
                </a:lnSpc>
                <a:buFont typeface="Arial"/>
                <a:buChar char="•"/>
              </a:pPr>
              <a:endParaRPr lang="en-US" sz="2040">
                <a:solidFill>
                  <a:srgbClr val="000000"/>
                </a:solidFill>
                <a:latin typeface="Playwrite US Modern"/>
                <a:ea typeface="Playwrite US Modern"/>
                <a:cs typeface="Playwrite US Modern"/>
                <a:sym typeface="Playwrite US Modern"/>
              </a:endParaRPr>
            </a:p>
          </p:txBody>
        </p:sp>
        <p:sp>
          <p:nvSpPr>
            <p:cNvPr id="17" name="TextBox 17"/>
            <p:cNvSpPr txBox="1"/>
            <p:nvPr/>
          </p:nvSpPr>
          <p:spPr>
            <a:xfrm>
              <a:off x="700023" y="-76200"/>
              <a:ext cx="5175317" cy="910648"/>
            </a:xfrm>
            <a:prstGeom prst="rect">
              <a:avLst/>
            </a:prstGeom>
          </p:spPr>
          <p:txBody>
            <a:bodyPr lIns="0" tIns="0" rIns="0" bIns="0" rtlCol="0" anchor="t">
              <a:spAutoFit/>
            </a:bodyPr>
            <a:lstStyle/>
            <a:p>
              <a:pPr algn="ctr">
                <a:lnSpc>
                  <a:spcPts val="5753"/>
                </a:lnSpc>
              </a:pPr>
              <a:r>
                <a:rPr lang="en-US" sz="4109">
                  <a:solidFill>
                    <a:srgbClr val="000000"/>
                  </a:solidFill>
                  <a:latin typeface="Norwester"/>
                  <a:ea typeface="Norwester"/>
                  <a:cs typeface="Norwester"/>
                  <a:sym typeface="Norwester"/>
                </a:rPr>
                <a:t>1. Data Explosion:</a:t>
              </a:r>
            </a:p>
          </p:txBody>
        </p:sp>
        <p:sp>
          <p:nvSpPr>
            <p:cNvPr id="18" name="TextBox 18"/>
            <p:cNvSpPr txBox="1"/>
            <p:nvPr/>
          </p:nvSpPr>
          <p:spPr>
            <a:xfrm>
              <a:off x="391621" y="5213702"/>
              <a:ext cx="17955797" cy="1007328"/>
            </a:xfrm>
            <a:prstGeom prst="rect">
              <a:avLst/>
            </a:prstGeom>
          </p:spPr>
          <p:txBody>
            <a:bodyPr lIns="0" tIns="0" rIns="0" bIns="0" rtlCol="0" anchor="t">
              <a:spAutoFit/>
            </a:bodyPr>
            <a:lstStyle/>
            <a:p>
              <a:pPr marL="452304" lvl="1" indent="-226152" algn="l">
                <a:lnSpc>
                  <a:spcPts val="2932"/>
                </a:lnSpc>
                <a:buFont typeface="Arial"/>
                <a:buChar char="•"/>
              </a:pPr>
              <a:r>
                <a:rPr lang="en-US" sz="2094">
                  <a:solidFill>
                    <a:srgbClr val="000000"/>
                  </a:solidFill>
                  <a:latin typeface="Playwrite US Modern"/>
                  <a:ea typeface="Playwrite US Modern"/>
                  <a:cs typeface="Playwrite US Modern"/>
                  <a:sym typeface="Playwrite US Modern"/>
                </a:rPr>
                <a:t>Supports XR, holograms, remote surgery</a:t>
              </a:r>
            </a:p>
            <a:p>
              <a:pPr marL="452304" lvl="1" indent="-226152" algn="l">
                <a:lnSpc>
                  <a:spcPts val="2932"/>
                </a:lnSpc>
                <a:buFont typeface="Arial"/>
                <a:buChar char="•"/>
              </a:pPr>
              <a:r>
                <a:rPr lang="en-US" sz="2094">
                  <a:solidFill>
                    <a:srgbClr val="000000"/>
                  </a:solidFill>
                  <a:latin typeface="Playwrite US Modern"/>
                  <a:ea typeface="Playwrite US Modern"/>
                  <a:cs typeface="Playwrite US Modern"/>
                  <a:sym typeface="Playwrite US Modern"/>
                </a:rPr>
                <a:t>Requires ultra-high speed &amp; low latency</a:t>
              </a:r>
            </a:p>
            <a:p>
              <a:pPr marL="13311" lvl="1" indent="-6656" algn="l">
                <a:lnSpc>
                  <a:spcPts val="86"/>
                </a:lnSpc>
                <a:buFont typeface="Arial"/>
                <a:buChar char="•"/>
              </a:pPr>
              <a:endParaRPr lang="en-US" sz="2094">
                <a:solidFill>
                  <a:srgbClr val="000000"/>
                </a:solidFill>
                <a:latin typeface="Playwrite US Modern"/>
                <a:ea typeface="Playwrite US Modern"/>
                <a:cs typeface="Playwrite US Modern"/>
                <a:sym typeface="Playwrite US Modern"/>
              </a:endParaRPr>
            </a:p>
          </p:txBody>
        </p:sp>
        <p:sp>
          <p:nvSpPr>
            <p:cNvPr id="19" name="TextBox 19"/>
            <p:cNvSpPr txBox="1"/>
            <p:nvPr/>
          </p:nvSpPr>
          <p:spPr>
            <a:xfrm>
              <a:off x="0" y="3598128"/>
              <a:ext cx="7026954" cy="942474"/>
            </a:xfrm>
            <a:prstGeom prst="rect">
              <a:avLst/>
            </a:prstGeom>
          </p:spPr>
          <p:txBody>
            <a:bodyPr lIns="0" tIns="0" rIns="0" bIns="0" rtlCol="0" anchor="t">
              <a:spAutoFit/>
            </a:bodyPr>
            <a:lstStyle/>
            <a:p>
              <a:pPr marL="911025" lvl="1" indent="-455513" algn="l">
                <a:lnSpc>
                  <a:spcPts val="5907"/>
                </a:lnSpc>
                <a:buAutoNum type="arabicPeriod"/>
              </a:pPr>
              <a:r>
                <a:rPr lang="en-US" sz="4219">
                  <a:solidFill>
                    <a:srgbClr val="000000"/>
                  </a:solidFill>
                  <a:latin typeface="Norwester"/>
                  <a:ea typeface="Norwester"/>
                  <a:cs typeface="Norwester"/>
                  <a:sym typeface="Norwester"/>
                </a:rPr>
                <a:t>New Requirements:</a:t>
              </a:r>
            </a:p>
          </p:txBody>
        </p:sp>
        <p:sp>
          <p:nvSpPr>
            <p:cNvPr id="20" name="TextBox 20"/>
            <p:cNvSpPr txBox="1"/>
            <p:nvPr/>
          </p:nvSpPr>
          <p:spPr>
            <a:xfrm>
              <a:off x="330511" y="8024702"/>
              <a:ext cx="20078397" cy="1121903"/>
            </a:xfrm>
            <a:prstGeom prst="rect">
              <a:avLst/>
            </a:prstGeom>
          </p:spPr>
          <p:txBody>
            <a:bodyPr lIns="0" tIns="0" rIns="0" bIns="0" rtlCol="0" anchor="t">
              <a:spAutoFit/>
            </a:bodyPr>
            <a:lstStyle/>
            <a:p>
              <a:pPr marL="505773" lvl="1" indent="-252886" algn="l">
                <a:lnSpc>
                  <a:spcPts val="3279"/>
                </a:lnSpc>
                <a:buFont typeface="Arial"/>
                <a:buChar char="•"/>
              </a:pPr>
              <a:r>
                <a:rPr lang="en-US" sz="2342">
                  <a:solidFill>
                    <a:srgbClr val="000000"/>
                  </a:solidFill>
                  <a:latin typeface="Playwrite US Modern"/>
                  <a:ea typeface="Playwrite US Modern"/>
                  <a:cs typeface="Playwrite US Modern"/>
                  <a:sym typeface="Playwrite US Modern"/>
                </a:rPr>
                <a:t>Reduces energy consumption</a:t>
              </a:r>
            </a:p>
            <a:p>
              <a:pPr marL="505773" lvl="1" indent="-252886" algn="l">
                <a:lnSpc>
                  <a:spcPts val="3279"/>
                </a:lnSpc>
                <a:buFont typeface="Arial"/>
                <a:buChar char="•"/>
              </a:pPr>
              <a:r>
                <a:rPr lang="en-US" sz="2342">
                  <a:solidFill>
                    <a:srgbClr val="000000"/>
                  </a:solidFill>
                  <a:latin typeface="Playwrite US Modern"/>
                  <a:ea typeface="Playwrite US Modern"/>
                  <a:cs typeface="Playwrite US Modern"/>
                  <a:sym typeface="Playwrite US Modern"/>
                </a:rPr>
                <a:t>More efficient and eco-friendly networks</a:t>
              </a:r>
            </a:p>
            <a:p>
              <a:pPr marL="14885" lvl="1" indent="-7442" algn="l">
                <a:lnSpc>
                  <a:spcPts val="96"/>
                </a:lnSpc>
                <a:buFont typeface="Arial"/>
                <a:buChar char="•"/>
              </a:pPr>
              <a:endParaRPr lang="en-US" sz="2342">
                <a:solidFill>
                  <a:srgbClr val="000000"/>
                </a:solidFill>
                <a:latin typeface="Playwrite US Modern"/>
                <a:ea typeface="Playwrite US Modern"/>
                <a:cs typeface="Playwrite US Modern"/>
                <a:sym typeface="Playwrite US Modern"/>
              </a:endParaRPr>
            </a:p>
          </p:txBody>
        </p:sp>
        <p:sp>
          <p:nvSpPr>
            <p:cNvPr id="21" name="TextBox 21"/>
            <p:cNvSpPr txBox="1"/>
            <p:nvPr/>
          </p:nvSpPr>
          <p:spPr>
            <a:xfrm>
              <a:off x="700023" y="6846505"/>
              <a:ext cx="5796255" cy="1923299"/>
            </a:xfrm>
            <a:prstGeom prst="rect">
              <a:avLst/>
            </a:prstGeom>
          </p:spPr>
          <p:txBody>
            <a:bodyPr wrap="square" lIns="0" tIns="0" rIns="0" bIns="0" rtlCol="0" anchor="t">
              <a:spAutoFit/>
            </a:bodyPr>
            <a:lstStyle/>
            <a:p>
              <a:pPr algn="l">
                <a:lnSpc>
                  <a:spcPts val="5901"/>
                </a:lnSpc>
              </a:pPr>
              <a:r>
                <a:rPr lang="en-US" sz="4215" dirty="0">
                  <a:solidFill>
                    <a:srgbClr val="000000"/>
                  </a:solidFill>
                  <a:latin typeface="Norwester"/>
                  <a:ea typeface="Norwester"/>
                  <a:cs typeface="Norwester"/>
                  <a:sym typeface="Norwester"/>
                </a:rPr>
                <a:t>3. Sustainability:</a:t>
              </a:r>
            </a:p>
            <a:p>
              <a:pPr algn="l">
                <a:lnSpc>
                  <a:spcPts val="5901"/>
                </a:lnSpc>
              </a:pPr>
              <a:endParaRPr lang="en-US" sz="4215" dirty="0">
                <a:solidFill>
                  <a:srgbClr val="000000"/>
                </a:solidFill>
                <a:latin typeface="Norwester"/>
                <a:ea typeface="Norwester"/>
                <a:cs typeface="Norwester"/>
                <a:sym typeface="Norwester"/>
              </a:endParaRPr>
            </a:p>
          </p:txBody>
        </p:sp>
      </p:grpSp>
      <p:pic>
        <p:nvPicPr>
          <p:cNvPr id="23" name="Picture 22">
            <a:extLst>
              <a:ext uri="{FF2B5EF4-FFF2-40B4-BE49-F238E27FC236}">
                <a16:creationId xmlns:a16="http://schemas.microsoft.com/office/drawing/2014/main" id="{0DB5E0A8-B593-475D-9038-B593A42545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41717" y="3331482"/>
            <a:ext cx="6144075" cy="460212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0" y="161049"/>
            <a:ext cx="18287613" cy="95441"/>
          </a:xfrm>
          <a:prstGeom prst="line">
            <a:avLst/>
          </a:prstGeom>
          <a:ln w="428625" cap="flat">
            <a:solidFill>
              <a:srgbClr val="5CA3FF"/>
            </a:solidFill>
            <a:prstDash val="solid"/>
            <a:headEnd type="none" w="sm" len="sm"/>
            <a:tailEnd type="none" w="sm" len="sm"/>
          </a:ln>
        </p:spPr>
      </p:sp>
      <p:sp>
        <p:nvSpPr>
          <p:cNvPr id="3" name="AutoShape 3"/>
          <p:cNvSpPr/>
          <p:nvPr/>
        </p:nvSpPr>
        <p:spPr>
          <a:xfrm>
            <a:off x="214697" y="-59394"/>
            <a:ext cx="0" cy="10371578"/>
          </a:xfrm>
          <a:prstGeom prst="line">
            <a:avLst/>
          </a:prstGeom>
          <a:ln w="428625" cap="flat">
            <a:solidFill>
              <a:srgbClr val="5CA3FF"/>
            </a:solidFill>
            <a:prstDash val="solid"/>
            <a:headEnd type="none" w="sm" len="sm"/>
            <a:tailEnd type="none" w="sm" len="sm"/>
          </a:ln>
        </p:spPr>
      </p:sp>
      <p:sp>
        <p:nvSpPr>
          <p:cNvPr id="4" name="AutoShape 4"/>
          <p:cNvSpPr/>
          <p:nvPr/>
        </p:nvSpPr>
        <p:spPr>
          <a:xfrm>
            <a:off x="376072" y="10072688"/>
            <a:ext cx="17911542" cy="34212"/>
          </a:xfrm>
          <a:prstGeom prst="line">
            <a:avLst/>
          </a:prstGeom>
          <a:ln w="428625" cap="flat">
            <a:solidFill>
              <a:srgbClr val="FFA51F"/>
            </a:solidFill>
            <a:prstDash val="solid"/>
            <a:headEnd type="none" w="sm" len="sm"/>
            <a:tailEnd type="none" w="sm" len="sm"/>
          </a:ln>
        </p:spPr>
      </p:sp>
      <p:sp>
        <p:nvSpPr>
          <p:cNvPr id="5" name="AutoShape 5"/>
          <p:cNvSpPr/>
          <p:nvPr/>
        </p:nvSpPr>
        <p:spPr>
          <a:xfrm>
            <a:off x="18073300" y="-59393"/>
            <a:ext cx="0" cy="10346394"/>
          </a:xfrm>
          <a:prstGeom prst="line">
            <a:avLst/>
          </a:prstGeom>
          <a:ln w="428625" cap="flat">
            <a:solidFill>
              <a:srgbClr val="FFA51F"/>
            </a:solidFill>
            <a:prstDash val="solid"/>
            <a:headEnd type="none" w="sm" len="sm"/>
            <a:tailEnd type="none" w="sm" len="sm"/>
          </a:ln>
        </p:spPr>
      </p:sp>
      <p:grpSp>
        <p:nvGrpSpPr>
          <p:cNvPr id="6" name="Group 6"/>
          <p:cNvGrpSpPr/>
          <p:nvPr/>
        </p:nvGrpSpPr>
        <p:grpSpPr>
          <a:xfrm>
            <a:off x="38806" y="0"/>
            <a:ext cx="989894" cy="1267064"/>
            <a:chOff x="0" y="0"/>
            <a:chExt cx="635000" cy="812800"/>
          </a:xfrm>
        </p:grpSpPr>
        <p:sp>
          <p:nvSpPr>
            <p:cNvPr id="7" name="Freeform 7"/>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FFDE59">
                    <a:alpha val="100000"/>
                  </a:srgbClr>
                </a:gs>
                <a:gs pos="100000">
                  <a:srgbClr val="FF914D">
                    <a:alpha val="100000"/>
                  </a:srgbClr>
                </a:gs>
              </a:gsLst>
              <a:lin ang="0"/>
            </a:gradFill>
          </p:spPr>
        </p:sp>
        <p:sp>
          <p:nvSpPr>
            <p:cNvPr id="8" name="TextBox 8"/>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7298106" y="9019936"/>
            <a:ext cx="989894" cy="1267064"/>
            <a:chOff x="0" y="0"/>
            <a:chExt cx="635000" cy="812800"/>
          </a:xfrm>
        </p:grpSpPr>
        <p:sp>
          <p:nvSpPr>
            <p:cNvPr id="10" name="Freeform 10"/>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5DE0E6">
                    <a:alpha val="100000"/>
                  </a:srgbClr>
                </a:gs>
                <a:gs pos="100000">
                  <a:srgbClr val="004AAD">
                    <a:alpha val="100000"/>
                  </a:srgbClr>
                </a:gs>
              </a:gsLst>
              <a:lin ang="0"/>
            </a:gradFill>
          </p:spPr>
        </p:sp>
        <p:sp>
          <p:nvSpPr>
            <p:cNvPr id="11" name="TextBox 11"/>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3515604" y="495986"/>
            <a:ext cx="4277449" cy="1258472"/>
            <a:chOff x="0" y="0"/>
            <a:chExt cx="5703265" cy="1677962"/>
          </a:xfrm>
        </p:grpSpPr>
        <p:sp>
          <p:nvSpPr>
            <p:cNvPr id="13" name="Freeform 13" descr="F:\F\abdesktop\Logo_NTTF_2019\NTTF Logo_png.png"/>
            <p:cNvSpPr/>
            <p:nvPr/>
          </p:nvSpPr>
          <p:spPr>
            <a:xfrm>
              <a:off x="0" y="0"/>
              <a:ext cx="5703316" cy="1677924"/>
            </a:xfrm>
            <a:custGeom>
              <a:avLst/>
              <a:gdLst/>
              <a:ahLst/>
              <a:cxnLst/>
              <a:rect l="l" t="t" r="r" b="b"/>
              <a:pathLst>
                <a:path w="5703316" h="1677924">
                  <a:moveTo>
                    <a:pt x="0" y="0"/>
                  </a:moveTo>
                  <a:lnTo>
                    <a:pt x="5703316" y="0"/>
                  </a:lnTo>
                  <a:lnTo>
                    <a:pt x="5703316" y="1677924"/>
                  </a:lnTo>
                  <a:lnTo>
                    <a:pt x="0" y="1677924"/>
                  </a:lnTo>
                  <a:lnTo>
                    <a:pt x="0" y="0"/>
                  </a:lnTo>
                  <a:close/>
                </a:path>
              </a:pathLst>
            </a:custGeom>
            <a:blipFill>
              <a:blip r:embed="rId3"/>
              <a:stretch>
                <a:fillRect b="-27371"/>
              </a:stretch>
            </a:blipFill>
          </p:spPr>
        </p:sp>
      </p:grpSp>
      <p:sp>
        <p:nvSpPr>
          <p:cNvPr id="14" name="Freeform 14"/>
          <p:cNvSpPr/>
          <p:nvPr/>
        </p:nvSpPr>
        <p:spPr>
          <a:xfrm>
            <a:off x="2590417" y="4065416"/>
            <a:ext cx="12506122" cy="5399740"/>
          </a:xfrm>
          <a:custGeom>
            <a:avLst/>
            <a:gdLst/>
            <a:ahLst/>
            <a:cxnLst/>
            <a:rect l="l" t="t" r="r" b="b"/>
            <a:pathLst>
              <a:path w="12506122" h="5399740">
                <a:moveTo>
                  <a:pt x="0" y="0"/>
                </a:moveTo>
                <a:lnTo>
                  <a:pt x="12506122" y="0"/>
                </a:lnTo>
                <a:lnTo>
                  <a:pt x="12506122" y="5399740"/>
                </a:lnTo>
                <a:lnTo>
                  <a:pt x="0" y="5399740"/>
                </a:lnTo>
                <a:lnTo>
                  <a:pt x="0" y="0"/>
                </a:lnTo>
                <a:close/>
              </a:path>
            </a:pathLst>
          </a:custGeom>
          <a:blipFill>
            <a:blip r:embed="rId4"/>
            <a:stretch>
              <a:fillRect l="-2852" t="-21742" r="-2805"/>
            </a:stretch>
          </a:blipFill>
        </p:spPr>
      </p:sp>
      <p:sp>
        <p:nvSpPr>
          <p:cNvPr id="15" name="TextBox 15"/>
          <p:cNvSpPr txBox="1"/>
          <p:nvPr/>
        </p:nvSpPr>
        <p:spPr>
          <a:xfrm>
            <a:off x="1232992" y="2794627"/>
            <a:ext cx="5411629" cy="896620"/>
          </a:xfrm>
          <a:prstGeom prst="rect">
            <a:avLst/>
          </a:prstGeom>
        </p:spPr>
        <p:txBody>
          <a:bodyPr lIns="0" tIns="0" rIns="0" bIns="0" rtlCol="0" anchor="t">
            <a:spAutoFit/>
          </a:bodyPr>
          <a:lstStyle/>
          <a:p>
            <a:pPr algn="l">
              <a:lnSpc>
                <a:spcPts val="7279"/>
              </a:lnSpc>
            </a:pPr>
            <a:r>
              <a:rPr lang="en-US" sz="5199">
                <a:solidFill>
                  <a:srgbClr val="000000"/>
                </a:solidFill>
                <a:latin typeface="Norwester"/>
                <a:ea typeface="Norwester"/>
                <a:cs typeface="Norwester"/>
                <a:sym typeface="Norwester"/>
              </a:rPr>
              <a:t>Comparision Table:</a:t>
            </a:r>
          </a:p>
        </p:txBody>
      </p:sp>
      <p:sp>
        <p:nvSpPr>
          <p:cNvPr id="16" name="TextBox 16"/>
          <p:cNvSpPr txBox="1"/>
          <p:nvPr/>
        </p:nvSpPr>
        <p:spPr>
          <a:xfrm>
            <a:off x="1028700" y="876300"/>
            <a:ext cx="15015592" cy="1384927"/>
          </a:xfrm>
          <a:prstGeom prst="rect">
            <a:avLst/>
          </a:prstGeom>
        </p:spPr>
        <p:txBody>
          <a:bodyPr lIns="0" tIns="0" rIns="0" bIns="0" rtlCol="0" anchor="t">
            <a:spAutoFit/>
          </a:bodyPr>
          <a:lstStyle/>
          <a:p>
            <a:pPr algn="ctr">
              <a:lnSpc>
                <a:spcPts val="11340"/>
              </a:lnSpc>
            </a:pPr>
            <a:r>
              <a:rPr lang="en-US" sz="8100">
                <a:solidFill>
                  <a:srgbClr val="000000"/>
                </a:solidFill>
                <a:latin typeface="Norwester"/>
                <a:ea typeface="Norwester"/>
                <a:cs typeface="Norwester"/>
                <a:sym typeface="Norwester"/>
              </a:rPr>
              <a:t>6G vs. 5G – The Performance Leap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0" y="161050"/>
            <a:ext cx="18287613" cy="53262"/>
          </a:xfrm>
          <a:prstGeom prst="line">
            <a:avLst/>
          </a:prstGeom>
          <a:ln w="428625" cap="flat">
            <a:solidFill>
              <a:srgbClr val="5CA3FF"/>
            </a:solidFill>
            <a:prstDash val="solid"/>
            <a:headEnd type="none" w="sm" len="sm"/>
            <a:tailEnd type="none" w="sm" len="sm"/>
          </a:ln>
        </p:spPr>
      </p:sp>
      <p:sp>
        <p:nvSpPr>
          <p:cNvPr id="3" name="AutoShape 3"/>
          <p:cNvSpPr/>
          <p:nvPr/>
        </p:nvSpPr>
        <p:spPr>
          <a:xfrm>
            <a:off x="109518" y="-59394"/>
            <a:ext cx="26215" cy="10405788"/>
          </a:xfrm>
          <a:prstGeom prst="line">
            <a:avLst/>
          </a:prstGeom>
          <a:ln w="428625" cap="flat">
            <a:solidFill>
              <a:srgbClr val="5CA3FF"/>
            </a:solidFill>
            <a:prstDash val="solid"/>
            <a:headEnd type="none" w="sm" len="sm"/>
            <a:tailEnd type="none" w="sm" len="sm"/>
          </a:ln>
        </p:spPr>
      </p:sp>
      <p:sp>
        <p:nvSpPr>
          <p:cNvPr id="4" name="AutoShape 4"/>
          <p:cNvSpPr/>
          <p:nvPr/>
        </p:nvSpPr>
        <p:spPr>
          <a:xfrm>
            <a:off x="376071" y="10072688"/>
            <a:ext cx="17911929" cy="53262"/>
          </a:xfrm>
          <a:prstGeom prst="line">
            <a:avLst/>
          </a:prstGeom>
          <a:ln w="428625" cap="flat">
            <a:solidFill>
              <a:srgbClr val="FFA51F"/>
            </a:solidFill>
            <a:prstDash val="solid"/>
            <a:headEnd type="none" w="sm" len="sm"/>
            <a:tailEnd type="none" w="sm" len="sm"/>
          </a:ln>
        </p:spPr>
      </p:sp>
      <p:sp>
        <p:nvSpPr>
          <p:cNvPr id="5" name="AutoShape 5"/>
          <p:cNvSpPr/>
          <p:nvPr/>
        </p:nvSpPr>
        <p:spPr>
          <a:xfrm>
            <a:off x="18059644" y="-59393"/>
            <a:ext cx="92623" cy="10405788"/>
          </a:xfrm>
          <a:prstGeom prst="line">
            <a:avLst/>
          </a:prstGeom>
          <a:ln w="428625" cap="flat">
            <a:solidFill>
              <a:srgbClr val="FFA51F"/>
            </a:solidFill>
            <a:prstDash val="solid"/>
            <a:headEnd type="none" w="sm" len="sm"/>
            <a:tailEnd type="none" w="sm" len="sm"/>
          </a:ln>
        </p:spPr>
      </p:sp>
      <p:grpSp>
        <p:nvGrpSpPr>
          <p:cNvPr id="6" name="Group 6"/>
          <p:cNvGrpSpPr/>
          <p:nvPr/>
        </p:nvGrpSpPr>
        <p:grpSpPr>
          <a:xfrm>
            <a:off x="38806" y="0"/>
            <a:ext cx="989894" cy="1267064"/>
            <a:chOff x="0" y="0"/>
            <a:chExt cx="635000" cy="812800"/>
          </a:xfrm>
        </p:grpSpPr>
        <p:sp>
          <p:nvSpPr>
            <p:cNvPr id="7" name="Freeform 7"/>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FFDE59">
                    <a:alpha val="100000"/>
                  </a:srgbClr>
                </a:gs>
                <a:gs pos="100000">
                  <a:srgbClr val="FF914D">
                    <a:alpha val="100000"/>
                  </a:srgbClr>
                </a:gs>
              </a:gsLst>
              <a:lin ang="0"/>
            </a:gradFill>
          </p:spPr>
        </p:sp>
        <p:sp>
          <p:nvSpPr>
            <p:cNvPr id="8" name="TextBox 8"/>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7298106" y="9019936"/>
            <a:ext cx="989894" cy="1267064"/>
            <a:chOff x="0" y="0"/>
            <a:chExt cx="635000" cy="812800"/>
          </a:xfrm>
        </p:grpSpPr>
        <p:sp>
          <p:nvSpPr>
            <p:cNvPr id="10" name="Freeform 10"/>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5DE0E6">
                    <a:alpha val="100000"/>
                  </a:srgbClr>
                </a:gs>
                <a:gs pos="100000">
                  <a:srgbClr val="004AAD">
                    <a:alpha val="100000"/>
                  </a:srgbClr>
                </a:gs>
              </a:gsLst>
              <a:lin ang="0"/>
            </a:gradFill>
          </p:spPr>
        </p:sp>
        <p:sp>
          <p:nvSpPr>
            <p:cNvPr id="11" name="TextBox 11"/>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3515604" y="495986"/>
            <a:ext cx="4277449" cy="1258472"/>
            <a:chOff x="0" y="0"/>
            <a:chExt cx="5703265" cy="1677962"/>
          </a:xfrm>
        </p:grpSpPr>
        <p:sp>
          <p:nvSpPr>
            <p:cNvPr id="13" name="Freeform 13" descr="F:\F\abdesktop\Logo_NTTF_2019\NTTF Logo_png.png"/>
            <p:cNvSpPr/>
            <p:nvPr/>
          </p:nvSpPr>
          <p:spPr>
            <a:xfrm>
              <a:off x="0" y="0"/>
              <a:ext cx="5703316" cy="1677924"/>
            </a:xfrm>
            <a:custGeom>
              <a:avLst/>
              <a:gdLst/>
              <a:ahLst/>
              <a:cxnLst/>
              <a:rect l="l" t="t" r="r" b="b"/>
              <a:pathLst>
                <a:path w="5703316" h="1677924">
                  <a:moveTo>
                    <a:pt x="0" y="0"/>
                  </a:moveTo>
                  <a:lnTo>
                    <a:pt x="5703316" y="0"/>
                  </a:lnTo>
                  <a:lnTo>
                    <a:pt x="5703316" y="1677924"/>
                  </a:lnTo>
                  <a:lnTo>
                    <a:pt x="0" y="1677924"/>
                  </a:lnTo>
                  <a:lnTo>
                    <a:pt x="0" y="0"/>
                  </a:lnTo>
                  <a:close/>
                </a:path>
              </a:pathLst>
            </a:custGeom>
            <a:blipFill>
              <a:blip r:embed="rId3"/>
              <a:stretch>
                <a:fillRect b="-27371"/>
              </a:stretch>
            </a:blipFill>
          </p:spPr>
        </p:sp>
      </p:grpSp>
      <p:sp>
        <p:nvSpPr>
          <p:cNvPr id="14" name="TextBox 14"/>
          <p:cNvSpPr txBox="1"/>
          <p:nvPr/>
        </p:nvSpPr>
        <p:spPr>
          <a:xfrm>
            <a:off x="1170443" y="509707"/>
            <a:ext cx="9373243" cy="2191254"/>
          </a:xfrm>
          <a:prstGeom prst="rect">
            <a:avLst/>
          </a:prstGeom>
        </p:spPr>
        <p:txBody>
          <a:bodyPr lIns="0" tIns="0" rIns="0" bIns="0" rtlCol="0" anchor="t">
            <a:spAutoFit/>
          </a:bodyPr>
          <a:lstStyle/>
          <a:p>
            <a:pPr algn="l">
              <a:lnSpc>
                <a:spcPts val="8782"/>
              </a:lnSpc>
            </a:pPr>
            <a:r>
              <a:rPr lang="en-US" sz="6272" dirty="0">
                <a:solidFill>
                  <a:srgbClr val="000000"/>
                </a:solidFill>
                <a:latin typeface="Norwester"/>
                <a:ea typeface="Norwester"/>
                <a:cs typeface="Norwester"/>
                <a:sym typeface="Norwester"/>
              </a:rPr>
              <a:t>Key Enabling Technologies for 6G</a:t>
            </a:r>
          </a:p>
        </p:txBody>
      </p:sp>
      <p:sp>
        <p:nvSpPr>
          <p:cNvPr id="15" name="TextBox 15"/>
          <p:cNvSpPr txBox="1"/>
          <p:nvPr/>
        </p:nvSpPr>
        <p:spPr>
          <a:xfrm>
            <a:off x="1170442" y="3282634"/>
            <a:ext cx="5777223" cy="604840"/>
          </a:xfrm>
          <a:prstGeom prst="rect">
            <a:avLst/>
          </a:prstGeom>
        </p:spPr>
        <p:txBody>
          <a:bodyPr wrap="square" lIns="0" tIns="0" rIns="0" bIns="0" rtlCol="0" anchor="t">
            <a:spAutoFit/>
          </a:bodyPr>
          <a:lstStyle/>
          <a:p>
            <a:pPr algn="l">
              <a:lnSpc>
                <a:spcPts val="5297"/>
              </a:lnSpc>
            </a:pPr>
            <a:r>
              <a:rPr lang="en-US" sz="3784" dirty="0">
                <a:solidFill>
                  <a:srgbClr val="000000"/>
                </a:solidFill>
                <a:latin typeface="Norwester"/>
                <a:ea typeface="Norwester"/>
                <a:cs typeface="Norwester"/>
                <a:sym typeface="Norwester"/>
              </a:rPr>
              <a:t>1. Terahertz (THz) Waves:</a:t>
            </a:r>
          </a:p>
        </p:txBody>
      </p:sp>
      <p:sp>
        <p:nvSpPr>
          <p:cNvPr id="16" name="TextBox 16"/>
          <p:cNvSpPr txBox="1"/>
          <p:nvPr/>
        </p:nvSpPr>
        <p:spPr>
          <a:xfrm>
            <a:off x="1170442" y="5795180"/>
            <a:ext cx="5168384" cy="560282"/>
          </a:xfrm>
          <a:prstGeom prst="rect">
            <a:avLst/>
          </a:prstGeom>
        </p:spPr>
        <p:txBody>
          <a:bodyPr wrap="square" lIns="0" tIns="0" rIns="0" bIns="0" rtlCol="0" anchor="t">
            <a:spAutoFit/>
          </a:bodyPr>
          <a:lstStyle/>
          <a:p>
            <a:pPr algn="l">
              <a:lnSpc>
                <a:spcPts val="4860"/>
              </a:lnSpc>
            </a:pPr>
            <a:r>
              <a:rPr lang="en-US" sz="3471" dirty="0">
                <a:solidFill>
                  <a:srgbClr val="000000"/>
                </a:solidFill>
                <a:latin typeface="Norwester"/>
                <a:ea typeface="Norwester"/>
                <a:cs typeface="Norwester"/>
                <a:sym typeface="Norwester"/>
              </a:rPr>
              <a:t>2. AI-Native Architecture:</a:t>
            </a:r>
          </a:p>
        </p:txBody>
      </p:sp>
      <p:sp>
        <p:nvSpPr>
          <p:cNvPr id="17" name="TextBox 17"/>
          <p:cNvSpPr txBox="1"/>
          <p:nvPr/>
        </p:nvSpPr>
        <p:spPr>
          <a:xfrm>
            <a:off x="1170442" y="7936091"/>
            <a:ext cx="8683125" cy="560282"/>
          </a:xfrm>
          <a:prstGeom prst="rect">
            <a:avLst/>
          </a:prstGeom>
        </p:spPr>
        <p:txBody>
          <a:bodyPr wrap="square" lIns="0" tIns="0" rIns="0" bIns="0" rtlCol="0" anchor="t">
            <a:spAutoFit/>
          </a:bodyPr>
          <a:lstStyle/>
          <a:p>
            <a:pPr algn="l">
              <a:lnSpc>
                <a:spcPts val="4860"/>
              </a:lnSpc>
            </a:pPr>
            <a:r>
              <a:rPr lang="en-US" sz="3471" dirty="0">
                <a:solidFill>
                  <a:srgbClr val="000000"/>
                </a:solidFill>
                <a:latin typeface="Norwester"/>
                <a:ea typeface="Norwester"/>
                <a:cs typeface="Norwester"/>
                <a:sym typeface="Norwester"/>
              </a:rPr>
              <a:t>3. Reconfigurable Intelligent Surfaces (RIS):</a:t>
            </a:r>
          </a:p>
        </p:txBody>
      </p:sp>
      <p:sp>
        <p:nvSpPr>
          <p:cNvPr id="18" name="TextBox 18"/>
          <p:cNvSpPr txBox="1"/>
          <p:nvPr/>
        </p:nvSpPr>
        <p:spPr>
          <a:xfrm>
            <a:off x="1580400" y="4004721"/>
            <a:ext cx="5168384" cy="1323340"/>
          </a:xfrm>
          <a:prstGeom prst="rect">
            <a:avLst/>
          </a:prstGeom>
        </p:spPr>
        <p:txBody>
          <a:bodyPr lIns="0" tIns="0" rIns="0" bIns="0" rtlCol="0" anchor="t">
            <a:spAutoFit/>
          </a:bodyPr>
          <a:lstStyle/>
          <a:p>
            <a:pPr marL="410209" lvl="1" indent="-205105" algn="l">
              <a:lnSpc>
                <a:spcPts val="2659"/>
              </a:lnSpc>
              <a:buFont typeface="Arial"/>
              <a:buChar char="•"/>
            </a:pPr>
            <a:r>
              <a:rPr lang="en-US" sz="1899">
                <a:solidFill>
                  <a:srgbClr val="000000"/>
                </a:solidFill>
                <a:latin typeface="Playwrite US Modern"/>
                <a:ea typeface="Playwrite US Modern"/>
                <a:cs typeface="Playwrite US Modern"/>
                <a:sym typeface="Playwrite US Modern"/>
              </a:rPr>
              <a:t>Ultra-high frequency (95 GHz–3 THz)</a:t>
            </a:r>
          </a:p>
          <a:p>
            <a:pPr marL="410209" lvl="1" indent="-205105" algn="l">
              <a:lnSpc>
                <a:spcPts val="2659"/>
              </a:lnSpc>
              <a:buFont typeface="Arial"/>
              <a:buChar char="•"/>
            </a:pPr>
            <a:r>
              <a:rPr lang="en-US" sz="1899">
                <a:solidFill>
                  <a:srgbClr val="000000"/>
                </a:solidFill>
                <a:latin typeface="Playwrite US Modern"/>
                <a:ea typeface="Playwrite US Modern"/>
                <a:cs typeface="Playwrite US Modern"/>
                <a:sym typeface="Playwrite US Modern"/>
              </a:rPr>
              <a:t>Speeds up to 1 Tbps</a:t>
            </a:r>
          </a:p>
          <a:p>
            <a:pPr marL="410209" lvl="1" indent="-205105" algn="l">
              <a:lnSpc>
                <a:spcPts val="2659"/>
              </a:lnSpc>
              <a:buFont typeface="Arial"/>
              <a:buChar char="•"/>
            </a:pPr>
            <a:r>
              <a:rPr lang="en-US" sz="1899">
                <a:solidFill>
                  <a:srgbClr val="000000"/>
                </a:solidFill>
                <a:latin typeface="Playwrite US Modern"/>
                <a:ea typeface="Playwrite US Modern"/>
                <a:cs typeface="Playwrite US Modern"/>
                <a:sym typeface="Playwrite US Modern"/>
              </a:rPr>
              <a:t>Best for XR &amp; holograms</a:t>
            </a:r>
          </a:p>
          <a:p>
            <a:pPr marL="410209" lvl="1" indent="-205105" algn="l">
              <a:lnSpc>
                <a:spcPts val="2659"/>
              </a:lnSpc>
              <a:buFont typeface="Arial"/>
              <a:buChar char="•"/>
            </a:pPr>
            <a:r>
              <a:rPr lang="en-US" sz="1899">
                <a:solidFill>
                  <a:srgbClr val="000000"/>
                </a:solidFill>
                <a:latin typeface="Playwrite US Modern"/>
                <a:ea typeface="Playwrite US Modern"/>
                <a:cs typeface="Playwrite US Modern"/>
                <a:sym typeface="Playwrite US Modern"/>
              </a:rPr>
              <a:t>Challenge: short range</a:t>
            </a:r>
          </a:p>
        </p:txBody>
      </p:sp>
      <p:sp>
        <p:nvSpPr>
          <p:cNvPr id="19" name="TextBox 19"/>
          <p:cNvSpPr txBox="1"/>
          <p:nvPr/>
        </p:nvSpPr>
        <p:spPr>
          <a:xfrm>
            <a:off x="1598910" y="6365589"/>
            <a:ext cx="3999547" cy="989965"/>
          </a:xfrm>
          <a:prstGeom prst="rect">
            <a:avLst/>
          </a:prstGeom>
        </p:spPr>
        <p:txBody>
          <a:bodyPr lIns="0" tIns="0" rIns="0" bIns="0" rtlCol="0" anchor="t">
            <a:spAutoFit/>
          </a:bodyPr>
          <a:lstStyle/>
          <a:p>
            <a:pPr marL="410209" lvl="1" indent="-205105" algn="l">
              <a:lnSpc>
                <a:spcPts val="2659"/>
              </a:lnSpc>
              <a:buFont typeface="Arial"/>
              <a:buChar char="•"/>
            </a:pPr>
            <a:r>
              <a:rPr lang="en-US" sz="1899">
                <a:solidFill>
                  <a:srgbClr val="000000"/>
                </a:solidFill>
                <a:latin typeface="Playwrite US Modern"/>
                <a:ea typeface="Playwrite US Modern"/>
                <a:cs typeface="Playwrite US Modern"/>
                <a:sym typeface="Playwrite US Modern"/>
              </a:rPr>
              <a:t>AI built into core network</a:t>
            </a:r>
          </a:p>
          <a:p>
            <a:pPr marL="410209" lvl="1" indent="-205105" algn="l">
              <a:lnSpc>
                <a:spcPts val="2659"/>
              </a:lnSpc>
              <a:buFont typeface="Arial"/>
              <a:buChar char="•"/>
            </a:pPr>
            <a:r>
              <a:rPr lang="en-US" sz="1899">
                <a:solidFill>
                  <a:srgbClr val="000000"/>
                </a:solidFill>
                <a:latin typeface="Playwrite US Modern"/>
                <a:ea typeface="Playwrite US Modern"/>
                <a:cs typeface="Playwrite US Modern"/>
                <a:sym typeface="Playwrite US Modern"/>
              </a:rPr>
              <a:t>Self-optimizing &amp; low latency</a:t>
            </a:r>
          </a:p>
          <a:p>
            <a:pPr marL="410209" lvl="1" indent="-205105" algn="l">
              <a:lnSpc>
                <a:spcPts val="2659"/>
              </a:lnSpc>
              <a:buFont typeface="Arial"/>
              <a:buChar char="•"/>
            </a:pPr>
            <a:r>
              <a:rPr lang="en-US" sz="1899">
                <a:solidFill>
                  <a:srgbClr val="000000"/>
                </a:solidFill>
                <a:latin typeface="Playwrite US Modern"/>
                <a:ea typeface="Playwrite US Modern"/>
                <a:cs typeface="Playwrite US Modern"/>
                <a:sym typeface="Playwrite US Modern"/>
              </a:rPr>
              <a:t>Smarter traffic management</a:t>
            </a:r>
          </a:p>
        </p:txBody>
      </p:sp>
      <p:sp>
        <p:nvSpPr>
          <p:cNvPr id="20" name="TextBox 20"/>
          <p:cNvSpPr txBox="1"/>
          <p:nvPr/>
        </p:nvSpPr>
        <p:spPr>
          <a:xfrm>
            <a:off x="1580400" y="8436677"/>
            <a:ext cx="3126700" cy="989965"/>
          </a:xfrm>
          <a:prstGeom prst="rect">
            <a:avLst/>
          </a:prstGeom>
        </p:spPr>
        <p:txBody>
          <a:bodyPr lIns="0" tIns="0" rIns="0" bIns="0" rtlCol="0" anchor="t">
            <a:spAutoFit/>
          </a:bodyPr>
          <a:lstStyle/>
          <a:p>
            <a:pPr marL="410209" lvl="1" indent="-205105" algn="l">
              <a:lnSpc>
                <a:spcPts val="2659"/>
              </a:lnSpc>
              <a:buFont typeface="Arial"/>
              <a:buChar char="•"/>
            </a:pPr>
            <a:r>
              <a:rPr lang="en-US" sz="1899">
                <a:solidFill>
                  <a:srgbClr val="000000"/>
                </a:solidFill>
                <a:latin typeface="Playwrite US Modern"/>
                <a:ea typeface="Playwrite US Modern"/>
                <a:cs typeface="Playwrite US Modern"/>
                <a:sym typeface="Playwrite US Modern"/>
              </a:rPr>
              <a:t>Reflect &amp; boost signals</a:t>
            </a:r>
          </a:p>
          <a:p>
            <a:pPr marL="410209" lvl="1" indent="-205105" algn="l">
              <a:lnSpc>
                <a:spcPts val="2659"/>
              </a:lnSpc>
              <a:buFont typeface="Arial"/>
              <a:buChar char="•"/>
            </a:pPr>
            <a:r>
              <a:rPr lang="en-US" sz="1899">
                <a:solidFill>
                  <a:srgbClr val="000000"/>
                </a:solidFill>
                <a:latin typeface="Playwrite US Modern"/>
                <a:ea typeface="Playwrite US Modern"/>
                <a:cs typeface="Playwrite US Modern"/>
                <a:sym typeface="Playwrite US Modern"/>
              </a:rPr>
              <a:t>Fix coverage gaps</a:t>
            </a:r>
          </a:p>
          <a:p>
            <a:pPr marL="410209" lvl="1" indent="-205105" algn="l">
              <a:lnSpc>
                <a:spcPts val="2659"/>
              </a:lnSpc>
              <a:buFont typeface="Arial"/>
              <a:buChar char="•"/>
            </a:pPr>
            <a:r>
              <a:rPr lang="en-US" sz="1899">
                <a:solidFill>
                  <a:srgbClr val="000000"/>
                </a:solidFill>
                <a:latin typeface="Playwrite US Modern"/>
                <a:ea typeface="Playwrite US Modern"/>
                <a:cs typeface="Playwrite US Modern"/>
                <a:sym typeface="Playwrite US Modern"/>
              </a:rPr>
              <a:t>Improve efficiency</a:t>
            </a:r>
          </a:p>
        </p:txBody>
      </p:sp>
      <p:pic>
        <p:nvPicPr>
          <p:cNvPr id="22" name="Picture 21">
            <a:extLst>
              <a:ext uri="{FF2B5EF4-FFF2-40B4-BE49-F238E27FC236}">
                <a16:creationId xmlns:a16="http://schemas.microsoft.com/office/drawing/2014/main" id="{F09DF26E-8C0E-5F84-9901-4341EF34D7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86492" y="2400475"/>
            <a:ext cx="6879677" cy="69103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0" y="218467"/>
            <a:ext cx="18288000" cy="57073"/>
          </a:xfrm>
          <a:prstGeom prst="line">
            <a:avLst/>
          </a:prstGeom>
          <a:ln w="428625" cap="flat">
            <a:solidFill>
              <a:srgbClr val="5CA3FF"/>
            </a:solidFill>
            <a:prstDash val="solid"/>
            <a:headEnd type="none" w="sm" len="sm"/>
            <a:tailEnd type="none" w="sm" len="sm"/>
          </a:ln>
        </p:spPr>
      </p:sp>
      <p:sp>
        <p:nvSpPr>
          <p:cNvPr id="3" name="AutoShape 3"/>
          <p:cNvSpPr/>
          <p:nvPr/>
        </p:nvSpPr>
        <p:spPr>
          <a:xfrm>
            <a:off x="174534" y="-59394"/>
            <a:ext cx="3" cy="10346394"/>
          </a:xfrm>
          <a:prstGeom prst="line">
            <a:avLst/>
          </a:prstGeom>
          <a:ln w="428625" cap="flat">
            <a:solidFill>
              <a:srgbClr val="5CA3FF"/>
            </a:solidFill>
            <a:prstDash val="solid"/>
            <a:headEnd type="none" w="sm" len="sm"/>
            <a:tailEnd type="none" w="sm" len="sm"/>
          </a:ln>
        </p:spPr>
      </p:sp>
      <p:sp>
        <p:nvSpPr>
          <p:cNvPr id="4" name="AutoShape 4"/>
          <p:cNvSpPr/>
          <p:nvPr/>
        </p:nvSpPr>
        <p:spPr>
          <a:xfrm>
            <a:off x="376071" y="10072688"/>
            <a:ext cx="17737387" cy="53262"/>
          </a:xfrm>
          <a:prstGeom prst="line">
            <a:avLst/>
          </a:prstGeom>
          <a:ln w="428625" cap="flat">
            <a:solidFill>
              <a:srgbClr val="FFA51F"/>
            </a:solidFill>
            <a:prstDash val="solid"/>
            <a:headEnd type="none" w="sm" len="sm"/>
            <a:tailEnd type="none" w="sm" len="sm"/>
          </a:ln>
        </p:spPr>
      </p:sp>
      <p:sp>
        <p:nvSpPr>
          <p:cNvPr id="5" name="AutoShape 5"/>
          <p:cNvSpPr/>
          <p:nvPr/>
        </p:nvSpPr>
        <p:spPr>
          <a:xfrm flipH="1">
            <a:off x="18113458" y="-59393"/>
            <a:ext cx="3" cy="10346394"/>
          </a:xfrm>
          <a:prstGeom prst="line">
            <a:avLst/>
          </a:prstGeom>
          <a:ln w="428625" cap="flat">
            <a:solidFill>
              <a:srgbClr val="FFA51F"/>
            </a:solidFill>
            <a:prstDash val="solid"/>
            <a:headEnd type="none" w="sm" len="sm"/>
            <a:tailEnd type="none" w="sm" len="sm"/>
          </a:ln>
        </p:spPr>
      </p:sp>
      <p:grpSp>
        <p:nvGrpSpPr>
          <p:cNvPr id="6" name="Group 6"/>
          <p:cNvGrpSpPr/>
          <p:nvPr/>
        </p:nvGrpSpPr>
        <p:grpSpPr>
          <a:xfrm>
            <a:off x="38806" y="0"/>
            <a:ext cx="989894" cy="1267064"/>
            <a:chOff x="0" y="0"/>
            <a:chExt cx="635000" cy="812800"/>
          </a:xfrm>
        </p:grpSpPr>
        <p:sp>
          <p:nvSpPr>
            <p:cNvPr id="7" name="Freeform 7"/>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FFDE59">
                    <a:alpha val="100000"/>
                  </a:srgbClr>
                </a:gs>
                <a:gs pos="100000">
                  <a:srgbClr val="FF914D">
                    <a:alpha val="100000"/>
                  </a:srgbClr>
                </a:gs>
              </a:gsLst>
              <a:lin ang="0"/>
            </a:gradFill>
          </p:spPr>
        </p:sp>
        <p:sp>
          <p:nvSpPr>
            <p:cNvPr id="8" name="TextBox 8"/>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7298106" y="9019936"/>
            <a:ext cx="989894" cy="1267064"/>
            <a:chOff x="0" y="0"/>
            <a:chExt cx="635000" cy="812800"/>
          </a:xfrm>
        </p:grpSpPr>
        <p:sp>
          <p:nvSpPr>
            <p:cNvPr id="10" name="Freeform 10"/>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5DE0E6">
                    <a:alpha val="100000"/>
                  </a:srgbClr>
                </a:gs>
                <a:gs pos="100000">
                  <a:srgbClr val="004AAD">
                    <a:alpha val="100000"/>
                  </a:srgbClr>
                </a:gs>
              </a:gsLst>
              <a:lin ang="0"/>
            </a:gradFill>
          </p:spPr>
        </p:sp>
        <p:sp>
          <p:nvSpPr>
            <p:cNvPr id="11" name="TextBox 11"/>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3515604" y="495986"/>
            <a:ext cx="4277449" cy="1258472"/>
            <a:chOff x="0" y="0"/>
            <a:chExt cx="5703265" cy="1677962"/>
          </a:xfrm>
        </p:grpSpPr>
        <p:sp>
          <p:nvSpPr>
            <p:cNvPr id="13" name="Freeform 13" descr="F:\F\abdesktop\Logo_NTTF_2019\NTTF Logo_png.png"/>
            <p:cNvSpPr/>
            <p:nvPr/>
          </p:nvSpPr>
          <p:spPr>
            <a:xfrm>
              <a:off x="0" y="0"/>
              <a:ext cx="5703316" cy="1677924"/>
            </a:xfrm>
            <a:custGeom>
              <a:avLst/>
              <a:gdLst/>
              <a:ahLst/>
              <a:cxnLst/>
              <a:rect l="l" t="t" r="r" b="b"/>
              <a:pathLst>
                <a:path w="5703316" h="1677924">
                  <a:moveTo>
                    <a:pt x="0" y="0"/>
                  </a:moveTo>
                  <a:lnTo>
                    <a:pt x="5703316" y="0"/>
                  </a:lnTo>
                  <a:lnTo>
                    <a:pt x="5703316" y="1677924"/>
                  </a:lnTo>
                  <a:lnTo>
                    <a:pt x="0" y="1677924"/>
                  </a:lnTo>
                  <a:lnTo>
                    <a:pt x="0" y="0"/>
                  </a:lnTo>
                  <a:close/>
                </a:path>
              </a:pathLst>
            </a:custGeom>
            <a:blipFill>
              <a:blip r:embed="rId3"/>
              <a:stretch>
                <a:fillRect b="-27371"/>
              </a:stretch>
            </a:blipFill>
          </p:spPr>
        </p:sp>
      </p:grpSp>
      <p:sp>
        <p:nvSpPr>
          <p:cNvPr id="14" name="TextBox 14"/>
          <p:cNvSpPr txBox="1"/>
          <p:nvPr/>
        </p:nvSpPr>
        <p:spPr>
          <a:xfrm>
            <a:off x="1028700" y="857250"/>
            <a:ext cx="12831127" cy="1566544"/>
          </a:xfrm>
          <a:prstGeom prst="rect">
            <a:avLst/>
          </a:prstGeom>
        </p:spPr>
        <p:txBody>
          <a:bodyPr lIns="0" tIns="0" rIns="0" bIns="0" rtlCol="0" anchor="t">
            <a:spAutoFit/>
          </a:bodyPr>
          <a:lstStyle/>
          <a:p>
            <a:pPr algn="ctr">
              <a:lnSpc>
                <a:spcPts val="12880"/>
              </a:lnSpc>
            </a:pPr>
            <a:r>
              <a:rPr lang="en-US" sz="9200">
                <a:solidFill>
                  <a:srgbClr val="000000"/>
                </a:solidFill>
                <a:latin typeface="Norwester"/>
                <a:ea typeface="Norwester"/>
                <a:cs typeface="Norwester"/>
                <a:sym typeface="Norwester"/>
              </a:rPr>
              <a:t>Challenges &amp; Roadblocks</a:t>
            </a:r>
          </a:p>
        </p:txBody>
      </p:sp>
      <p:sp>
        <p:nvSpPr>
          <p:cNvPr id="15" name="TextBox 15"/>
          <p:cNvSpPr txBox="1"/>
          <p:nvPr/>
        </p:nvSpPr>
        <p:spPr>
          <a:xfrm>
            <a:off x="853083" y="4819967"/>
            <a:ext cx="16407289" cy="3692022"/>
          </a:xfrm>
          <a:prstGeom prst="rect">
            <a:avLst/>
          </a:prstGeom>
        </p:spPr>
        <p:txBody>
          <a:bodyPr lIns="0" tIns="0" rIns="0" bIns="0" rtlCol="0" anchor="t">
            <a:spAutoFit/>
          </a:bodyPr>
          <a:lstStyle/>
          <a:p>
            <a:pPr algn="l">
              <a:lnSpc>
                <a:spcPts val="4927"/>
              </a:lnSpc>
            </a:pPr>
            <a:r>
              <a:rPr lang="en-US" sz="3519" u="sng">
                <a:solidFill>
                  <a:srgbClr val="000000"/>
                </a:solidFill>
                <a:latin typeface="Playwrite US Modern"/>
                <a:ea typeface="Playwrite US Modern"/>
                <a:cs typeface="Playwrite US Modern"/>
                <a:sym typeface="Playwrite US Modern"/>
              </a:rPr>
              <a:t>High Cost: </a:t>
            </a:r>
            <a:r>
              <a:rPr lang="en-US" sz="3519">
                <a:solidFill>
                  <a:srgbClr val="000000"/>
                </a:solidFill>
                <a:latin typeface="Playwrite US Modern"/>
                <a:ea typeface="Playwrite US Modern"/>
                <a:cs typeface="Playwrite US Modern"/>
                <a:sym typeface="Playwrite US Modern"/>
              </a:rPr>
              <a:t>Expensive deployment of dense small-cell networks</a:t>
            </a:r>
          </a:p>
          <a:p>
            <a:pPr algn="l">
              <a:lnSpc>
                <a:spcPts val="4927"/>
              </a:lnSpc>
            </a:pPr>
            <a:endParaRPr lang="en-US" sz="3519">
              <a:solidFill>
                <a:srgbClr val="000000"/>
              </a:solidFill>
              <a:latin typeface="Playwrite US Modern"/>
              <a:ea typeface="Playwrite US Modern"/>
              <a:cs typeface="Playwrite US Modern"/>
              <a:sym typeface="Playwrite US Modern"/>
            </a:endParaRPr>
          </a:p>
          <a:p>
            <a:pPr algn="l">
              <a:lnSpc>
                <a:spcPts val="4927"/>
              </a:lnSpc>
            </a:pPr>
            <a:r>
              <a:rPr lang="en-US" sz="3519" u="sng">
                <a:solidFill>
                  <a:srgbClr val="000000"/>
                </a:solidFill>
                <a:latin typeface="Playwrite US Modern"/>
                <a:ea typeface="Playwrite US Modern"/>
                <a:cs typeface="Playwrite US Modern"/>
                <a:sym typeface="Playwrite US Modern"/>
              </a:rPr>
              <a:t>Signal Issues:</a:t>
            </a:r>
            <a:r>
              <a:rPr lang="en-US" sz="3519">
                <a:solidFill>
                  <a:srgbClr val="000000"/>
                </a:solidFill>
                <a:latin typeface="Playwrite US Modern"/>
                <a:ea typeface="Playwrite US Modern"/>
                <a:cs typeface="Playwrite US Modern"/>
                <a:sym typeface="Playwrite US Modern"/>
              </a:rPr>
              <a:t> THz waves easily blocked (walls, rain, etc.)</a:t>
            </a:r>
          </a:p>
          <a:p>
            <a:pPr algn="l">
              <a:lnSpc>
                <a:spcPts val="4927"/>
              </a:lnSpc>
            </a:pPr>
            <a:endParaRPr lang="en-US" sz="3519">
              <a:solidFill>
                <a:srgbClr val="000000"/>
              </a:solidFill>
              <a:latin typeface="Playwrite US Modern"/>
              <a:ea typeface="Playwrite US Modern"/>
              <a:cs typeface="Playwrite US Modern"/>
              <a:sym typeface="Playwrite US Modern"/>
            </a:endParaRPr>
          </a:p>
          <a:p>
            <a:pPr algn="l">
              <a:lnSpc>
                <a:spcPts val="4927"/>
              </a:lnSpc>
            </a:pPr>
            <a:r>
              <a:rPr lang="en-US" sz="3519" u="sng">
                <a:solidFill>
                  <a:srgbClr val="000000"/>
                </a:solidFill>
                <a:latin typeface="Playwrite US Modern"/>
                <a:ea typeface="Playwrite US Modern"/>
                <a:cs typeface="Playwrite US Modern"/>
                <a:sym typeface="Playwrite US Modern"/>
              </a:rPr>
              <a:t>Security Risks:</a:t>
            </a:r>
            <a:r>
              <a:rPr lang="en-US" sz="3519">
                <a:solidFill>
                  <a:srgbClr val="000000"/>
                </a:solidFill>
                <a:latin typeface="Playwrite US Modern"/>
                <a:ea typeface="Playwrite US Modern"/>
                <a:cs typeface="Playwrite US Modern"/>
                <a:sym typeface="Playwrite US Modern"/>
              </a:rPr>
              <a:t> More data + AI → higher cyber threats (need Zero-Trust)</a:t>
            </a:r>
          </a:p>
          <a:p>
            <a:pPr algn="l">
              <a:lnSpc>
                <a:spcPts val="4927"/>
              </a:lnSpc>
            </a:pPr>
            <a:endParaRPr lang="en-US" sz="3519">
              <a:solidFill>
                <a:srgbClr val="000000"/>
              </a:solidFill>
              <a:latin typeface="Playwrite US Modern"/>
              <a:ea typeface="Playwrite US Modern"/>
              <a:cs typeface="Playwrite US Modern"/>
              <a:sym typeface="Playwrite US Moder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61047"/>
            <a:ext cx="18287613" cy="1"/>
          </a:xfrm>
          <a:prstGeom prst="line">
            <a:avLst/>
          </a:prstGeom>
          <a:ln w="428625" cap="flat">
            <a:solidFill>
              <a:srgbClr val="5CA3FF"/>
            </a:solidFill>
            <a:prstDash val="solid"/>
            <a:headEnd type="none" w="sm" len="sm"/>
            <a:tailEnd type="none" w="sm" len="sm"/>
          </a:ln>
        </p:spPr>
      </p:sp>
      <p:sp>
        <p:nvSpPr>
          <p:cNvPr id="3" name="AutoShape 3"/>
          <p:cNvSpPr/>
          <p:nvPr/>
        </p:nvSpPr>
        <p:spPr>
          <a:xfrm>
            <a:off x="161373" y="0"/>
            <a:ext cx="0" cy="10287000"/>
          </a:xfrm>
          <a:prstGeom prst="line">
            <a:avLst/>
          </a:prstGeom>
          <a:ln w="428625" cap="flat">
            <a:solidFill>
              <a:srgbClr val="5CA3FF"/>
            </a:solidFill>
            <a:prstDash val="solid"/>
            <a:headEnd type="none" w="sm" len="sm"/>
            <a:tailEnd type="none" w="sm" len="sm"/>
          </a:ln>
        </p:spPr>
      </p:sp>
      <p:sp>
        <p:nvSpPr>
          <p:cNvPr id="4" name="AutoShape 4"/>
          <p:cNvSpPr/>
          <p:nvPr/>
        </p:nvSpPr>
        <p:spPr>
          <a:xfrm>
            <a:off x="359482" y="10102062"/>
            <a:ext cx="17928132" cy="23890"/>
          </a:xfrm>
          <a:prstGeom prst="line">
            <a:avLst/>
          </a:prstGeom>
          <a:ln w="428625" cap="flat">
            <a:solidFill>
              <a:srgbClr val="FFA51F"/>
            </a:solidFill>
            <a:prstDash val="solid"/>
            <a:headEnd type="none" w="sm" len="sm"/>
            <a:tailEnd type="none" w="sm" len="sm"/>
          </a:ln>
        </p:spPr>
      </p:sp>
      <p:sp>
        <p:nvSpPr>
          <p:cNvPr id="5" name="AutoShape 5"/>
          <p:cNvSpPr/>
          <p:nvPr/>
        </p:nvSpPr>
        <p:spPr>
          <a:xfrm>
            <a:off x="18073295" y="-49262"/>
            <a:ext cx="1" cy="10336262"/>
          </a:xfrm>
          <a:prstGeom prst="line">
            <a:avLst/>
          </a:prstGeom>
          <a:ln w="428625" cap="flat">
            <a:solidFill>
              <a:srgbClr val="FFA51F"/>
            </a:solidFill>
            <a:prstDash val="solid"/>
            <a:headEnd type="none" w="sm" len="sm"/>
            <a:tailEnd type="none" w="sm" len="sm"/>
          </a:ln>
        </p:spPr>
      </p:sp>
      <p:grpSp>
        <p:nvGrpSpPr>
          <p:cNvPr id="6" name="Group 6"/>
          <p:cNvGrpSpPr/>
          <p:nvPr/>
        </p:nvGrpSpPr>
        <p:grpSpPr>
          <a:xfrm>
            <a:off x="38806" y="0"/>
            <a:ext cx="989894" cy="1267064"/>
            <a:chOff x="0" y="0"/>
            <a:chExt cx="635000" cy="812800"/>
          </a:xfrm>
        </p:grpSpPr>
        <p:sp>
          <p:nvSpPr>
            <p:cNvPr id="7" name="Freeform 7"/>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FFDE59">
                    <a:alpha val="100000"/>
                  </a:srgbClr>
                </a:gs>
                <a:gs pos="100000">
                  <a:srgbClr val="FF914D">
                    <a:alpha val="100000"/>
                  </a:srgbClr>
                </a:gs>
              </a:gsLst>
              <a:lin ang="0"/>
            </a:gradFill>
          </p:spPr>
        </p:sp>
        <p:sp>
          <p:nvSpPr>
            <p:cNvPr id="8" name="TextBox 8"/>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7298106" y="9019936"/>
            <a:ext cx="989894" cy="1267064"/>
            <a:chOff x="0" y="0"/>
            <a:chExt cx="635000" cy="812800"/>
          </a:xfrm>
        </p:grpSpPr>
        <p:sp>
          <p:nvSpPr>
            <p:cNvPr id="10" name="Freeform 10"/>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5DE0E6">
                    <a:alpha val="100000"/>
                  </a:srgbClr>
                </a:gs>
                <a:gs pos="100000">
                  <a:srgbClr val="004AAD">
                    <a:alpha val="100000"/>
                  </a:srgbClr>
                </a:gs>
              </a:gsLst>
              <a:lin ang="0"/>
            </a:gradFill>
          </p:spPr>
        </p:sp>
        <p:sp>
          <p:nvSpPr>
            <p:cNvPr id="11" name="TextBox 11"/>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3515604" y="495986"/>
            <a:ext cx="4277449" cy="1258472"/>
            <a:chOff x="0" y="0"/>
            <a:chExt cx="5703265" cy="1677962"/>
          </a:xfrm>
        </p:grpSpPr>
        <p:sp>
          <p:nvSpPr>
            <p:cNvPr id="13" name="Freeform 13" descr="F:\F\abdesktop\Logo_NTTF_2019\NTTF Logo_png.png"/>
            <p:cNvSpPr/>
            <p:nvPr/>
          </p:nvSpPr>
          <p:spPr>
            <a:xfrm>
              <a:off x="0" y="0"/>
              <a:ext cx="5703316" cy="1677924"/>
            </a:xfrm>
            <a:custGeom>
              <a:avLst/>
              <a:gdLst/>
              <a:ahLst/>
              <a:cxnLst/>
              <a:rect l="l" t="t" r="r" b="b"/>
              <a:pathLst>
                <a:path w="5703316" h="1677924">
                  <a:moveTo>
                    <a:pt x="0" y="0"/>
                  </a:moveTo>
                  <a:lnTo>
                    <a:pt x="5703316" y="0"/>
                  </a:lnTo>
                  <a:lnTo>
                    <a:pt x="5703316" y="1677924"/>
                  </a:lnTo>
                  <a:lnTo>
                    <a:pt x="0" y="1677924"/>
                  </a:lnTo>
                  <a:lnTo>
                    <a:pt x="0" y="0"/>
                  </a:lnTo>
                  <a:close/>
                </a:path>
              </a:pathLst>
            </a:custGeom>
            <a:blipFill>
              <a:blip r:embed="rId3"/>
              <a:stretch>
                <a:fillRect b="-27371"/>
              </a:stretch>
            </a:blipFill>
          </p:spPr>
        </p:sp>
      </p:grpSp>
      <p:sp>
        <p:nvSpPr>
          <p:cNvPr id="14" name="TextBox 14"/>
          <p:cNvSpPr txBox="1"/>
          <p:nvPr/>
        </p:nvSpPr>
        <p:spPr>
          <a:xfrm>
            <a:off x="1028699" y="875934"/>
            <a:ext cx="12486903" cy="1476686"/>
          </a:xfrm>
          <a:prstGeom prst="rect">
            <a:avLst/>
          </a:prstGeom>
        </p:spPr>
        <p:txBody>
          <a:bodyPr wrap="square" lIns="0" tIns="0" rIns="0" bIns="0" rtlCol="0" anchor="t">
            <a:spAutoFit/>
          </a:bodyPr>
          <a:lstStyle/>
          <a:p>
            <a:pPr algn="ctr">
              <a:lnSpc>
                <a:spcPts val="12879"/>
              </a:lnSpc>
            </a:pPr>
            <a:r>
              <a:rPr lang="en-US" sz="9199" dirty="0">
                <a:solidFill>
                  <a:srgbClr val="000000"/>
                </a:solidFill>
                <a:latin typeface="Norwester"/>
                <a:ea typeface="Norwester"/>
                <a:cs typeface="Norwester"/>
                <a:sym typeface="Norwester"/>
              </a:rPr>
              <a:t>Conclusion &amp; 2030 Vision</a:t>
            </a:r>
          </a:p>
        </p:txBody>
      </p:sp>
      <p:sp>
        <p:nvSpPr>
          <p:cNvPr id="15" name="TextBox 15"/>
          <p:cNvSpPr txBox="1"/>
          <p:nvPr/>
        </p:nvSpPr>
        <p:spPr>
          <a:xfrm>
            <a:off x="1028700" y="4199006"/>
            <a:ext cx="14287684" cy="4999709"/>
          </a:xfrm>
          <a:prstGeom prst="rect">
            <a:avLst/>
          </a:prstGeom>
        </p:spPr>
        <p:txBody>
          <a:bodyPr lIns="0" tIns="0" rIns="0" bIns="0" rtlCol="0" anchor="t">
            <a:spAutoFit/>
          </a:bodyPr>
          <a:lstStyle/>
          <a:p>
            <a:pPr algn="l">
              <a:lnSpc>
                <a:spcPts val="4971"/>
              </a:lnSpc>
            </a:pPr>
            <a:r>
              <a:rPr lang="en-US" sz="3550">
                <a:solidFill>
                  <a:srgbClr val="000000"/>
                </a:solidFill>
                <a:latin typeface="Playwrite US Modern"/>
                <a:ea typeface="Playwrite US Modern"/>
                <a:cs typeface="Playwrite US Modern"/>
                <a:sym typeface="Playwrite US Modern"/>
              </a:rPr>
              <a:t>6G is not just an upgrade but a transformation of connectivity.</a:t>
            </a:r>
          </a:p>
          <a:p>
            <a:pPr algn="l">
              <a:lnSpc>
                <a:spcPts val="4971"/>
              </a:lnSpc>
            </a:pPr>
            <a:endParaRPr lang="en-US" sz="3550">
              <a:solidFill>
                <a:srgbClr val="000000"/>
              </a:solidFill>
              <a:latin typeface="Playwrite US Modern"/>
              <a:ea typeface="Playwrite US Modern"/>
              <a:cs typeface="Playwrite US Modern"/>
              <a:sym typeface="Playwrite US Modern"/>
            </a:endParaRPr>
          </a:p>
          <a:p>
            <a:pPr algn="l">
              <a:lnSpc>
                <a:spcPts val="4971"/>
              </a:lnSpc>
            </a:pPr>
            <a:r>
              <a:rPr lang="en-US" sz="3550">
                <a:solidFill>
                  <a:srgbClr val="000000"/>
                </a:solidFill>
                <a:latin typeface="Playwrite US Modern"/>
                <a:ea typeface="Playwrite US Modern"/>
                <a:cs typeface="Playwrite US Modern"/>
                <a:sym typeface="Playwrite US Modern"/>
              </a:rPr>
              <a:t>It will create an intelligent, sensor-driven digital world.</a:t>
            </a:r>
          </a:p>
          <a:p>
            <a:pPr algn="l">
              <a:lnSpc>
                <a:spcPts val="4971"/>
              </a:lnSpc>
            </a:pPr>
            <a:endParaRPr lang="en-US" sz="3550">
              <a:solidFill>
                <a:srgbClr val="000000"/>
              </a:solidFill>
              <a:latin typeface="Playwrite US Modern"/>
              <a:ea typeface="Playwrite US Modern"/>
              <a:cs typeface="Playwrite US Modern"/>
              <a:sym typeface="Playwrite US Modern"/>
            </a:endParaRPr>
          </a:p>
          <a:p>
            <a:pPr algn="l">
              <a:lnSpc>
                <a:spcPts val="4971"/>
              </a:lnSpc>
            </a:pPr>
            <a:r>
              <a:rPr lang="en-US" sz="3550">
                <a:solidFill>
                  <a:srgbClr val="000000"/>
                </a:solidFill>
                <a:latin typeface="Playwrite US Modern"/>
                <a:ea typeface="Playwrite US Modern"/>
                <a:cs typeface="Playwrite US Modern"/>
                <a:sym typeface="Playwrite US Modern"/>
              </a:rPr>
              <a:t>Countries are already competing to lead in 6G development.</a:t>
            </a:r>
          </a:p>
          <a:p>
            <a:pPr algn="l">
              <a:lnSpc>
                <a:spcPts val="4971"/>
              </a:lnSpc>
            </a:pPr>
            <a:endParaRPr lang="en-US" sz="3550">
              <a:solidFill>
                <a:srgbClr val="000000"/>
              </a:solidFill>
              <a:latin typeface="Playwrite US Modern"/>
              <a:ea typeface="Playwrite US Modern"/>
              <a:cs typeface="Playwrite US Modern"/>
              <a:sym typeface="Playwrite US Modern"/>
            </a:endParaRPr>
          </a:p>
          <a:p>
            <a:pPr algn="l">
              <a:lnSpc>
                <a:spcPts val="4971"/>
              </a:lnSpc>
            </a:pPr>
            <a:r>
              <a:rPr lang="en-US" sz="3550">
                <a:solidFill>
                  <a:srgbClr val="000000"/>
                </a:solidFill>
                <a:latin typeface="Playwrite US Modern"/>
                <a:ea typeface="Playwrite US Modern"/>
                <a:cs typeface="Playwrite US Modern"/>
                <a:sym typeface="Playwrite US Modern"/>
              </a:rPr>
              <a:t>The next decade will define global technological leadership.</a:t>
            </a:r>
          </a:p>
          <a:p>
            <a:pPr algn="l">
              <a:lnSpc>
                <a:spcPts val="4971"/>
              </a:lnSpc>
            </a:pPr>
            <a:endParaRPr lang="en-US" sz="3550">
              <a:solidFill>
                <a:srgbClr val="000000"/>
              </a:solidFill>
              <a:latin typeface="Playwrite US Modern"/>
              <a:ea typeface="Playwrite US Modern"/>
              <a:cs typeface="Playwrite US Modern"/>
              <a:sym typeface="Playwrite US Moder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83D15-27D0-991D-68DC-90211F64B85F}"/>
              </a:ext>
            </a:extLst>
          </p:cNvPr>
          <p:cNvSpPr>
            <a:spLocks noGrp="1"/>
          </p:cNvSpPr>
          <p:nvPr>
            <p:ph type="title"/>
          </p:nvPr>
        </p:nvSpPr>
        <p:spPr>
          <a:xfrm>
            <a:off x="-533384" y="4191695"/>
            <a:ext cx="19278584" cy="2065940"/>
          </a:xfrm>
        </p:spPr>
        <p:txBody>
          <a:bodyPr>
            <a:noAutofit/>
          </a:bodyPr>
          <a:lstStyle/>
          <a:p>
            <a:r>
              <a:rPr lang="en-US" sz="22000" dirty="0">
                <a:latin typeface="Bodoni MT" panose="02070603080606020203" pitchFamily="18" charset="0"/>
              </a:rPr>
              <a:t>THANKYOU</a:t>
            </a:r>
            <a:endParaRPr lang="en-IN" sz="22000" dirty="0"/>
          </a:p>
        </p:txBody>
      </p:sp>
      <p:sp>
        <p:nvSpPr>
          <p:cNvPr id="3" name="AutoShape 2">
            <a:extLst>
              <a:ext uri="{FF2B5EF4-FFF2-40B4-BE49-F238E27FC236}">
                <a16:creationId xmlns:a16="http://schemas.microsoft.com/office/drawing/2014/main" id="{F38E770D-D4CB-1235-1F5E-D18C88646B7B}"/>
              </a:ext>
            </a:extLst>
          </p:cNvPr>
          <p:cNvSpPr/>
          <p:nvPr/>
        </p:nvSpPr>
        <p:spPr>
          <a:xfrm flipV="1">
            <a:off x="-76184" y="161048"/>
            <a:ext cx="18363798" cy="23889"/>
          </a:xfrm>
          <a:prstGeom prst="line">
            <a:avLst/>
          </a:prstGeom>
          <a:ln w="428625" cap="flat">
            <a:solidFill>
              <a:srgbClr val="5CA3FF"/>
            </a:solidFill>
            <a:prstDash val="solid"/>
            <a:headEnd type="none" w="sm" len="sm"/>
            <a:tailEnd type="none" w="sm" len="sm"/>
          </a:ln>
        </p:spPr>
      </p:sp>
      <p:sp>
        <p:nvSpPr>
          <p:cNvPr id="4" name="AutoShape 3">
            <a:extLst>
              <a:ext uri="{FF2B5EF4-FFF2-40B4-BE49-F238E27FC236}">
                <a16:creationId xmlns:a16="http://schemas.microsoft.com/office/drawing/2014/main" id="{DD69F8DF-494A-8AC1-F799-7DCE8517EA1A}"/>
              </a:ext>
            </a:extLst>
          </p:cNvPr>
          <p:cNvSpPr/>
          <p:nvPr/>
        </p:nvSpPr>
        <p:spPr>
          <a:xfrm>
            <a:off x="161373" y="0"/>
            <a:ext cx="0" cy="10287000"/>
          </a:xfrm>
          <a:prstGeom prst="line">
            <a:avLst/>
          </a:prstGeom>
          <a:ln w="428625" cap="flat">
            <a:solidFill>
              <a:srgbClr val="5CA3FF"/>
            </a:solidFill>
            <a:prstDash val="solid"/>
            <a:headEnd type="none" w="sm" len="sm"/>
            <a:tailEnd type="none" w="sm" len="sm"/>
          </a:ln>
        </p:spPr>
      </p:sp>
      <p:sp>
        <p:nvSpPr>
          <p:cNvPr id="5" name="AutoShape 4">
            <a:extLst>
              <a:ext uri="{FF2B5EF4-FFF2-40B4-BE49-F238E27FC236}">
                <a16:creationId xmlns:a16="http://schemas.microsoft.com/office/drawing/2014/main" id="{31F15D1A-F50F-90C3-94E3-8CD7DDBDB219}"/>
              </a:ext>
            </a:extLst>
          </p:cNvPr>
          <p:cNvSpPr/>
          <p:nvPr/>
        </p:nvSpPr>
        <p:spPr>
          <a:xfrm>
            <a:off x="359482" y="10102062"/>
            <a:ext cx="17928132" cy="23890"/>
          </a:xfrm>
          <a:prstGeom prst="line">
            <a:avLst/>
          </a:prstGeom>
          <a:ln w="428625" cap="flat">
            <a:solidFill>
              <a:srgbClr val="FFA51F"/>
            </a:solidFill>
            <a:prstDash val="solid"/>
            <a:headEnd type="none" w="sm" len="sm"/>
            <a:tailEnd type="none" w="sm" len="sm"/>
          </a:ln>
        </p:spPr>
      </p:sp>
      <p:sp>
        <p:nvSpPr>
          <p:cNvPr id="6" name="AutoShape 5">
            <a:extLst>
              <a:ext uri="{FF2B5EF4-FFF2-40B4-BE49-F238E27FC236}">
                <a16:creationId xmlns:a16="http://schemas.microsoft.com/office/drawing/2014/main" id="{B1D0694E-E1AB-009B-10E1-67AA890A99AE}"/>
              </a:ext>
            </a:extLst>
          </p:cNvPr>
          <p:cNvSpPr/>
          <p:nvPr/>
        </p:nvSpPr>
        <p:spPr>
          <a:xfrm>
            <a:off x="18073295" y="-49262"/>
            <a:ext cx="1" cy="10336262"/>
          </a:xfrm>
          <a:prstGeom prst="line">
            <a:avLst/>
          </a:prstGeom>
          <a:ln w="428625" cap="flat">
            <a:solidFill>
              <a:srgbClr val="FFA51F"/>
            </a:solidFill>
            <a:prstDash val="solid"/>
            <a:headEnd type="none" w="sm" len="sm"/>
            <a:tailEnd type="none" w="sm" len="sm"/>
          </a:ln>
        </p:spPr>
      </p:sp>
      <p:grpSp>
        <p:nvGrpSpPr>
          <p:cNvPr id="7" name="Group 6">
            <a:extLst>
              <a:ext uri="{FF2B5EF4-FFF2-40B4-BE49-F238E27FC236}">
                <a16:creationId xmlns:a16="http://schemas.microsoft.com/office/drawing/2014/main" id="{870B1F0D-72DA-699E-DF81-A509F788A16A}"/>
              </a:ext>
            </a:extLst>
          </p:cNvPr>
          <p:cNvGrpSpPr/>
          <p:nvPr/>
        </p:nvGrpSpPr>
        <p:grpSpPr>
          <a:xfrm>
            <a:off x="38806" y="0"/>
            <a:ext cx="989894" cy="1267064"/>
            <a:chOff x="0" y="0"/>
            <a:chExt cx="635000" cy="812800"/>
          </a:xfrm>
        </p:grpSpPr>
        <p:sp>
          <p:nvSpPr>
            <p:cNvPr id="8" name="Freeform 7">
              <a:extLst>
                <a:ext uri="{FF2B5EF4-FFF2-40B4-BE49-F238E27FC236}">
                  <a16:creationId xmlns:a16="http://schemas.microsoft.com/office/drawing/2014/main" id="{A4BF492C-1513-AFD9-14F8-ECD0DBB3240A}"/>
                </a:ext>
              </a:extLst>
            </p:cNvPr>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FFDE59">
                    <a:alpha val="100000"/>
                  </a:srgbClr>
                </a:gs>
                <a:gs pos="100000">
                  <a:srgbClr val="FF914D">
                    <a:alpha val="100000"/>
                  </a:srgbClr>
                </a:gs>
              </a:gsLst>
              <a:lin ang="0"/>
            </a:gradFill>
          </p:spPr>
        </p:sp>
        <p:sp>
          <p:nvSpPr>
            <p:cNvPr id="9" name="TextBox 8">
              <a:extLst>
                <a:ext uri="{FF2B5EF4-FFF2-40B4-BE49-F238E27FC236}">
                  <a16:creationId xmlns:a16="http://schemas.microsoft.com/office/drawing/2014/main" id="{809E80A9-9D40-EB9C-2CAB-6A7107C6A75B}"/>
                </a:ext>
              </a:extLst>
            </p:cNvPr>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9">
            <a:extLst>
              <a:ext uri="{FF2B5EF4-FFF2-40B4-BE49-F238E27FC236}">
                <a16:creationId xmlns:a16="http://schemas.microsoft.com/office/drawing/2014/main" id="{70ABA341-E2ED-7CA3-63A2-DF6C2D47A774}"/>
              </a:ext>
            </a:extLst>
          </p:cNvPr>
          <p:cNvGrpSpPr/>
          <p:nvPr/>
        </p:nvGrpSpPr>
        <p:grpSpPr>
          <a:xfrm rot="-10800000">
            <a:off x="17298106" y="9019936"/>
            <a:ext cx="989894" cy="1267064"/>
            <a:chOff x="0" y="0"/>
            <a:chExt cx="635000" cy="812800"/>
          </a:xfrm>
        </p:grpSpPr>
        <p:sp>
          <p:nvSpPr>
            <p:cNvPr id="11" name="Freeform 10">
              <a:extLst>
                <a:ext uri="{FF2B5EF4-FFF2-40B4-BE49-F238E27FC236}">
                  <a16:creationId xmlns:a16="http://schemas.microsoft.com/office/drawing/2014/main" id="{0ACCB579-A03B-F46E-7F9B-40D68AF0EEF8}"/>
                </a:ext>
              </a:extLst>
            </p:cNvPr>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gradFill rotWithShape="1">
              <a:gsLst>
                <a:gs pos="0">
                  <a:srgbClr val="5DE0E6">
                    <a:alpha val="100000"/>
                  </a:srgbClr>
                </a:gs>
                <a:gs pos="100000">
                  <a:srgbClr val="004AAD">
                    <a:alpha val="100000"/>
                  </a:srgbClr>
                </a:gs>
              </a:gsLst>
              <a:lin ang="0"/>
            </a:gradFill>
          </p:spPr>
        </p:sp>
        <p:sp>
          <p:nvSpPr>
            <p:cNvPr id="12" name="TextBox 11">
              <a:extLst>
                <a:ext uri="{FF2B5EF4-FFF2-40B4-BE49-F238E27FC236}">
                  <a16:creationId xmlns:a16="http://schemas.microsoft.com/office/drawing/2014/main" id="{BEA00940-CF56-652C-DD1A-4C2FDAAC44A0}"/>
                </a:ext>
              </a:extLst>
            </p:cNvPr>
            <p:cNvSpPr txBox="1"/>
            <p:nvPr/>
          </p:nvSpPr>
          <p:spPr>
            <a:xfrm>
              <a:off x="0" y="-38100"/>
              <a:ext cx="635000" cy="736600"/>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2">
            <a:extLst>
              <a:ext uri="{FF2B5EF4-FFF2-40B4-BE49-F238E27FC236}">
                <a16:creationId xmlns:a16="http://schemas.microsoft.com/office/drawing/2014/main" id="{CA78684D-7E0B-4D0C-E77F-89DD6DC6B301}"/>
              </a:ext>
            </a:extLst>
          </p:cNvPr>
          <p:cNvGrpSpPr/>
          <p:nvPr/>
        </p:nvGrpSpPr>
        <p:grpSpPr>
          <a:xfrm>
            <a:off x="13515604" y="495986"/>
            <a:ext cx="4277449" cy="1258472"/>
            <a:chOff x="0" y="0"/>
            <a:chExt cx="5703265" cy="1677962"/>
          </a:xfrm>
        </p:grpSpPr>
        <p:sp>
          <p:nvSpPr>
            <p:cNvPr id="14" name="Freeform 13" descr="F:\F\abdesktop\Logo_NTTF_2019\NTTF Logo_png.png">
              <a:extLst>
                <a:ext uri="{FF2B5EF4-FFF2-40B4-BE49-F238E27FC236}">
                  <a16:creationId xmlns:a16="http://schemas.microsoft.com/office/drawing/2014/main" id="{0411706D-D747-51BD-2496-8C9AFE1A4DA8}"/>
                </a:ext>
              </a:extLst>
            </p:cNvPr>
            <p:cNvSpPr/>
            <p:nvPr/>
          </p:nvSpPr>
          <p:spPr>
            <a:xfrm>
              <a:off x="0" y="0"/>
              <a:ext cx="5703316" cy="1677924"/>
            </a:xfrm>
            <a:custGeom>
              <a:avLst/>
              <a:gdLst/>
              <a:ahLst/>
              <a:cxnLst/>
              <a:rect l="l" t="t" r="r" b="b"/>
              <a:pathLst>
                <a:path w="5703316" h="1677924">
                  <a:moveTo>
                    <a:pt x="0" y="0"/>
                  </a:moveTo>
                  <a:lnTo>
                    <a:pt x="5703316" y="0"/>
                  </a:lnTo>
                  <a:lnTo>
                    <a:pt x="5703316" y="1677924"/>
                  </a:lnTo>
                  <a:lnTo>
                    <a:pt x="0" y="1677924"/>
                  </a:lnTo>
                  <a:lnTo>
                    <a:pt x="0" y="0"/>
                  </a:lnTo>
                  <a:close/>
                </a:path>
              </a:pathLst>
            </a:custGeom>
            <a:blipFill>
              <a:blip r:embed="rId2"/>
              <a:stretch>
                <a:fillRect b="-27371"/>
              </a:stretch>
            </a:blipFill>
          </p:spPr>
        </p:sp>
      </p:grpSp>
    </p:spTree>
    <p:extLst>
      <p:ext uri="{BB962C8B-B14F-4D97-AF65-F5344CB8AC3E}">
        <p14:creationId xmlns:p14="http://schemas.microsoft.com/office/powerpoint/2010/main" val="333354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1444</Words>
  <Application>Microsoft Office PowerPoint</Application>
  <PresentationFormat>Custom</PresentationFormat>
  <Paragraphs>109</Paragraphs>
  <Slides>12</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Copperplate Gothic 32 AB Bold</vt:lpstr>
      <vt:lpstr>Calibri</vt:lpstr>
      <vt:lpstr>Playwrite US Modern</vt:lpstr>
      <vt:lpstr>Norwester</vt:lpstr>
      <vt:lpstr>Anton</vt:lpstr>
      <vt:lpstr>Arial</vt:lpstr>
      <vt:lpstr>Bodoni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Evolution of Wireless Communication: From 5G to 6G</dc:title>
  <cp:lastModifiedBy>Ayush Prasad</cp:lastModifiedBy>
  <cp:revision>7</cp:revision>
  <dcterms:created xsi:type="dcterms:W3CDTF">2006-08-16T00:00:00Z</dcterms:created>
  <dcterms:modified xsi:type="dcterms:W3CDTF">2026-04-21T02:19:12Z</dcterms:modified>
  <dc:identifier>DAHHXBQY2Z0</dc:identifier>
</cp:coreProperties>
</file>