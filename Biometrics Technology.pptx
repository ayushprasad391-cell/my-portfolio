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1" r:id="rId6"/>
    <p:sldId id="260" r:id="rId7"/>
    <p:sldId id="263" r:id="rId8"/>
    <p:sldId id="264" r:id="rId9"/>
    <p:sldId id="266" r:id="rId10"/>
    <p:sldId id="265" r:id="rId11"/>
    <p:sldId id="267" r:id="rId12"/>
    <p:sldId id="269" r:id="rId13"/>
  </p:sldIdLst>
  <p:sldSz cx="18288000" cy="10287000"/>
  <p:notesSz cx="6858000" cy="9144000"/>
  <p:embeddedFontLst>
    <p:embeddedFont>
      <p:font typeface="Anton" pitchFamily="2" charset="0"/>
      <p:regular r:id="rId14"/>
    </p:embeddedFont>
    <p:embeddedFont>
      <p:font typeface="Bahnschrift Condensed" panose="020B0502040204020203" pitchFamily="34" charset="0"/>
      <p:regular r:id="rId15"/>
      <p:bold r:id="rId16"/>
    </p:embeddedFont>
    <p:embeddedFont>
      <p:font typeface="Bodoni MT" panose="02070603080606020203" pitchFamily="18" charset="0"/>
      <p:regular r:id="rId17"/>
      <p:bold r:id="rId18"/>
      <p:italic r:id="rId19"/>
      <p:boldItalic r:id="rId20"/>
    </p:embeddedFon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Copperplate Gothic Bold" panose="020E0705020206020404" pitchFamily="34" charset="0"/>
      <p:regular r:id="rId25"/>
    </p:embeddedFont>
    <p:embeddedFont>
      <p:font typeface="Norwester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388" autoAdjust="0"/>
  </p:normalViewPr>
  <p:slideViewPr>
    <p:cSldViewPr>
      <p:cViewPr varScale="1">
        <p:scale>
          <a:sx n="57" d="100"/>
          <a:sy n="57" d="100"/>
        </p:scale>
        <p:origin x="56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/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307D27C-D77B-561A-21B8-4DA97AD9FB2A}"/>
              </a:ext>
            </a:extLst>
          </p:cNvPr>
          <p:cNvSpPr txBox="1"/>
          <p:nvPr/>
        </p:nvSpPr>
        <p:spPr>
          <a:xfrm>
            <a:off x="1164429" y="926871"/>
            <a:ext cx="12627771" cy="85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5400" dirty="0">
                <a:solidFill>
                  <a:srgbClr val="FF0000"/>
                </a:solidFill>
                <a:latin typeface="Copperplate Gothic Bold" panose="020E0705020206020404" pitchFamily="34" charset="0"/>
                <a:ea typeface="Copperplate Gothic 32 AB Bold"/>
                <a:cs typeface="Copperplate Gothic 32 AB Bold"/>
                <a:sym typeface="Copperplate Gothic 32 AB Bold"/>
              </a:rPr>
              <a:t>SHOPTALK</a:t>
            </a:r>
            <a:r>
              <a:rPr lang="en-US" sz="5400" dirty="0">
                <a:solidFill>
                  <a:srgbClr val="000000"/>
                </a:solidFill>
                <a:latin typeface="Copperplate Gothic Bold" panose="020E0705020206020404" pitchFamily="34" charset="0"/>
                <a:ea typeface="Copperplate Gothic 32 AB Bold"/>
                <a:cs typeface="Copperplate Gothic 32 AB Bold"/>
                <a:sym typeface="Copperplate Gothic 32 AB Bold"/>
              </a:rPr>
              <a:t> OF THE MONTH</a:t>
            </a:r>
          </a:p>
        </p:txBody>
      </p:sp>
      <p:grpSp>
        <p:nvGrpSpPr>
          <p:cNvPr id="18" name="Group 27">
            <a:extLst>
              <a:ext uri="{FF2B5EF4-FFF2-40B4-BE49-F238E27FC236}">
                <a16:creationId xmlns:a16="http://schemas.microsoft.com/office/drawing/2014/main" id="{34459109-1836-01A0-8EC3-08ACA4E91832}"/>
              </a:ext>
            </a:extLst>
          </p:cNvPr>
          <p:cNvGrpSpPr/>
          <p:nvPr/>
        </p:nvGrpSpPr>
        <p:grpSpPr>
          <a:xfrm>
            <a:off x="2041314" y="1988719"/>
            <a:ext cx="8354273" cy="4482241"/>
            <a:chOff x="-105684" y="-82976"/>
            <a:chExt cx="1358885" cy="684663"/>
          </a:xfrm>
        </p:grpSpPr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E3EE01D0-C01B-53F4-A807-2BBF095CAB5D}"/>
                </a:ext>
              </a:extLst>
            </p:cNvPr>
            <p:cNvSpPr/>
            <p:nvPr/>
          </p:nvSpPr>
          <p:spPr>
            <a:xfrm>
              <a:off x="-4303" y="20422"/>
              <a:ext cx="1147364" cy="471210"/>
            </a:xfrm>
            <a:custGeom>
              <a:avLst/>
              <a:gdLst/>
              <a:ahLst/>
              <a:cxnLst/>
              <a:rect l="l" t="t" r="r" b="b"/>
              <a:pathLst>
                <a:path w="1147364" h="471210">
                  <a:moveTo>
                    <a:pt x="944164" y="0"/>
                  </a:moveTo>
                  <a:cubicBezTo>
                    <a:pt x="1056388" y="0"/>
                    <a:pt x="1147364" y="105484"/>
                    <a:pt x="1147364" y="235605"/>
                  </a:cubicBezTo>
                  <a:cubicBezTo>
                    <a:pt x="1147364" y="365726"/>
                    <a:pt x="1056388" y="471210"/>
                    <a:pt x="944164" y="471210"/>
                  </a:cubicBezTo>
                  <a:lnTo>
                    <a:pt x="203200" y="471210"/>
                  </a:lnTo>
                  <a:cubicBezTo>
                    <a:pt x="90976" y="471210"/>
                    <a:pt x="0" y="365726"/>
                    <a:pt x="0" y="235605"/>
                  </a:cubicBezTo>
                  <a:cubicBezTo>
                    <a:pt x="0" y="10548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9">
              <a:extLst>
                <a:ext uri="{FF2B5EF4-FFF2-40B4-BE49-F238E27FC236}">
                  <a16:creationId xmlns:a16="http://schemas.microsoft.com/office/drawing/2014/main" id="{41049E23-6A06-7534-B68C-D4B5BEFC1B93}"/>
                </a:ext>
              </a:extLst>
            </p:cNvPr>
            <p:cNvSpPr txBox="1"/>
            <p:nvPr/>
          </p:nvSpPr>
          <p:spPr>
            <a:xfrm>
              <a:off x="-105684" y="-82976"/>
              <a:ext cx="1358885" cy="684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6600" dirty="0">
                  <a:solidFill>
                    <a:srgbClr val="FFFFFF"/>
                  </a:solidFill>
                  <a:latin typeface="Bahnschrift Condensed" panose="020B0502040204020203" pitchFamily="34" charset="0"/>
                  <a:ea typeface="Norwester"/>
                  <a:cs typeface="Norwester"/>
                  <a:sym typeface="Norwester"/>
                </a:rPr>
                <a:t>BIOMETRICS TECHNOLOGY</a:t>
              </a:r>
            </a:p>
          </p:txBody>
        </p:sp>
      </p:grpSp>
      <p:grpSp>
        <p:nvGrpSpPr>
          <p:cNvPr id="21" name="Group 14">
            <a:extLst>
              <a:ext uri="{FF2B5EF4-FFF2-40B4-BE49-F238E27FC236}">
                <a16:creationId xmlns:a16="http://schemas.microsoft.com/office/drawing/2014/main" id="{E9B251F6-69A0-56DB-96BD-06BEFA0538B6}"/>
              </a:ext>
            </a:extLst>
          </p:cNvPr>
          <p:cNvGrpSpPr/>
          <p:nvPr/>
        </p:nvGrpSpPr>
        <p:grpSpPr>
          <a:xfrm>
            <a:off x="1893930" y="6087340"/>
            <a:ext cx="8649043" cy="3538538"/>
            <a:chOff x="0" y="0"/>
            <a:chExt cx="11532058" cy="4718050"/>
          </a:xfrm>
        </p:grpSpPr>
        <p:grpSp>
          <p:nvGrpSpPr>
            <p:cNvPr id="22" name="Group 15">
              <a:extLst>
                <a:ext uri="{FF2B5EF4-FFF2-40B4-BE49-F238E27FC236}">
                  <a16:creationId xmlns:a16="http://schemas.microsoft.com/office/drawing/2014/main" id="{88604912-83F7-77CE-1939-2910CECE035E}"/>
                </a:ext>
              </a:extLst>
            </p:cNvPr>
            <p:cNvGrpSpPr/>
            <p:nvPr/>
          </p:nvGrpSpPr>
          <p:grpSpPr>
            <a:xfrm>
              <a:off x="0" y="0"/>
              <a:ext cx="11532058" cy="1066724"/>
              <a:chOff x="0" y="0"/>
              <a:chExt cx="11532058" cy="1066724"/>
            </a:xfrm>
          </p:grpSpPr>
          <p:sp>
            <p:nvSpPr>
              <p:cNvPr id="32" name="Freeform 16">
                <a:extLst>
                  <a:ext uri="{FF2B5EF4-FFF2-40B4-BE49-F238E27FC236}">
                    <a16:creationId xmlns:a16="http://schemas.microsoft.com/office/drawing/2014/main" id="{39EDCFDF-8483-B45E-DAD4-814C182A8158}"/>
                  </a:ext>
                </a:extLst>
              </p:cNvPr>
              <p:cNvSpPr/>
              <p:nvPr/>
            </p:nvSpPr>
            <p:spPr>
              <a:xfrm>
                <a:off x="0" y="0"/>
                <a:ext cx="11532058" cy="1066680"/>
              </a:xfrm>
              <a:custGeom>
                <a:avLst/>
                <a:gdLst/>
                <a:ahLst/>
                <a:cxnLst/>
                <a:rect l="l" t="t" r="r" b="b"/>
                <a:pathLst>
                  <a:path w="11532058" h="1066680">
                    <a:moveTo>
                      <a:pt x="0" y="0"/>
                    </a:moveTo>
                    <a:lnTo>
                      <a:pt x="11532058" y="0"/>
                    </a:lnTo>
                    <a:lnTo>
                      <a:pt x="11532058" y="1066680"/>
                    </a:lnTo>
                    <a:lnTo>
                      <a:pt x="0" y="1066680"/>
                    </a:lnTo>
                    <a:close/>
                  </a:path>
                </a:pathLst>
              </a:custGeom>
              <a:solidFill>
                <a:srgbClr val="00206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3" name="TextBox 17">
                <a:extLst>
                  <a:ext uri="{FF2B5EF4-FFF2-40B4-BE49-F238E27FC236}">
                    <a16:creationId xmlns:a16="http://schemas.microsoft.com/office/drawing/2014/main" id="{1316B550-9D3D-ECFE-84A8-4278AB48B6A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1532058" cy="1066724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FFFFFF"/>
                    </a:solidFill>
                    <a:latin typeface="Norwester"/>
                    <a:ea typeface="Norwester"/>
                    <a:cs typeface="Norwester"/>
                    <a:sym typeface="Norwester"/>
                  </a:rPr>
                  <a:t>Name:-AYUSH PRASAD</a:t>
                </a:r>
              </a:p>
            </p:txBody>
          </p:sp>
        </p:grpSp>
        <p:grpSp>
          <p:nvGrpSpPr>
            <p:cNvPr id="23" name="Group 18">
              <a:extLst>
                <a:ext uri="{FF2B5EF4-FFF2-40B4-BE49-F238E27FC236}">
                  <a16:creationId xmlns:a16="http://schemas.microsoft.com/office/drawing/2014/main" id="{0CD51855-04D7-492A-F47E-2B638F4FED2A}"/>
                </a:ext>
              </a:extLst>
            </p:cNvPr>
            <p:cNvGrpSpPr/>
            <p:nvPr/>
          </p:nvGrpSpPr>
          <p:grpSpPr>
            <a:xfrm>
              <a:off x="0" y="1081841"/>
              <a:ext cx="11532058" cy="1066724"/>
              <a:chOff x="0" y="0"/>
              <a:chExt cx="11532058" cy="1066724"/>
            </a:xfrm>
          </p:grpSpPr>
          <p:sp>
            <p:nvSpPr>
              <p:cNvPr id="30" name="Freeform 19">
                <a:extLst>
                  <a:ext uri="{FF2B5EF4-FFF2-40B4-BE49-F238E27FC236}">
                    <a16:creationId xmlns:a16="http://schemas.microsoft.com/office/drawing/2014/main" id="{420EDFD8-C144-0782-F2C7-0328ECCC5430}"/>
                  </a:ext>
                </a:extLst>
              </p:cNvPr>
              <p:cNvSpPr/>
              <p:nvPr/>
            </p:nvSpPr>
            <p:spPr>
              <a:xfrm>
                <a:off x="0" y="0"/>
                <a:ext cx="11532058" cy="1066680"/>
              </a:xfrm>
              <a:custGeom>
                <a:avLst/>
                <a:gdLst/>
                <a:ahLst/>
                <a:cxnLst/>
                <a:rect l="l" t="t" r="r" b="b"/>
                <a:pathLst>
                  <a:path w="11532058" h="1066680">
                    <a:moveTo>
                      <a:pt x="0" y="0"/>
                    </a:moveTo>
                    <a:lnTo>
                      <a:pt x="11532058" y="0"/>
                    </a:lnTo>
                    <a:lnTo>
                      <a:pt x="11532058" y="1066680"/>
                    </a:lnTo>
                    <a:lnTo>
                      <a:pt x="0" y="1066680"/>
                    </a:lnTo>
                    <a:close/>
                  </a:path>
                </a:pathLst>
              </a:custGeom>
              <a:solidFill>
                <a:srgbClr val="0070C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20">
                <a:extLst>
                  <a:ext uri="{FF2B5EF4-FFF2-40B4-BE49-F238E27FC236}">
                    <a16:creationId xmlns:a16="http://schemas.microsoft.com/office/drawing/2014/main" id="{09EAF877-32C1-5724-D248-F0B86647271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1532058" cy="1066724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FFFFFF"/>
                    </a:solidFill>
                    <a:latin typeface="Norwester"/>
                    <a:ea typeface="Norwester"/>
                    <a:cs typeface="Norwester"/>
                    <a:sym typeface="Norwester"/>
                  </a:rPr>
                  <a:t>Course:- COMPUTER SCIENCE</a:t>
                </a:r>
              </a:p>
            </p:txBody>
          </p:sp>
        </p:grpSp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D69BC8AE-B75D-D89D-B431-014FD8435581}"/>
                </a:ext>
              </a:extLst>
            </p:cNvPr>
            <p:cNvGrpSpPr/>
            <p:nvPr/>
          </p:nvGrpSpPr>
          <p:grpSpPr>
            <a:xfrm>
              <a:off x="0" y="2043659"/>
              <a:ext cx="11532058" cy="1062137"/>
              <a:chOff x="0" y="0"/>
              <a:chExt cx="11532058" cy="1062137"/>
            </a:xfrm>
          </p:grpSpPr>
          <p:sp>
            <p:nvSpPr>
              <p:cNvPr id="28" name="Freeform 22">
                <a:extLst>
                  <a:ext uri="{FF2B5EF4-FFF2-40B4-BE49-F238E27FC236}">
                    <a16:creationId xmlns:a16="http://schemas.microsoft.com/office/drawing/2014/main" id="{48592504-EB13-3116-3673-B7978264D2DC}"/>
                  </a:ext>
                </a:extLst>
              </p:cNvPr>
              <p:cNvSpPr/>
              <p:nvPr/>
            </p:nvSpPr>
            <p:spPr>
              <a:xfrm>
                <a:off x="0" y="0"/>
                <a:ext cx="11532058" cy="1062093"/>
              </a:xfrm>
              <a:custGeom>
                <a:avLst/>
                <a:gdLst/>
                <a:ahLst/>
                <a:cxnLst/>
                <a:rect l="l" t="t" r="r" b="b"/>
                <a:pathLst>
                  <a:path w="11532058" h="1062093">
                    <a:moveTo>
                      <a:pt x="0" y="0"/>
                    </a:moveTo>
                    <a:lnTo>
                      <a:pt x="11532058" y="0"/>
                    </a:lnTo>
                    <a:lnTo>
                      <a:pt x="11532058" y="1062093"/>
                    </a:lnTo>
                    <a:lnTo>
                      <a:pt x="0" y="1062093"/>
                    </a:lnTo>
                    <a:close/>
                  </a:path>
                </a:pathLst>
              </a:custGeom>
              <a:solidFill>
                <a:srgbClr val="00B0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9" name="TextBox 23">
                <a:extLst>
                  <a:ext uri="{FF2B5EF4-FFF2-40B4-BE49-F238E27FC236}">
                    <a16:creationId xmlns:a16="http://schemas.microsoft.com/office/drawing/2014/main" id="{29410D19-FEDF-1945-B34A-FF942D0E4F9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1532058" cy="1062137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FFFFFF"/>
                    </a:solidFill>
                    <a:latin typeface="Norwester"/>
                    <a:ea typeface="Norwester"/>
                    <a:cs typeface="Norwester"/>
                    <a:sym typeface="Norwester"/>
                  </a:rPr>
                  <a:t>Section:- C1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D0A2C57-45B5-986A-EE38-708EEA33EA8D}"/>
                </a:ext>
              </a:extLst>
            </p:cNvPr>
            <p:cNvGrpSpPr/>
            <p:nvPr/>
          </p:nvGrpSpPr>
          <p:grpSpPr>
            <a:xfrm>
              <a:off x="0" y="3103764"/>
              <a:ext cx="11532058" cy="1614286"/>
              <a:chOff x="0" y="0"/>
              <a:chExt cx="11532058" cy="1614286"/>
            </a:xfrm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52A5DC52-6177-8F49-4D4E-85C609E8747F}"/>
                  </a:ext>
                </a:extLst>
              </p:cNvPr>
              <p:cNvSpPr/>
              <p:nvPr/>
            </p:nvSpPr>
            <p:spPr>
              <a:xfrm>
                <a:off x="0" y="0"/>
                <a:ext cx="11532058" cy="1614219"/>
              </a:xfrm>
              <a:custGeom>
                <a:avLst/>
                <a:gdLst/>
                <a:ahLst/>
                <a:cxnLst/>
                <a:rect l="l" t="t" r="r" b="b"/>
                <a:pathLst>
                  <a:path w="11532058" h="1614219">
                    <a:moveTo>
                      <a:pt x="0" y="0"/>
                    </a:moveTo>
                    <a:lnTo>
                      <a:pt x="11532058" y="0"/>
                    </a:lnTo>
                    <a:lnTo>
                      <a:pt x="11532058" y="1614219"/>
                    </a:lnTo>
                    <a:lnTo>
                      <a:pt x="0" y="1614219"/>
                    </a:lnTo>
                    <a:close/>
                  </a:path>
                </a:pathLst>
              </a:custGeom>
              <a:solidFill>
                <a:srgbClr val="8FAAD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02FB7E-1A2C-EF5C-D3FD-4C4307F7C98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1532058" cy="1614286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l">
                  <a:lnSpc>
                    <a:spcPts val="3840"/>
                  </a:lnSpc>
                </a:pPr>
                <a:r>
                  <a:rPr lang="en-US" sz="3200">
                    <a:solidFill>
                      <a:srgbClr val="FFFFFF"/>
                    </a:solidFill>
                    <a:latin typeface="Norwester"/>
                    <a:ea typeface="Norwester"/>
                    <a:cs typeface="Norwester"/>
                    <a:sym typeface="Norwester"/>
                  </a:rPr>
                  <a:t>Centre:- RD TATA TECHNICAL EDUCATION CENTRE,NTTF </a:t>
                </a:r>
              </a:p>
            </p:txBody>
          </p:sp>
        </p:grpSp>
      </p:grpSp>
      <p:grpSp>
        <p:nvGrpSpPr>
          <p:cNvPr id="34" name="Group 30">
            <a:extLst>
              <a:ext uri="{FF2B5EF4-FFF2-40B4-BE49-F238E27FC236}">
                <a16:creationId xmlns:a16="http://schemas.microsoft.com/office/drawing/2014/main" id="{8C3511CC-A76D-D365-1E06-ED9D1D5297EE}"/>
              </a:ext>
            </a:extLst>
          </p:cNvPr>
          <p:cNvGrpSpPr/>
          <p:nvPr/>
        </p:nvGrpSpPr>
        <p:grpSpPr>
          <a:xfrm>
            <a:off x="13515604" y="2735924"/>
            <a:ext cx="3681774" cy="1645577"/>
            <a:chOff x="0" y="-34983"/>
            <a:chExt cx="969685" cy="433403"/>
          </a:xfrm>
        </p:grpSpPr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836CA59C-824B-2119-25F2-3FE342E109F6}"/>
                </a:ext>
              </a:extLst>
            </p:cNvPr>
            <p:cNvSpPr/>
            <p:nvPr/>
          </p:nvSpPr>
          <p:spPr>
            <a:xfrm>
              <a:off x="0" y="0"/>
              <a:ext cx="969685" cy="347678"/>
            </a:xfrm>
            <a:custGeom>
              <a:avLst/>
              <a:gdLst/>
              <a:ahLst/>
              <a:cxnLst/>
              <a:rect l="l" t="t" r="r" b="b"/>
              <a:pathLst>
                <a:path w="969685" h="347678">
                  <a:moveTo>
                    <a:pt x="766485" y="0"/>
                  </a:moveTo>
                  <a:cubicBezTo>
                    <a:pt x="878710" y="0"/>
                    <a:pt x="969685" y="77830"/>
                    <a:pt x="969685" y="173839"/>
                  </a:cubicBezTo>
                  <a:cubicBezTo>
                    <a:pt x="969685" y="269848"/>
                    <a:pt x="878710" y="347678"/>
                    <a:pt x="766485" y="347678"/>
                  </a:cubicBezTo>
                  <a:lnTo>
                    <a:pt x="203200" y="347678"/>
                  </a:lnTo>
                  <a:cubicBezTo>
                    <a:pt x="90976" y="347678"/>
                    <a:pt x="0" y="269848"/>
                    <a:pt x="0" y="173839"/>
                  </a:cubicBezTo>
                  <a:cubicBezTo>
                    <a:pt x="0" y="77830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6" name="TextBox 32">
              <a:extLst>
                <a:ext uri="{FF2B5EF4-FFF2-40B4-BE49-F238E27FC236}">
                  <a16:creationId xmlns:a16="http://schemas.microsoft.com/office/drawing/2014/main" id="{C7545295-A170-1F4F-4988-675455DF87D7}"/>
                </a:ext>
              </a:extLst>
            </p:cNvPr>
            <p:cNvSpPr txBox="1"/>
            <p:nvPr/>
          </p:nvSpPr>
          <p:spPr>
            <a:xfrm>
              <a:off x="0" y="-34983"/>
              <a:ext cx="969685" cy="433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 dirty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MARCH</a:t>
              </a:r>
            </a:p>
          </p:txBody>
        </p:sp>
      </p:grpSp>
      <p:grpSp>
        <p:nvGrpSpPr>
          <p:cNvPr id="37" name="Group 34">
            <a:extLst>
              <a:ext uri="{FF2B5EF4-FFF2-40B4-BE49-F238E27FC236}">
                <a16:creationId xmlns:a16="http://schemas.microsoft.com/office/drawing/2014/main" id="{C183B925-03EF-D3E3-1F17-D112FCCA4B5D}"/>
              </a:ext>
            </a:extLst>
          </p:cNvPr>
          <p:cNvGrpSpPr/>
          <p:nvPr/>
        </p:nvGrpSpPr>
        <p:grpSpPr>
          <a:xfrm>
            <a:off x="13515604" y="4045149"/>
            <a:ext cx="3681774" cy="1645577"/>
            <a:chOff x="0" y="-85725"/>
            <a:chExt cx="969685" cy="433403"/>
          </a:xfrm>
        </p:grpSpPr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938EACD1-53A9-1C66-D9BE-0562C6D59583}"/>
                </a:ext>
              </a:extLst>
            </p:cNvPr>
            <p:cNvSpPr/>
            <p:nvPr/>
          </p:nvSpPr>
          <p:spPr>
            <a:xfrm>
              <a:off x="0" y="-50684"/>
              <a:ext cx="969685" cy="347678"/>
            </a:xfrm>
            <a:custGeom>
              <a:avLst/>
              <a:gdLst/>
              <a:ahLst/>
              <a:cxnLst/>
              <a:rect l="l" t="t" r="r" b="b"/>
              <a:pathLst>
                <a:path w="969685" h="347678">
                  <a:moveTo>
                    <a:pt x="766485" y="0"/>
                  </a:moveTo>
                  <a:cubicBezTo>
                    <a:pt x="878710" y="0"/>
                    <a:pt x="969685" y="77830"/>
                    <a:pt x="969685" y="173839"/>
                  </a:cubicBezTo>
                  <a:cubicBezTo>
                    <a:pt x="969685" y="269848"/>
                    <a:pt x="878710" y="347678"/>
                    <a:pt x="766485" y="347678"/>
                  </a:cubicBezTo>
                  <a:lnTo>
                    <a:pt x="203200" y="347678"/>
                  </a:lnTo>
                  <a:cubicBezTo>
                    <a:pt x="90976" y="347678"/>
                    <a:pt x="0" y="269848"/>
                    <a:pt x="0" y="173839"/>
                  </a:cubicBezTo>
                  <a:cubicBezTo>
                    <a:pt x="0" y="77830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9" name="TextBox 36">
              <a:extLst>
                <a:ext uri="{FF2B5EF4-FFF2-40B4-BE49-F238E27FC236}">
                  <a16:creationId xmlns:a16="http://schemas.microsoft.com/office/drawing/2014/main" id="{BC8E5039-D16B-29AE-10D0-0AFF934F7AB2}"/>
                </a:ext>
              </a:extLst>
            </p:cNvPr>
            <p:cNvSpPr txBox="1"/>
            <p:nvPr/>
          </p:nvSpPr>
          <p:spPr>
            <a:xfrm>
              <a:off x="0" y="-85725"/>
              <a:ext cx="969685" cy="433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 dirty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2026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826DE5A-0699-26D8-24C6-DD68E0579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5604" y="6702766"/>
            <a:ext cx="3614493" cy="2114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127D-C188-DAAA-2FC7-4FB72C86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DC5B1C6-D5E7-B52B-2F6F-9B33CB97E474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4F36D0-8936-0322-7137-14BBC159F753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BAA05EB-6E87-5949-2935-98D62A3A671A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F51E7FE-C0F2-74DE-9C2E-0485C48CF5F8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3BF62DA-9910-BB37-FD2B-459688879B54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C419DD7-CF59-ED5F-69FB-B57E78DFE6EE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DC2CD1A-1CE6-B5D3-BA96-0739B17396F5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CF17817-0AA9-9861-5395-485BA1E716F0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8E79F1E-92D2-4D63-DC87-BE673A05F259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0B91B29-FDB9-51D2-3B5A-79DFD5E804AE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4239BC1-E962-1821-3B67-43962803A65D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7188529A-6EEC-C9D5-DC2E-64F9957B9959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9445FF5C-4829-7916-06C7-6BEEE003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345" y="1044829"/>
            <a:ext cx="8771535" cy="1143000"/>
          </a:xfrm>
        </p:spPr>
        <p:txBody>
          <a:bodyPr>
            <a:no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What is Biometrics?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D3AC56A-7ED3-BC9C-31E2-4D23CD601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677" y="3148480"/>
            <a:ext cx="1573532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Biometrics is a technology used to identify or verify a person based on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unique physical or behavioral characteristics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These traits are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distinct for every individual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It is mainly used for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authentication and security purposes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Common examples include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fingerprint, face recognition, and iris scan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4441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66A0-E1C3-385A-C473-1B676C03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07F4327-CF6F-5AF1-94A9-8ADE0F76B987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321C289-9CE5-D532-29A3-A2B88484E7A9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33BC580-68FB-DBC4-8292-D52960AC7989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A8FA86F-CEE1-3638-271F-4F5EB1F4621C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F0EF32A-27B7-E038-35B7-711212EE51ED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D3DB6FE-E669-7726-155B-0FE472A33E23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04E10D6-A495-54BF-D749-07522CF7681F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773C6B9-7AED-A3AD-9E45-16F2D94B2A21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5B73E3B-857B-5C14-7761-6D1B742F7370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6562ABC-D46E-89CE-CA46-E87894FCA0EB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07940CE-2952-2A9D-E9BA-6DF866A9E840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08EC8B46-EE11-FC52-A383-B50066FC027F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DD15591F-D848-2998-F428-8B50390D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77" y="1131223"/>
            <a:ext cx="9276172" cy="1143000"/>
          </a:xfrm>
        </p:spPr>
        <p:txBody>
          <a:bodyPr>
            <a:no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Types of Biometrics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F94A3A2-4E83-42E4-3A96-D672D8AB4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761" y="3353922"/>
            <a:ext cx="14246612" cy="4525963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1. Physical Biometrics (Body-based)</a:t>
            </a:r>
            <a:endParaRPr lang="en-IN" sz="4000" dirty="0">
              <a:latin typeface="Century Gothic" panose="020B0502020202020204" pitchFamily="34" charset="0"/>
            </a:endParaRPr>
          </a:p>
          <a:p>
            <a:r>
              <a:rPr lang="en-IN" sz="4000" dirty="0">
                <a:latin typeface="Century Gothic" panose="020B0502020202020204" pitchFamily="34" charset="0"/>
              </a:rPr>
              <a:t>Fingerprint </a:t>
            </a:r>
          </a:p>
          <a:p>
            <a:r>
              <a:rPr lang="en-IN" sz="4000" dirty="0">
                <a:latin typeface="Century Gothic" panose="020B0502020202020204" pitchFamily="34" charset="0"/>
              </a:rPr>
              <a:t>Face Recognition </a:t>
            </a:r>
          </a:p>
          <a:p>
            <a:r>
              <a:rPr lang="en-IN" sz="4000" dirty="0">
                <a:latin typeface="Century Gothic" panose="020B0502020202020204" pitchFamily="34" charset="0"/>
              </a:rPr>
              <a:t>Iris / Retina Scan </a:t>
            </a:r>
          </a:p>
          <a:p>
            <a:r>
              <a:rPr lang="en-IN" sz="4000" b="1" dirty="0">
                <a:latin typeface="Century Gothic" panose="020B0502020202020204" pitchFamily="34" charset="0"/>
              </a:rPr>
              <a:t>2. </a:t>
            </a:r>
            <a:r>
              <a:rPr lang="en-IN" sz="4000" b="1" dirty="0" err="1">
                <a:latin typeface="Century Gothic" panose="020B0502020202020204" pitchFamily="34" charset="0"/>
              </a:rPr>
              <a:t>Behavioral</a:t>
            </a:r>
            <a:r>
              <a:rPr lang="en-IN" sz="4000" b="1" dirty="0">
                <a:latin typeface="Century Gothic" panose="020B0502020202020204" pitchFamily="34" charset="0"/>
              </a:rPr>
              <a:t> Biometrics (Action-based)</a:t>
            </a:r>
            <a:endParaRPr lang="en-IN" sz="4000" dirty="0">
              <a:latin typeface="Century Gothic" panose="020B0502020202020204" pitchFamily="34" charset="0"/>
            </a:endParaRPr>
          </a:p>
          <a:p>
            <a:r>
              <a:rPr lang="en-IN" sz="4000" dirty="0">
                <a:latin typeface="Century Gothic" panose="020B0502020202020204" pitchFamily="34" charset="0"/>
              </a:rPr>
              <a:t>Voice Recognition </a:t>
            </a:r>
          </a:p>
          <a:p>
            <a:r>
              <a:rPr lang="en-IN" sz="4000" dirty="0">
                <a:latin typeface="Century Gothic" panose="020B0502020202020204" pitchFamily="34" charset="0"/>
              </a:rPr>
              <a:t>Signature  </a:t>
            </a:r>
          </a:p>
          <a:p>
            <a:r>
              <a:rPr lang="en-IN" sz="4000" dirty="0">
                <a:latin typeface="Century Gothic" panose="020B0502020202020204" pitchFamily="34" charset="0"/>
              </a:rPr>
              <a:t>Typing Pattern</a:t>
            </a:r>
          </a:p>
          <a:p>
            <a:endParaRPr lang="en-IN" sz="4000" dirty="0">
              <a:latin typeface="Century Gothic" panose="020B0502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BB629B-A293-4ABA-42C4-03A956361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3339529" y="5764982"/>
            <a:ext cx="3989930" cy="26551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B01EC7-D346-DF41-2185-11068B111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3326081" y="2680690"/>
            <a:ext cx="3989931" cy="261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0FABB-8F26-03F4-0AAF-0D772AFD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A2C1BEE-8BB4-ACB3-BDAB-9F9AC12055C5}"/>
              </a:ext>
            </a:extLst>
          </p:cNvPr>
          <p:cNvSpPr/>
          <p:nvPr/>
        </p:nvSpPr>
        <p:spPr>
          <a:xfrm flipV="1">
            <a:off x="38806" y="161050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D73D709-0031-B04D-43FB-44143DADD9BE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4D71232-6320-A9BE-8157-1BCEB3BD764C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BCB51AC-401E-E8F4-CF73-30A9E2C1DEF6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1D99AA9-4369-E376-0AEF-650D615337D7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366E711-28FF-5AF7-DF95-4560EFC42127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2D7046-32F0-1B9D-CA85-DB7459694174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5C2D228-3D75-54E6-7811-77E0D7BC085E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4B58BD6-8E20-1034-23DB-82CF3D044A5D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CA51BE3-F9CD-1A7C-4F7E-E7E7088FCE07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18CE8BA-FC28-68C6-0E7D-9682638A6BC2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D4D25D2E-57CA-CE67-234D-3E7C48E50B80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A0FCA8B-0A5E-23AA-991D-2D08F779D434}"/>
              </a:ext>
            </a:extLst>
          </p:cNvPr>
          <p:cNvSpPr txBox="1"/>
          <p:nvPr/>
        </p:nvSpPr>
        <p:spPr>
          <a:xfrm>
            <a:off x="1028676" y="1267064"/>
            <a:ext cx="104775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latin typeface="Copperplate Gothic Bold" panose="020E0705020206020404" pitchFamily="34" charset="0"/>
              </a:rPr>
              <a:t>How Biometrics Works?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204D4FB-6900-C64D-D8EB-217302E91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544" y="3023755"/>
            <a:ext cx="1385828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Data Capture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– Scan fingerprint, face, or iris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Feature Extraction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– Identify unique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Storage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– Save data securely in a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Matching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– Compare with stored data for verification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5BCDBF-6192-918A-96D5-A64D6A2F4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5667892"/>
            <a:ext cx="7085205" cy="386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7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B70B-3C55-B16B-BEDA-7457D697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7026C32-8659-1FDF-C3AB-211F2238B0C6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0094DD3-45D8-4A1F-66E5-261430B571D3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AACCF46-F19A-CCF0-F1AD-D84D2E58C6A9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0465BD9-3D33-2E40-EDBF-9E83895CAF33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8BC2A26-A758-FFBF-2694-3E2109B82992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F5574BD-6F26-B7AD-8970-9D27DAFE706F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7ACE1F6-6F36-498D-2153-E2FA074284A8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2673E00-B046-D0A6-4370-3EA8C094CD89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04237C5-8B8A-80F3-A725-BBBCF0B38A5B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B606BAC-E48E-077A-5FE8-03C1DA0932A2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7275100-2C18-59B1-F7EA-2B3CD505F84F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16EFA78B-451D-74AE-DB99-7C004A05DF0D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71D7BA2-8C56-6785-31A2-3EAE7C9237E1}"/>
              </a:ext>
            </a:extLst>
          </p:cNvPr>
          <p:cNvSpPr txBox="1"/>
          <p:nvPr/>
        </p:nvSpPr>
        <p:spPr>
          <a:xfrm>
            <a:off x="1004614" y="1309326"/>
            <a:ext cx="119827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Applications of Biometrics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059D08-2EF0-4720-8466-8131FFC5A4FA}"/>
              </a:ext>
            </a:extLst>
          </p:cNvPr>
          <p:cNvSpPr txBox="1"/>
          <p:nvPr/>
        </p:nvSpPr>
        <p:spPr>
          <a:xfrm>
            <a:off x="778689" y="4279892"/>
            <a:ext cx="166770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📱 </a:t>
            </a:r>
            <a:r>
              <a:rPr lang="en-IN" sz="4000" b="1" dirty="0">
                <a:latin typeface="Century Gothic" panose="020B0502020202020204" pitchFamily="34" charset="0"/>
              </a:rPr>
              <a:t>Smartphones</a:t>
            </a:r>
            <a:r>
              <a:rPr lang="en-IN" sz="4000" dirty="0">
                <a:latin typeface="Century Gothic" panose="020B0502020202020204" pitchFamily="34" charset="0"/>
              </a:rPr>
              <a:t> – Face unlock &amp; fingerprint 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🏦 </a:t>
            </a:r>
            <a:r>
              <a:rPr lang="en-IN" sz="4000" b="1" dirty="0">
                <a:latin typeface="Century Gothic" panose="020B0502020202020204" pitchFamily="34" charset="0"/>
              </a:rPr>
              <a:t>Smartphones</a:t>
            </a:r>
            <a:r>
              <a:rPr lang="en-IN" sz="4000" dirty="0">
                <a:latin typeface="Century Gothic" panose="020B0502020202020204" pitchFamily="34" charset="0"/>
              </a:rPr>
              <a:t> </a:t>
            </a:r>
            <a:r>
              <a:rPr lang="en-IN" sz="4000" b="1" dirty="0">
                <a:latin typeface="Century Gothic" panose="020B0502020202020204" pitchFamily="34" charset="0"/>
              </a:rPr>
              <a:t>Banking &amp; ATMs</a:t>
            </a:r>
            <a:r>
              <a:rPr lang="en-IN" sz="4000" dirty="0">
                <a:latin typeface="Century Gothic" panose="020B0502020202020204" pitchFamily="34" charset="0"/>
              </a:rPr>
              <a:t> – Secure transactions &amp; identity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🧑‍💼 </a:t>
            </a:r>
            <a:r>
              <a:rPr lang="en-IN" sz="4000" b="1" dirty="0">
                <a:latin typeface="Century Gothic" panose="020B0502020202020204" pitchFamily="34" charset="0"/>
              </a:rPr>
              <a:t>Attendance Systems</a:t>
            </a:r>
            <a:r>
              <a:rPr lang="en-IN" sz="4000" dirty="0">
                <a:latin typeface="Century Gothic" panose="020B0502020202020204" pitchFamily="34" charset="0"/>
              </a:rPr>
              <a:t> – Employee/student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✈️ </a:t>
            </a:r>
            <a:r>
              <a:rPr lang="en-IN" sz="4000" b="1" dirty="0">
                <a:latin typeface="Century Gothic" panose="020B0502020202020204" pitchFamily="34" charset="0"/>
              </a:rPr>
              <a:t>Airports &amp; Security</a:t>
            </a:r>
            <a:r>
              <a:rPr lang="en-IN" sz="4000" dirty="0">
                <a:latin typeface="Century Gothic" panose="020B0502020202020204" pitchFamily="34" charset="0"/>
              </a:rPr>
              <a:t> – Fast passenger identification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🆔</a:t>
            </a:r>
            <a:r>
              <a:rPr lang="en-IN" sz="4000" b="1" dirty="0">
                <a:latin typeface="Century Gothic" panose="020B0502020202020204" pitchFamily="34" charset="0"/>
              </a:rPr>
              <a:t>Government Systems</a:t>
            </a:r>
            <a:r>
              <a:rPr lang="en-IN" sz="4000" dirty="0">
                <a:latin typeface="Century Gothic" panose="020B0502020202020204" pitchFamily="34" charset="0"/>
              </a:rPr>
              <a:t> – Digital ID and citizen verification </a:t>
            </a:r>
          </a:p>
        </p:txBody>
      </p:sp>
    </p:spTree>
    <p:extLst>
      <p:ext uri="{BB962C8B-B14F-4D97-AF65-F5344CB8AC3E}">
        <p14:creationId xmlns:p14="http://schemas.microsoft.com/office/powerpoint/2010/main" val="2813584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5D7A-B09F-4587-1BDA-66DF47E09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84A7C6C-1CAE-22D3-2E9B-7FFC4E383F56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1CCC130-D763-56B3-6308-D81576B06318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2D5E3C9-A002-DD31-1967-BBF09BFBC0CF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E5EF75B-C5DD-10F1-3E75-B1C244BCC5CB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ED42FCF-27CD-CB28-AACA-1346A363F5A5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B106EDC-5F2E-3F30-C795-A2AC027A44A0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56CBF71-EB68-0033-81C0-AAD154773E7F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21AAF48-2DE8-0B46-DBE9-635181638720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F0C73DF-7BC6-12EF-866B-038743CB07C2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A18FDB5-D014-70D1-5542-A866600F04B1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5AB4FF2-84BA-A7F5-26F6-08F1F6C0DFF0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A1905054-F51B-472D-E3EC-DE070F875240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B6E07AD-4272-A216-4F2D-9DFF5AA38DC1}"/>
              </a:ext>
            </a:extLst>
          </p:cNvPr>
          <p:cNvSpPr txBox="1"/>
          <p:nvPr/>
        </p:nvSpPr>
        <p:spPr>
          <a:xfrm>
            <a:off x="1028677" y="1077799"/>
            <a:ext cx="115255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Advantages of Biometrics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B11B1-ED0C-020C-2DE0-79A6E128DD97}"/>
              </a:ext>
            </a:extLst>
          </p:cNvPr>
          <p:cNvSpPr txBox="1"/>
          <p:nvPr/>
        </p:nvSpPr>
        <p:spPr>
          <a:xfrm>
            <a:off x="1178789" y="4381500"/>
            <a:ext cx="163064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Century Gothic" panose="020B0502020202020204" pitchFamily="34" charset="0"/>
              </a:rPr>
              <a:t>High Security</a:t>
            </a:r>
            <a:r>
              <a:rPr lang="en-US" sz="4000" dirty="0">
                <a:latin typeface="Century Gothic" panose="020B0502020202020204" pitchFamily="34" charset="0"/>
              </a:rPr>
              <a:t> – Uses unique personal traits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Century Gothic" panose="020B0502020202020204" pitchFamily="34" charset="0"/>
              </a:rPr>
              <a:t>No Password Needed</a:t>
            </a:r>
            <a:r>
              <a:rPr lang="en-US" sz="4000" dirty="0">
                <a:latin typeface="Century Gothic" panose="020B0502020202020204" pitchFamily="34" charset="0"/>
              </a:rPr>
              <a:t> – Eliminates remembering passwords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Century Gothic" panose="020B0502020202020204" pitchFamily="34" charset="0"/>
              </a:rPr>
              <a:t>Fast &amp; Convenient</a:t>
            </a:r>
            <a:r>
              <a:rPr lang="en-US" sz="4000" dirty="0">
                <a:latin typeface="Century Gothic" panose="020B0502020202020204" pitchFamily="34" charset="0"/>
              </a:rPr>
              <a:t> – Quick access and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Century Gothic" panose="020B0502020202020204" pitchFamily="34" charset="0"/>
              </a:rPr>
              <a:t>Difficult to Duplicate</a:t>
            </a:r>
            <a:r>
              <a:rPr lang="en-US" sz="4000" dirty="0">
                <a:latin typeface="Century Gothic" panose="020B0502020202020204" pitchFamily="34" charset="0"/>
              </a:rPr>
              <a:t> – Hard to copy or fake </a:t>
            </a:r>
          </a:p>
        </p:txBody>
      </p:sp>
    </p:spTree>
    <p:extLst>
      <p:ext uri="{BB962C8B-B14F-4D97-AF65-F5344CB8AC3E}">
        <p14:creationId xmlns:p14="http://schemas.microsoft.com/office/powerpoint/2010/main" val="65084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D962-B84A-058D-FD4F-DA795305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12A35E9-7F75-662C-6C78-3D4E6614A3D7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823F1AF-3123-FE57-D895-22ABF2FA37B1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8F005A0-5276-7FD1-D8F0-3CA96F3C2063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BDB4856-0816-DBF6-D2CE-4112BF0355D6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D3C49CB-177B-6F7B-443C-8FBDCE80378F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5786886-BD1A-6B88-4780-546A20B420D6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130611D-3122-DF26-DCB4-637CA8EBFEED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94DBC53-B586-29D0-E382-1D0878A8636F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5F93090-62F0-8EBA-4A58-F981952A25E4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BD8EA92-F950-5975-D144-B2FD42BD3208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5ECBA8C-27DA-1CA7-408A-7571CB32895C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70D37596-6178-266D-CD7E-81FF6D0E83B8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661F1FD-5594-847A-F9F2-0302AF62E5E6}"/>
              </a:ext>
            </a:extLst>
          </p:cNvPr>
          <p:cNvSpPr txBox="1"/>
          <p:nvPr/>
        </p:nvSpPr>
        <p:spPr>
          <a:xfrm>
            <a:off x="918135" y="1077799"/>
            <a:ext cx="127080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Disadvantages of Biometrics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5F718BA-FA14-2BA2-8358-F043CD68E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209026"/>
            <a:ext cx="1476558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Privacy Concerns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– Personal data may be misused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High Cost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– Expensive to install and maintain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Accuracy Issues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– May fail due to injury or changes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Security Risks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– Data theft can be serious if compromised </a:t>
            </a:r>
          </a:p>
        </p:txBody>
      </p:sp>
    </p:spTree>
    <p:extLst>
      <p:ext uri="{BB962C8B-B14F-4D97-AF65-F5344CB8AC3E}">
        <p14:creationId xmlns:p14="http://schemas.microsoft.com/office/powerpoint/2010/main" val="594675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122C-1604-860E-D276-3AB0710E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9CC899D-ACAC-8BE9-CE61-35135BA96508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8CBED6F-7559-EE8D-F0BB-EBFA6B43D356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1B6E357-93E6-43C4-D2A9-3091EBAB1B9D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6D334C0-BA25-B88B-B062-83271B313348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2D06CE4-EF03-AB67-7587-F8FD0695DD44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1A60870-2DE4-A966-467B-15861F39FD47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984AC28-19FE-03D8-B0F5-BA08D6073622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E17661C-D519-02C9-6CD4-A9B8801307CF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30C86D9-334A-E8C8-9F2D-87968BD98C65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D0FA1D5-C47C-4C22-AC8C-820096BAEBE1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E6577E5-6657-C882-A29A-EE05EFEC75EE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34FFE8B9-9E17-8A7C-0D52-F38B1004DBC6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FA7BCC8-3B57-42EA-7CDC-72B5C63AB638}"/>
              </a:ext>
            </a:extLst>
          </p:cNvPr>
          <p:cNvSpPr txBox="1"/>
          <p:nvPr/>
        </p:nvSpPr>
        <p:spPr>
          <a:xfrm>
            <a:off x="1164429" y="1125207"/>
            <a:ext cx="9276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Real-Life Examples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5CE075-064F-7F30-523F-A8F1F25DA42D}"/>
              </a:ext>
            </a:extLst>
          </p:cNvPr>
          <p:cNvSpPr txBox="1"/>
          <p:nvPr/>
        </p:nvSpPr>
        <p:spPr>
          <a:xfrm>
            <a:off x="1028677" y="2927154"/>
            <a:ext cx="147225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4000" b="1" dirty="0">
                <a:latin typeface="Century Gothic" panose="020B0502020202020204" pitchFamily="34" charset="0"/>
              </a:rPr>
              <a:t>Smartphone Unlocking</a:t>
            </a:r>
            <a:r>
              <a:rPr lang="en-IN" sz="4000" dirty="0">
                <a:latin typeface="Century Gothic" panose="020B0502020202020204" pitchFamily="34" charset="0"/>
              </a:rPr>
              <a:t> – Face ID &amp; Fingerprint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b="1" dirty="0">
                <a:latin typeface="Century Gothic" panose="020B0502020202020204" pitchFamily="34" charset="0"/>
              </a:rPr>
              <a:t>Airport Security</a:t>
            </a:r>
            <a:r>
              <a:rPr lang="en-IN" sz="4000" dirty="0">
                <a:latin typeface="Century Gothic" panose="020B0502020202020204" pitchFamily="34" charset="0"/>
              </a:rPr>
              <a:t> – Facial recognition for fast check-in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b="1" dirty="0">
                <a:latin typeface="Century Gothic" panose="020B0502020202020204" pitchFamily="34" charset="0"/>
              </a:rPr>
              <a:t>Banking Services</a:t>
            </a:r>
            <a:r>
              <a:rPr lang="en-IN" sz="4000" dirty="0">
                <a:latin typeface="Century Gothic" panose="020B0502020202020204" pitchFamily="34" charset="0"/>
              </a:rPr>
              <a:t> – Biometric verification for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b="1" dirty="0">
                <a:latin typeface="Century Gothic" panose="020B0502020202020204" pitchFamily="34" charset="0"/>
              </a:rPr>
              <a:t>Aadhaar System (India)</a:t>
            </a:r>
            <a:r>
              <a:rPr lang="en-IN" sz="4000" dirty="0">
                <a:latin typeface="Century Gothic" panose="020B0502020202020204" pitchFamily="34" charset="0"/>
              </a:rPr>
              <a:t> – Identity authentication using biometrics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6B49FD-33BC-B316-5467-BF013400F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6312389"/>
            <a:ext cx="5852746" cy="27549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65CE61-8B41-83BB-7B16-536D59EBD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526" y="6312388"/>
            <a:ext cx="4919474" cy="275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90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DE13-9AA2-0F2C-99C5-08D3B2D5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28E7425-9CDA-3B42-4995-07B5B3876285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16983A3-2EC2-2957-5E18-AF6A961C2426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E110A1A-3540-9A7C-94E3-539CF40A2A7A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2F9FA50-F8F8-6530-C9A7-D31D85418F09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79129DD-F3B9-9336-FBC1-F64605DE2455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13550A7-055C-2814-35FF-CB605B63B7DE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DCA9D46-9946-A0FE-F8CF-6BDCFE3DF6EA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06379E5-3168-0C58-C293-D019BAE014C3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3FAB41F-99D6-9167-BF8D-8B8993277EAF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23FA587-CC18-553E-5CCF-E3E198669984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EDFCF96-43DF-788D-DD91-161FBCB27AFE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700A4A1D-41D6-39E4-8BD3-D3362D5FEFEF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C15DF89-7D1F-BA0C-8619-B77DBAA2124D}"/>
              </a:ext>
            </a:extLst>
          </p:cNvPr>
          <p:cNvSpPr txBox="1"/>
          <p:nvPr/>
        </p:nvSpPr>
        <p:spPr>
          <a:xfrm>
            <a:off x="1067506" y="1077799"/>
            <a:ext cx="96953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Future of Biometrics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C6DF7A-4FB2-1FA2-17F7-A1D6465E7F49}"/>
              </a:ext>
            </a:extLst>
          </p:cNvPr>
          <p:cNvSpPr txBox="1"/>
          <p:nvPr/>
        </p:nvSpPr>
        <p:spPr>
          <a:xfrm>
            <a:off x="652358" y="4053243"/>
            <a:ext cx="171406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🤖 </a:t>
            </a:r>
            <a:r>
              <a:rPr lang="en-US" sz="4000" b="1" dirty="0">
                <a:latin typeface="Century Gothic" panose="020B0502020202020204" pitchFamily="34" charset="0"/>
              </a:rPr>
              <a:t>AI-Powered Recognition</a:t>
            </a:r>
            <a:r>
              <a:rPr lang="en-US" sz="4000" dirty="0">
                <a:latin typeface="Century Gothic" panose="020B0502020202020204" pitchFamily="34" charset="0"/>
              </a:rPr>
              <a:t> – Faster and more accurate identification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🔍 </a:t>
            </a:r>
            <a:r>
              <a:rPr lang="en-US" sz="4000" b="1" dirty="0">
                <a:latin typeface="Century Gothic" panose="020B0502020202020204" pitchFamily="34" charset="0"/>
              </a:rPr>
              <a:t>Contactless Biometrics</a:t>
            </a:r>
            <a:r>
              <a:rPr lang="en-US" sz="4000" dirty="0">
                <a:latin typeface="Century Gothic" panose="020B0502020202020204" pitchFamily="34" charset="0"/>
              </a:rPr>
              <a:t> – Face &amp; iris scans without touch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📱 </a:t>
            </a:r>
            <a:r>
              <a:rPr lang="en-US" sz="4000" b="1" dirty="0">
                <a:latin typeface="Century Gothic" panose="020B0502020202020204" pitchFamily="34" charset="0"/>
              </a:rPr>
              <a:t>Smart Device Integration</a:t>
            </a:r>
            <a:r>
              <a:rPr lang="en-US" sz="4000" dirty="0">
                <a:latin typeface="Century Gothic" panose="020B0502020202020204" pitchFamily="34" charset="0"/>
              </a:rPr>
              <a:t> – Used in IoT, homes, and wearables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🔐 </a:t>
            </a:r>
            <a:r>
              <a:rPr lang="en-US" sz="4000" b="1" dirty="0">
                <a:latin typeface="Century Gothic" panose="020B0502020202020204" pitchFamily="34" charset="0"/>
              </a:rPr>
              <a:t>Advanced Security Systems</a:t>
            </a:r>
            <a:r>
              <a:rPr lang="en-US" sz="4000" dirty="0">
                <a:latin typeface="Century Gothic" panose="020B0502020202020204" pitchFamily="34" charset="0"/>
              </a:rPr>
              <a:t> – Stronger and safer digital identities </a:t>
            </a:r>
          </a:p>
        </p:txBody>
      </p:sp>
    </p:spTree>
    <p:extLst>
      <p:ext uri="{BB962C8B-B14F-4D97-AF65-F5344CB8AC3E}">
        <p14:creationId xmlns:p14="http://schemas.microsoft.com/office/powerpoint/2010/main" val="200362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6E598-A2CA-EB0D-58BF-0DA7ED08F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C122D5E-9930-22BA-8D9C-948DB2151D00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A2E5EB2-16DC-FCAE-B04B-73F9AD5C0444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133B317-14E0-CCE2-2E79-CC596AC5291B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9B41020-8E38-CD80-9038-22057AD23197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13F36FA-E4BE-136C-7E48-242895FA896D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CC454B9-1373-9009-98BC-E7B26E33630F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ED3AF9-2676-DDEE-0137-B73C023DE26B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8D78E97-CDD7-2ACE-F616-AF06826B0779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6F93FFC-D728-777D-D815-74344F3479C0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C0CD848-9835-00E1-2780-431BAD9F083E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8E9BD68-BB6C-CCEB-C8A4-1B9F52D9F1F3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D845FDBD-A0FD-2BBF-E936-C6EBC7901B44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6FD9F59-517F-0D5A-9A57-8023BC32706A}"/>
              </a:ext>
            </a:extLst>
          </p:cNvPr>
          <p:cNvSpPr txBox="1"/>
          <p:nvPr/>
        </p:nvSpPr>
        <p:spPr>
          <a:xfrm>
            <a:off x="1067506" y="1077799"/>
            <a:ext cx="96953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22EEB7-4DBD-A5ED-26AB-E15D015DCAA5}"/>
              </a:ext>
            </a:extLst>
          </p:cNvPr>
          <p:cNvSpPr txBox="1"/>
          <p:nvPr/>
        </p:nvSpPr>
        <p:spPr>
          <a:xfrm>
            <a:off x="1011553" y="4013801"/>
            <a:ext cx="1626450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Biometrics is transforming modern security systems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Provides </a:t>
            </a:r>
            <a:r>
              <a:rPr lang="en-US" sz="4000" b="1" dirty="0">
                <a:latin typeface="Century Gothic" panose="020B0502020202020204" pitchFamily="34" charset="0"/>
              </a:rPr>
              <a:t>high accuracy and reliable identification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Reduces dependency on passwords and ID cards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Widely used in </a:t>
            </a:r>
            <a:r>
              <a:rPr lang="en-US" sz="4000" b="1" dirty="0">
                <a:latin typeface="Century Gothic" panose="020B0502020202020204" pitchFamily="34" charset="0"/>
              </a:rPr>
              <a:t>banking, healthcare, and government sectors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Improves </a:t>
            </a:r>
            <a:r>
              <a:rPr lang="en-US" sz="4000" b="1" dirty="0">
                <a:latin typeface="Century Gothic" panose="020B0502020202020204" pitchFamily="34" charset="0"/>
              </a:rPr>
              <a:t>user convenience and system efficiency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Faces challenges like </a:t>
            </a:r>
            <a:r>
              <a:rPr lang="en-US" sz="4000" b="1" dirty="0">
                <a:latin typeface="Century Gothic" panose="020B0502020202020204" pitchFamily="34" charset="0"/>
              </a:rPr>
              <a:t>privacy and data protection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Future growth with </a:t>
            </a:r>
            <a:r>
              <a:rPr lang="en-US" sz="4000" b="1" dirty="0">
                <a:latin typeface="Century Gothic" panose="020B0502020202020204" pitchFamily="34" charset="0"/>
              </a:rPr>
              <a:t>AI and advanced technologies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8672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39EA-1F5E-DB7D-6905-66C5B07CD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0A585A8-7B29-4AFD-7FA4-5E84E443B17F}"/>
              </a:ext>
            </a:extLst>
          </p:cNvPr>
          <p:cNvSpPr/>
          <p:nvPr/>
        </p:nvSpPr>
        <p:spPr>
          <a:xfrm flipV="1">
            <a:off x="0" y="161049"/>
            <a:ext cx="18287613" cy="6122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A40A549-F476-24CA-64A4-E14BAD221B93}"/>
              </a:ext>
            </a:extLst>
          </p:cNvPr>
          <p:cNvSpPr/>
          <p:nvPr/>
        </p:nvSpPr>
        <p:spPr>
          <a:xfrm flipH="1">
            <a:off x="174535" y="0"/>
            <a:ext cx="38797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CF03D37-2C56-E8B0-09AB-960C1DC88763}"/>
              </a:ext>
            </a:extLst>
          </p:cNvPr>
          <p:cNvSpPr/>
          <p:nvPr/>
        </p:nvSpPr>
        <p:spPr>
          <a:xfrm flipV="1">
            <a:off x="376071" y="10053638"/>
            <a:ext cx="17911929" cy="1905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230A2FC-6E67-0B87-E10C-9B1CC6ADAEB7}"/>
              </a:ext>
            </a:extLst>
          </p:cNvPr>
          <p:cNvSpPr/>
          <p:nvPr/>
        </p:nvSpPr>
        <p:spPr>
          <a:xfrm>
            <a:off x="18113451" y="-59394"/>
            <a:ext cx="38797" cy="10308295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E6AE4A6-D6E0-62E0-634F-9EDE1636DC00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C5B6A99-0D7D-80BC-1DA7-020C80109DD9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21975FF-B3F3-A0B7-3E43-72A1A805190B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00EEB53-3177-838F-535A-CCA0C935D048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5DAD4CD-1A7A-55FA-3BF4-FD8E7FB0A7D7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7E7AFFD-51FB-741D-7D2D-B7F7AD8510AA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24863E7-5DF3-AAEC-0508-4FF4AB2DE183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3" name="Freeform 13" descr="F:\F\abdesktop\Logo_NTTF_2019\NTTF Logo_png.png">
              <a:extLst>
                <a:ext uri="{FF2B5EF4-FFF2-40B4-BE49-F238E27FC236}">
                  <a16:creationId xmlns:a16="http://schemas.microsoft.com/office/drawing/2014/main" id="{E6D21B9E-667E-352A-5A8A-BB353A86AD95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8C97C50-5904-0B30-E13F-CDE89B3CBF67}"/>
              </a:ext>
            </a:extLst>
          </p:cNvPr>
          <p:cNvSpPr txBox="1"/>
          <p:nvPr/>
        </p:nvSpPr>
        <p:spPr>
          <a:xfrm>
            <a:off x="1067506" y="1077799"/>
            <a:ext cx="96953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latin typeface="Copperplate Gothic Bold" panose="020E0705020206020404" pitchFamily="34" charset="0"/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06886-DD32-4F9E-57F2-1CAB438F26C3}"/>
              </a:ext>
            </a:extLst>
          </p:cNvPr>
          <p:cNvSpPr txBox="1"/>
          <p:nvPr/>
        </p:nvSpPr>
        <p:spPr>
          <a:xfrm>
            <a:off x="1011553" y="4013801"/>
            <a:ext cx="1626450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Biometrics is transforming modern security systems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Provides </a:t>
            </a:r>
            <a:r>
              <a:rPr lang="en-US" sz="4000" b="1" dirty="0">
                <a:latin typeface="Century Gothic" panose="020B0502020202020204" pitchFamily="34" charset="0"/>
              </a:rPr>
              <a:t>high accuracy and reliable identification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Reduces dependency on passwords and ID cards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Widely used in </a:t>
            </a:r>
            <a:r>
              <a:rPr lang="en-US" sz="4000" b="1" dirty="0">
                <a:latin typeface="Century Gothic" panose="020B0502020202020204" pitchFamily="34" charset="0"/>
              </a:rPr>
              <a:t>banking, healthcare, and government sectors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Improves </a:t>
            </a:r>
            <a:r>
              <a:rPr lang="en-US" sz="4000" b="1" dirty="0">
                <a:latin typeface="Century Gothic" panose="020B0502020202020204" pitchFamily="34" charset="0"/>
              </a:rPr>
              <a:t>user convenience and system efficiency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Faces challenges like </a:t>
            </a:r>
            <a:r>
              <a:rPr lang="en-US" sz="4000" b="1" dirty="0">
                <a:latin typeface="Century Gothic" panose="020B0502020202020204" pitchFamily="34" charset="0"/>
              </a:rPr>
              <a:t>privacy and data protection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Century Gothic" panose="020B0502020202020204" pitchFamily="34" charset="0"/>
              </a:rPr>
              <a:t>Future growth with </a:t>
            </a:r>
            <a:r>
              <a:rPr lang="en-US" sz="4000" b="1" dirty="0">
                <a:latin typeface="Century Gothic" panose="020B0502020202020204" pitchFamily="34" charset="0"/>
              </a:rPr>
              <a:t>AI and advanced technologies</a:t>
            </a:r>
            <a:r>
              <a:rPr lang="en-US" sz="4000" dirty="0"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5890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3D15-27D0-991D-68DC-90211F64B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3384" y="4191695"/>
            <a:ext cx="19278584" cy="2065940"/>
          </a:xfrm>
        </p:spPr>
        <p:txBody>
          <a:bodyPr>
            <a:noAutofit/>
          </a:bodyPr>
          <a:lstStyle/>
          <a:p>
            <a:r>
              <a:rPr lang="en-US" sz="22000" dirty="0">
                <a:latin typeface="Bodoni MT" panose="02070603080606020203" pitchFamily="18" charset="0"/>
              </a:rPr>
              <a:t>THANKYOU</a:t>
            </a:r>
            <a:endParaRPr lang="en-IN" sz="220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38E770D-D4CB-1235-1F5E-D18C88646B7B}"/>
              </a:ext>
            </a:extLst>
          </p:cNvPr>
          <p:cNvSpPr/>
          <p:nvPr/>
        </p:nvSpPr>
        <p:spPr>
          <a:xfrm flipV="1">
            <a:off x="-76184" y="161048"/>
            <a:ext cx="18363798" cy="23889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DD69F8DF-494A-8AC1-F799-7DCE8517EA1A}"/>
              </a:ext>
            </a:extLst>
          </p:cNvPr>
          <p:cNvSpPr/>
          <p:nvPr/>
        </p:nvSpPr>
        <p:spPr>
          <a:xfrm>
            <a:off x="161373" y="0"/>
            <a:ext cx="0" cy="10287000"/>
          </a:xfrm>
          <a:prstGeom prst="line">
            <a:avLst/>
          </a:prstGeom>
          <a:ln w="428625" cap="flat">
            <a:solidFill>
              <a:srgbClr val="5CA3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1F15D1A-F50F-90C3-94E3-8CD7DDBDB219}"/>
              </a:ext>
            </a:extLst>
          </p:cNvPr>
          <p:cNvSpPr/>
          <p:nvPr/>
        </p:nvSpPr>
        <p:spPr>
          <a:xfrm>
            <a:off x="359482" y="10102062"/>
            <a:ext cx="17928132" cy="23890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1D0694E-E1AB-009B-10E1-67AA890A99AE}"/>
              </a:ext>
            </a:extLst>
          </p:cNvPr>
          <p:cNvSpPr/>
          <p:nvPr/>
        </p:nvSpPr>
        <p:spPr>
          <a:xfrm>
            <a:off x="18073295" y="-49262"/>
            <a:ext cx="1" cy="10336262"/>
          </a:xfrm>
          <a:prstGeom prst="line">
            <a:avLst/>
          </a:prstGeom>
          <a:ln w="428625" cap="flat">
            <a:solidFill>
              <a:srgbClr val="FFA51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70B1F0D-72DA-699E-DF81-A509F788A16A}"/>
              </a:ext>
            </a:extLst>
          </p:cNvPr>
          <p:cNvGrpSpPr/>
          <p:nvPr/>
        </p:nvGrpSpPr>
        <p:grpSpPr>
          <a:xfrm>
            <a:off x="38806" y="0"/>
            <a:ext cx="989894" cy="1267064"/>
            <a:chOff x="0" y="0"/>
            <a:chExt cx="635000" cy="81280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4BF492C-1513-AFD9-14F8-ECD0DBB3240A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9E80A9-9D40-EB9C-2CAB-6A7107C6A75B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ABA341-E2ED-7CA3-63A2-DF6C2D47A774}"/>
              </a:ext>
            </a:extLst>
          </p:cNvPr>
          <p:cNvGrpSpPr/>
          <p:nvPr/>
        </p:nvGrpSpPr>
        <p:grpSpPr>
          <a:xfrm rot="-10800000">
            <a:off x="17298106" y="9019936"/>
            <a:ext cx="989894" cy="1267064"/>
            <a:chOff x="0" y="0"/>
            <a:chExt cx="635000" cy="81280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ACCB579-A03B-F46E-7F9B-40D68AF0EEF8}"/>
                </a:ext>
              </a:extLst>
            </p:cNvPr>
            <p:cNvSpPr/>
            <p:nvPr/>
          </p:nvSpPr>
          <p:spPr>
            <a:xfrm>
              <a:off x="0" y="0"/>
              <a:ext cx="635000" cy="812800"/>
            </a:xfrm>
            <a:custGeom>
              <a:avLst/>
              <a:gdLst/>
              <a:ahLst/>
              <a:cxnLst/>
              <a:rect l="l" t="t" r="r" b="b"/>
              <a:pathLst>
                <a:path w="635000" h="812800">
                  <a:moveTo>
                    <a:pt x="635000" y="0"/>
                  </a:moveTo>
                  <a:lnTo>
                    <a:pt x="635000" y="698500"/>
                  </a:lnTo>
                  <a:lnTo>
                    <a:pt x="317500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A00940-CF56-652C-DD1A-4C2FDAAC44A0}"/>
                </a:ext>
              </a:extLst>
            </p:cNvPr>
            <p:cNvSpPr txBox="1"/>
            <p:nvPr/>
          </p:nvSpPr>
          <p:spPr>
            <a:xfrm>
              <a:off x="0" y="-38100"/>
              <a:ext cx="6350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78684D-7E0B-4D0C-E77F-89DD6DC6B301}"/>
              </a:ext>
            </a:extLst>
          </p:cNvPr>
          <p:cNvGrpSpPr/>
          <p:nvPr/>
        </p:nvGrpSpPr>
        <p:grpSpPr>
          <a:xfrm>
            <a:off x="13515604" y="495986"/>
            <a:ext cx="4277449" cy="1258472"/>
            <a:chOff x="0" y="0"/>
            <a:chExt cx="5703265" cy="1677962"/>
          </a:xfrm>
        </p:grpSpPr>
        <p:sp>
          <p:nvSpPr>
            <p:cNvPr id="14" name="Freeform 13" descr="F:\F\abdesktop\Logo_NTTF_2019\NTTF Logo_png.png">
              <a:extLst>
                <a:ext uri="{FF2B5EF4-FFF2-40B4-BE49-F238E27FC236}">
                  <a16:creationId xmlns:a16="http://schemas.microsoft.com/office/drawing/2014/main" id="{0411706D-D747-51BD-2496-8C9AFE1A4DA8}"/>
                </a:ext>
              </a:extLst>
            </p:cNvPr>
            <p:cNvSpPr/>
            <p:nvPr/>
          </p:nvSpPr>
          <p:spPr>
            <a:xfrm>
              <a:off x="0" y="0"/>
              <a:ext cx="5703316" cy="1677924"/>
            </a:xfrm>
            <a:custGeom>
              <a:avLst/>
              <a:gdLst/>
              <a:ahLst/>
              <a:cxnLst/>
              <a:rect l="l" t="t" r="r" b="b"/>
              <a:pathLst>
                <a:path w="5703316" h="1677924">
                  <a:moveTo>
                    <a:pt x="0" y="0"/>
                  </a:moveTo>
                  <a:lnTo>
                    <a:pt x="5703316" y="0"/>
                  </a:lnTo>
                  <a:lnTo>
                    <a:pt x="5703316" y="1677924"/>
                  </a:lnTo>
                  <a:lnTo>
                    <a:pt x="0" y="167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37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3335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442</Words>
  <Application>Microsoft Office PowerPoint</Application>
  <PresentationFormat>Custom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Copperplate Gothic Bold</vt:lpstr>
      <vt:lpstr>Anton</vt:lpstr>
      <vt:lpstr>Century Gothic</vt:lpstr>
      <vt:lpstr>Bahnschrift Condensed</vt:lpstr>
      <vt:lpstr>Bodoni MT</vt:lpstr>
      <vt:lpstr>Norwester</vt:lpstr>
      <vt:lpstr>Calibri</vt:lpstr>
      <vt:lpstr>Office Theme</vt:lpstr>
      <vt:lpstr>PowerPoint Presentation</vt:lpstr>
      <vt:lpstr>What is Biometrics?</vt:lpstr>
      <vt:lpstr>Types of Biometrics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Wireless Communication: From 5G to 6G</dc:title>
  <cp:lastModifiedBy>Ayush Prasad</cp:lastModifiedBy>
  <cp:revision>5</cp:revision>
  <dcterms:created xsi:type="dcterms:W3CDTF">2006-08-16T00:00:00Z</dcterms:created>
  <dcterms:modified xsi:type="dcterms:W3CDTF">2026-04-21T03:29:21Z</dcterms:modified>
  <dc:identifier>DAHHXBQY2Z0</dc:identifier>
</cp:coreProperties>
</file>